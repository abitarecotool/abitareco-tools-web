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3" r:id="rId2"/>
    <p:sldMasterId id="2147483757" r:id="rId3"/>
    <p:sldMasterId id="2147483771" r:id="rId4"/>
  </p:sldMasterIdLst>
  <p:notesMasterIdLst>
    <p:notesMasterId r:id="rId56"/>
  </p:notesMasterIdLst>
  <p:handoutMasterIdLst>
    <p:handoutMasterId r:id="rId57"/>
  </p:handoutMasterIdLst>
  <p:sldIdLst>
    <p:sldId id="256" r:id="rId5"/>
    <p:sldId id="2146849848" r:id="rId6"/>
    <p:sldId id="2146849871" r:id="rId7"/>
    <p:sldId id="2146849873" r:id="rId8"/>
    <p:sldId id="2146849877" r:id="rId9"/>
    <p:sldId id="2146849874" r:id="rId10"/>
    <p:sldId id="2146849878" r:id="rId11"/>
    <p:sldId id="2146849875" r:id="rId12"/>
    <p:sldId id="2146849879" r:id="rId13"/>
    <p:sldId id="2146849876" r:id="rId14"/>
    <p:sldId id="2146849880" r:id="rId15"/>
    <p:sldId id="2146849870" r:id="rId16"/>
    <p:sldId id="2146849881" r:id="rId17"/>
    <p:sldId id="2146849884" r:id="rId18"/>
    <p:sldId id="2146849885" r:id="rId19"/>
    <p:sldId id="2146849886" r:id="rId20"/>
    <p:sldId id="2146849887" r:id="rId21"/>
    <p:sldId id="2146849888" r:id="rId22"/>
    <p:sldId id="2146849889" r:id="rId23"/>
    <p:sldId id="2146849890" r:id="rId24"/>
    <p:sldId id="2146849891" r:id="rId25"/>
    <p:sldId id="2146849892" r:id="rId26"/>
    <p:sldId id="2146849893" r:id="rId27"/>
    <p:sldId id="2146849858" r:id="rId28"/>
    <p:sldId id="2146849860" r:id="rId29"/>
    <p:sldId id="2146849805" r:id="rId30"/>
    <p:sldId id="2146849894" r:id="rId31"/>
    <p:sldId id="2146849896" r:id="rId32"/>
    <p:sldId id="2146849898" r:id="rId33"/>
    <p:sldId id="2146849897" r:id="rId34"/>
    <p:sldId id="2146849900" r:id="rId35"/>
    <p:sldId id="2146849901" r:id="rId36"/>
    <p:sldId id="2146849862" r:id="rId37"/>
    <p:sldId id="2146849902" r:id="rId38"/>
    <p:sldId id="2146850102" r:id="rId39"/>
    <p:sldId id="2146850099" r:id="rId40"/>
    <p:sldId id="2146850103" r:id="rId41"/>
    <p:sldId id="2146850104" r:id="rId42"/>
    <p:sldId id="2146850076" r:id="rId43"/>
    <p:sldId id="2146850105" r:id="rId44"/>
    <p:sldId id="2146849835" r:id="rId45"/>
    <p:sldId id="2146849834" r:id="rId46"/>
    <p:sldId id="2146849846" r:id="rId47"/>
    <p:sldId id="2146850106" r:id="rId48"/>
    <p:sldId id="2146850107" r:id="rId49"/>
    <p:sldId id="2146850075" r:id="rId50"/>
    <p:sldId id="2146850108" r:id="rId51"/>
    <p:sldId id="2146850109" r:id="rId52"/>
    <p:sldId id="2146850110" r:id="rId53"/>
    <p:sldId id="2146850066" r:id="rId54"/>
    <p:sldId id="2146849869" r:id="rId55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162B"/>
    <a:srgbClr val="460E1D"/>
    <a:srgbClr val="EAA0A7"/>
    <a:srgbClr val="EAE3DB"/>
    <a:srgbClr val="EEE9E0"/>
    <a:srgbClr val="F5F5F5"/>
    <a:srgbClr val="E21529"/>
    <a:srgbClr val="353134"/>
    <a:srgbClr val="E8E1DF"/>
    <a:srgbClr val="E5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89831" autoAdjust="0"/>
  </p:normalViewPr>
  <p:slideViewPr>
    <p:cSldViewPr snapToGrid="0">
      <p:cViewPr varScale="1">
        <p:scale>
          <a:sx n="107" d="100"/>
          <a:sy n="107" d="100"/>
        </p:scale>
        <p:origin x="678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AE28FAA-A51D-2B82-1B16-AEC5DA481C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E7F2149-5214-1A7B-5253-60F2D19BE0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3BE28-0A3D-4C41-9CFE-3C7416B26FD2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691885-FEFF-9D72-090C-DFED6A5D0A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D34F44-A75F-031E-7AD2-F8EEDA804E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BF87-764E-4497-91C4-AF1BD0F6E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529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E8EC0-B44D-4781-8E7E-0E122DC59412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BADB4-55F1-47E7-BB46-7A7FB6E2371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252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66B1-378E-F5BB-49D4-FE3E79E0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96D72B6-47BC-2058-FDA6-8C63AA2D6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962F625-0CBF-1BBE-9E72-9DA7C75FD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259773-03F5-C5BC-7569-50198873F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BADB4-55F1-47E7-BB46-7A7FB6E2371D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019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BADB4-55F1-47E7-BB46-7A7FB6E2371D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149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11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8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38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23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41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02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12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63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6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24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393640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9944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794185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092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736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20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799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229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416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964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276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750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4810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091793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6983173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4163498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0054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0544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3537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9807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91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0279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761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7956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9724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5066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82740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122334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322849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649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4625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174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5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7125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5989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62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6045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8090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2106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4201613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661486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264213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8CAC7C49-21A8-E179-8680-E02C9A06B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63199" y="6371245"/>
            <a:ext cx="1591233" cy="302709"/>
          </a:xfrm>
          <a:prstGeom prst="rect">
            <a:avLst/>
          </a:prstGeom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DDC58C02-A035-557A-2B0C-8E647A4C8BF8}"/>
              </a:ext>
            </a:extLst>
          </p:cNvPr>
          <p:cNvSpPr txBox="1"/>
          <p:nvPr userDrawn="1"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49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739" r:id="rId11"/>
    <p:sldLayoutId id="2147483740" r:id="rId12"/>
    <p:sldLayoutId id="214748374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D5D9B14-4470-18DB-1CC0-1CD3A27FE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E2B767DB-2F31-4A33-DDAB-B65163CF0A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63199" y="6371245"/>
            <a:ext cx="1591233" cy="30270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294075B-5A06-DA4A-1C9D-52B0107ECF31}"/>
              </a:ext>
            </a:extLst>
          </p:cNvPr>
          <p:cNvSpPr txBox="1"/>
          <p:nvPr userDrawn="1"/>
        </p:nvSpPr>
        <p:spPr>
          <a:xfrm>
            <a:off x="237563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rgbClr val="EAE3D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64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9B34E97-CAC2-9E15-10F0-5E8D946694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B1A5C7A-B5F0-B35C-9DFE-E4E9A5CC2C9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4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14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jpe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21" Type="http://schemas.openxmlformats.org/officeDocument/2006/relationships/image" Target="../media/image43.png"/><Relationship Id="rId34" Type="http://schemas.openxmlformats.org/officeDocument/2006/relationships/image" Target="../media/image56.jpe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5.png"/><Relationship Id="rId38" Type="http://schemas.openxmlformats.org/officeDocument/2006/relationships/image" Target="../media/image6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jpeg"/><Relationship Id="rId24" Type="http://schemas.openxmlformats.org/officeDocument/2006/relationships/image" Target="../media/image46.png"/><Relationship Id="rId32" Type="http://schemas.openxmlformats.org/officeDocument/2006/relationships/image" Target="../media/image54.jpeg"/><Relationship Id="rId37" Type="http://schemas.openxmlformats.org/officeDocument/2006/relationships/image" Target="../media/image59.png"/><Relationship Id="rId5" Type="http://schemas.openxmlformats.org/officeDocument/2006/relationships/image" Target="../media/image27.png"/><Relationship Id="rId15" Type="http://schemas.openxmlformats.org/officeDocument/2006/relationships/image" Target="../media/image37.jpe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36" Type="http://schemas.openxmlformats.org/officeDocument/2006/relationships/image" Target="../media/image58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31" Type="http://schemas.openxmlformats.org/officeDocument/2006/relationships/image" Target="../media/image53.gif"/><Relationship Id="rId4" Type="http://schemas.openxmlformats.org/officeDocument/2006/relationships/image" Target="../media/image26.jpeg"/><Relationship Id="rId9" Type="http://schemas.openxmlformats.org/officeDocument/2006/relationships/image" Target="../media/image31.jpe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jpeg"/><Relationship Id="rId35" Type="http://schemas.openxmlformats.org/officeDocument/2006/relationships/image" Target="../media/image57.png"/><Relationship Id="rId8" Type="http://schemas.openxmlformats.org/officeDocument/2006/relationships/image" Target="../media/image30.png"/><Relationship Id="rId3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7" Type="http://schemas.openxmlformats.org/officeDocument/2006/relationships/image" Target="../media/image66.svg"/><Relationship Id="rId2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1.svg"/><Relationship Id="rId2" Type="http://schemas.openxmlformats.org/officeDocument/2006/relationships/image" Target="../media/image6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4.svg"/><Relationship Id="rId4" Type="http://schemas.openxmlformats.org/officeDocument/2006/relationships/image" Target="../media/image6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3.svg"/><Relationship Id="rId2" Type="http://schemas.openxmlformats.org/officeDocument/2006/relationships/image" Target="../media/image6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svg"/><Relationship Id="rId5" Type="http://schemas.openxmlformats.org/officeDocument/2006/relationships/image" Target="../media/image65.svg"/><Relationship Id="rId4" Type="http://schemas.openxmlformats.org/officeDocument/2006/relationships/image" Target="../media/image61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7" Type="http://schemas.openxmlformats.org/officeDocument/2006/relationships/image" Target="../media/image63.svg"/><Relationship Id="rId2" Type="http://schemas.openxmlformats.org/officeDocument/2006/relationships/image" Target="../media/image6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svg"/><Relationship Id="rId5" Type="http://schemas.openxmlformats.org/officeDocument/2006/relationships/image" Target="../media/image61.svg"/><Relationship Id="rId4" Type="http://schemas.openxmlformats.org/officeDocument/2006/relationships/image" Target="../media/image6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7" Type="http://schemas.openxmlformats.org/officeDocument/2006/relationships/image" Target="../media/image63.svg"/><Relationship Id="rId2" Type="http://schemas.openxmlformats.org/officeDocument/2006/relationships/image" Target="../media/image6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svg"/><Relationship Id="rId5" Type="http://schemas.openxmlformats.org/officeDocument/2006/relationships/image" Target="../media/image64.svg"/><Relationship Id="rId4" Type="http://schemas.openxmlformats.org/officeDocument/2006/relationships/image" Target="../media/image6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7" Type="http://schemas.openxmlformats.org/officeDocument/2006/relationships/image" Target="../media/image2.svg"/><Relationship Id="rId2" Type="http://schemas.openxmlformats.org/officeDocument/2006/relationships/image" Target="../media/image67.sv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1.svg"/><Relationship Id="rId5" Type="http://schemas.openxmlformats.org/officeDocument/2006/relationships/image" Target="../media/image70.svg"/><Relationship Id="rId4" Type="http://schemas.openxmlformats.org/officeDocument/2006/relationships/image" Target="../media/image69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77.png"/><Relationship Id="rId5" Type="http://schemas.openxmlformats.org/officeDocument/2006/relationships/image" Target="../media/image76.jpeg"/><Relationship Id="rId4" Type="http://schemas.openxmlformats.org/officeDocument/2006/relationships/image" Target="../media/image7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40.xml"/><Relationship Id="rId6" Type="http://schemas.microsoft.com/office/2007/relationships/hdphoto" Target="../media/hdphoto1.wdp"/><Relationship Id="rId5" Type="http://schemas.openxmlformats.org/officeDocument/2006/relationships/image" Target="../media/image81.png"/><Relationship Id="rId4" Type="http://schemas.openxmlformats.org/officeDocument/2006/relationships/image" Target="../media/image80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4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8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43106B84-4742-76C1-A7B9-2FD3E6DB4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0A7E16D-3AA9-5627-274D-236F3D105C82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95A0D7CE-8C3D-3741-658C-D11EBC561334}"/>
              </a:ext>
            </a:extLst>
          </p:cNvPr>
          <p:cNvSpPr txBox="1">
            <a:spLocks/>
          </p:cNvSpPr>
          <p:nvPr/>
        </p:nvSpPr>
        <p:spPr>
          <a:xfrm>
            <a:off x="0" y="1096298"/>
            <a:ext cx="12192000" cy="488887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endParaRPr lang="it-IT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4B79013B-5436-A6EB-F992-91031A9AC81C}"/>
              </a:ext>
            </a:extLst>
          </p:cNvPr>
          <p:cNvSpPr txBox="1"/>
          <p:nvPr/>
        </p:nvSpPr>
        <p:spPr>
          <a:xfrm>
            <a:off x="5266924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4DF2A13B-C99B-467F-2A61-0BE5F0B5B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5624" y="1096298"/>
            <a:ext cx="3000746" cy="570848"/>
          </a:xfrm>
          <a:prstGeom prst="rect">
            <a:avLst/>
          </a:prstGeom>
        </p:spPr>
      </p:pic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AB1B7E37-C259-C895-DB77-88831352B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0389" y="5622893"/>
            <a:ext cx="2020433" cy="435800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2AD0F469-1597-59DD-721B-C3B5DAD23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801" y="5777201"/>
            <a:ext cx="1433663" cy="225555"/>
          </a:xfrm>
          <a:prstGeom prst="rect">
            <a:avLst/>
          </a:prstGeom>
        </p:spPr>
      </p:pic>
      <p:pic>
        <p:nvPicPr>
          <p:cNvPr id="36" name="Elemento grafico 35">
            <a:extLst>
              <a:ext uri="{FF2B5EF4-FFF2-40B4-BE49-F238E27FC236}">
                <a16:creationId xmlns:a16="http://schemas.microsoft.com/office/drawing/2014/main" id="{F30E8BB3-D46B-CB7A-BCC6-57B3B15B2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6306" y="5770442"/>
            <a:ext cx="1669132" cy="239071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D5657FEF-ABB3-C6A5-E77B-F95F3ECAB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5496" y="5761702"/>
            <a:ext cx="2160682" cy="241054"/>
          </a:xfrm>
          <a:prstGeom prst="rect">
            <a:avLst/>
          </a:prstGeom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A8E47E27-360F-295C-397E-AACEFAC3E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5748" y="5768459"/>
            <a:ext cx="960501" cy="469765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81A70056-7C76-92E5-0FDE-823EC3D3F4DA}"/>
              </a:ext>
            </a:extLst>
          </p:cNvPr>
          <p:cNvSpPr txBox="1">
            <a:spLocks/>
          </p:cNvSpPr>
          <p:nvPr/>
        </p:nvSpPr>
        <p:spPr>
          <a:xfrm>
            <a:off x="0" y="2425743"/>
            <a:ext cx="12192000" cy="2003333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Il punto di riferimento</a:t>
            </a:r>
            <a:b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</a:b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del Real Estate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0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0CFF6-8D66-4FF1-3949-32A1B671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526F0C73-112D-ED97-0B6B-177E495A4483}"/>
              </a:ext>
            </a:extLst>
          </p:cNvPr>
          <p:cNvSpPr txBox="1">
            <a:spLocks/>
          </p:cNvSpPr>
          <p:nvPr/>
        </p:nvSpPr>
        <p:spPr>
          <a:xfrm>
            <a:off x="0" y="2912974"/>
            <a:ext cx="12192000" cy="1032053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" name="Rectangle 108">
            <a:extLst>
              <a:ext uri="{FF2B5EF4-FFF2-40B4-BE49-F238E27FC236}">
                <a16:creationId xmlns:a16="http://schemas.microsoft.com/office/drawing/2014/main" id="{674D8863-59B6-33FB-5C01-D5107D6E7577}"/>
              </a:ext>
            </a:extLst>
          </p:cNvPr>
          <p:cNvSpPr/>
          <p:nvPr/>
        </p:nvSpPr>
        <p:spPr>
          <a:xfrm>
            <a:off x="1582270" y="2574420"/>
            <a:ext cx="9027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Circular Std Book" panose="020B0604020101020102" pitchFamily="34" charset="0"/>
                <a:cs typeface="Circular Std Book" panose="020B0604020101020102" pitchFamily="34" charset="0"/>
              </a:rPr>
              <a:t>AZIENDA E VALORI</a:t>
            </a:r>
          </a:p>
        </p:txBody>
      </p:sp>
    </p:spTree>
    <p:extLst>
      <p:ext uri="{BB962C8B-B14F-4D97-AF65-F5344CB8AC3E}">
        <p14:creationId xmlns:p14="http://schemas.microsoft.com/office/powerpoint/2010/main" val="130426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BE088-30E2-64BB-6478-5A6B8262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DA17F455-46F5-35D4-78D3-B6B8B9CD18A8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" name="Rectangle 108">
            <a:extLst>
              <a:ext uri="{FF2B5EF4-FFF2-40B4-BE49-F238E27FC236}">
                <a16:creationId xmlns:a16="http://schemas.microsoft.com/office/drawing/2014/main" id="{A8FC3AD8-67A7-D4EC-B756-E8CDAF7E029B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BF8F6DB-02BA-799E-9987-1AC6194816FD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AA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79E14F2-2D9B-5415-6AE0-ABC7D8C7BCFB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1941898-9FCC-6576-F4D1-74D675DA8981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17D7B662-817D-36C1-0C54-B393B5E00D03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ED595B57-B645-5EBF-9956-2A1614570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9F47BA5F-7CF4-5886-692F-15D74AF7A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CA223882-3EC9-7D55-5149-78FA747B69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264E7A0D-0DA2-6964-1C67-CDD4F8F30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4" name="Sottotitolo 2">
            <a:extLst>
              <a:ext uri="{FF2B5EF4-FFF2-40B4-BE49-F238E27FC236}">
                <a16:creationId xmlns:a16="http://schemas.microsoft.com/office/drawing/2014/main" id="{88CE5ADC-5625-BA24-B063-EE7646DC26D4}"/>
              </a:ext>
            </a:extLst>
          </p:cNvPr>
          <p:cNvSpPr txBox="1">
            <a:spLocks/>
          </p:cNvSpPr>
          <p:nvPr/>
        </p:nvSpPr>
        <p:spPr>
          <a:xfrm>
            <a:off x="350521" y="5105400"/>
            <a:ext cx="2746800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7" name="Sottotitolo 2">
            <a:extLst>
              <a:ext uri="{FF2B5EF4-FFF2-40B4-BE49-F238E27FC236}">
                <a16:creationId xmlns:a16="http://schemas.microsoft.com/office/drawing/2014/main" id="{621C57B9-F090-F552-294A-9D979C4E5E79}"/>
              </a:ext>
            </a:extLst>
          </p:cNvPr>
          <p:cNvSpPr txBox="1">
            <a:spLocks/>
          </p:cNvSpPr>
          <p:nvPr/>
        </p:nvSpPr>
        <p:spPr>
          <a:xfrm>
            <a:off x="3311655" y="5105400"/>
            <a:ext cx="271961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chemeClr val="bg1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CC1FEB69-98D6-4978-8D3F-56DDD746C565}"/>
              </a:ext>
            </a:extLst>
          </p:cNvPr>
          <p:cNvSpPr txBox="1">
            <a:spLocks/>
          </p:cNvSpPr>
          <p:nvPr/>
        </p:nvSpPr>
        <p:spPr>
          <a:xfrm>
            <a:off x="6219159" y="5105400"/>
            <a:ext cx="274147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EAA0A7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4" name="Sottotitolo 2">
            <a:extLst>
              <a:ext uri="{FF2B5EF4-FFF2-40B4-BE49-F238E27FC236}">
                <a16:creationId xmlns:a16="http://schemas.microsoft.com/office/drawing/2014/main" id="{D47EC33A-54D2-780F-A5FB-E711198957C0}"/>
              </a:ext>
            </a:extLst>
          </p:cNvPr>
          <p:cNvSpPr txBox="1">
            <a:spLocks/>
          </p:cNvSpPr>
          <p:nvPr/>
        </p:nvSpPr>
        <p:spPr>
          <a:xfrm>
            <a:off x="9194800" y="5105400"/>
            <a:ext cx="2721977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846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48DE0-69F3-5562-928D-B8270012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57A9B5A8-0F91-A607-6634-AC213C8BF363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6267974-106D-9968-2983-9BF99AD03117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9BBB366-466E-D3B9-5E9B-868D0F5027B5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8FE9885A-55BC-7C30-6150-F2A5820CA803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885DA19B-64D5-DA76-0E6B-3F5789560115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81A0048F-DA1A-6ABA-EBB4-ED6BD89AD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10FECDB5-1CA4-6537-1C65-599D97613A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04F9303A-E0F0-1E79-DDBC-C4E7943993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B8C23073-C059-B4E8-8EDC-A37FDC036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7" name="Sottotitolo 2">
            <a:extLst>
              <a:ext uri="{FF2B5EF4-FFF2-40B4-BE49-F238E27FC236}">
                <a16:creationId xmlns:a16="http://schemas.microsoft.com/office/drawing/2014/main" id="{49033B01-19C9-7A6E-D807-AD52304FE785}"/>
              </a:ext>
            </a:extLst>
          </p:cNvPr>
          <p:cNvSpPr txBox="1">
            <a:spLocks/>
          </p:cNvSpPr>
          <p:nvPr/>
        </p:nvSpPr>
        <p:spPr>
          <a:xfrm>
            <a:off x="3311655" y="5105400"/>
            <a:ext cx="271961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chemeClr val="bg1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258810F7-C445-8A94-F057-56AA64172ADF}"/>
              </a:ext>
            </a:extLst>
          </p:cNvPr>
          <p:cNvSpPr txBox="1">
            <a:spLocks/>
          </p:cNvSpPr>
          <p:nvPr/>
        </p:nvSpPr>
        <p:spPr>
          <a:xfrm>
            <a:off x="6219159" y="5105400"/>
            <a:ext cx="274147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EAA0A7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4" name="Sottotitolo 2">
            <a:extLst>
              <a:ext uri="{FF2B5EF4-FFF2-40B4-BE49-F238E27FC236}">
                <a16:creationId xmlns:a16="http://schemas.microsoft.com/office/drawing/2014/main" id="{6A2592DA-7543-6FFC-4348-766D698BCA04}"/>
              </a:ext>
            </a:extLst>
          </p:cNvPr>
          <p:cNvSpPr txBox="1">
            <a:spLocks/>
          </p:cNvSpPr>
          <p:nvPr/>
        </p:nvSpPr>
        <p:spPr>
          <a:xfrm>
            <a:off x="9194800" y="5105400"/>
            <a:ext cx="2721977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1EDB97F4-C72A-FDF1-8A8C-AD044B5FF0AB}"/>
              </a:ext>
            </a:extLst>
          </p:cNvPr>
          <p:cNvSpPr txBox="1">
            <a:spLocks/>
          </p:cNvSpPr>
          <p:nvPr/>
        </p:nvSpPr>
        <p:spPr>
          <a:xfrm>
            <a:off x="350521" y="4145644"/>
            <a:ext cx="2746800" cy="195870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A86632C3-94BF-3629-6779-746F332DE2C2}"/>
              </a:ext>
            </a:extLst>
          </p:cNvPr>
          <p:cNvSpPr/>
          <p:nvPr/>
        </p:nvSpPr>
        <p:spPr>
          <a:xfrm>
            <a:off x="350519" y="5052144"/>
            <a:ext cx="274680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162B"/>
              </a:buClr>
              <a:buSzTx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Trasparenti, reattivi e pronti a trasformare ogni cambiamento in 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un’opportunità</a:t>
            </a:r>
          </a:p>
        </p:txBody>
      </p:sp>
      <p:sp>
        <p:nvSpPr>
          <p:cNvPr id="9" name="Rectangle 108">
            <a:extLst>
              <a:ext uri="{FF2B5EF4-FFF2-40B4-BE49-F238E27FC236}">
                <a16:creationId xmlns:a16="http://schemas.microsoft.com/office/drawing/2014/main" id="{00669CB9-0395-F120-0EE1-1C9F1B6619A5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</p:spTree>
    <p:extLst>
      <p:ext uri="{BB962C8B-B14F-4D97-AF65-F5344CB8AC3E}">
        <p14:creationId xmlns:p14="http://schemas.microsoft.com/office/powerpoint/2010/main" val="3190589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0E6444-CCB6-BB68-AA61-5C6AE4BBE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4179676-0E4A-FAEA-D146-C4ADECEA3B34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AF2B905-6515-2491-DE07-42A6B73BCBC5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AA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0E45D570-475D-2F09-0816-ECE52AA3745E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B7F82291-7546-B9A5-9B09-67E4C05A2058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143A14D1-CB52-593D-3B3A-8DE01EB2A496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335CE545-BFEE-7B7D-DCC2-250C9FA5DC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EAC4E3B7-7EAD-6969-BE22-7BE9B36A2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24945B3F-0A6C-84E1-32D2-2599C34AC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9893AC03-02F1-8363-EF15-5FCFA6D9E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4" name="Sottotitolo 2">
            <a:extLst>
              <a:ext uri="{FF2B5EF4-FFF2-40B4-BE49-F238E27FC236}">
                <a16:creationId xmlns:a16="http://schemas.microsoft.com/office/drawing/2014/main" id="{D860A6DF-D692-2463-D6A4-3E0D4E5EF84E}"/>
              </a:ext>
            </a:extLst>
          </p:cNvPr>
          <p:cNvSpPr txBox="1">
            <a:spLocks/>
          </p:cNvSpPr>
          <p:nvPr/>
        </p:nvSpPr>
        <p:spPr>
          <a:xfrm>
            <a:off x="350521" y="5105400"/>
            <a:ext cx="2746800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7" name="Sottotitolo 2">
            <a:extLst>
              <a:ext uri="{FF2B5EF4-FFF2-40B4-BE49-F238E27FC236}">
                <a16:creationId xmlns:a16="http://schemas.microsoft.com/office/drawing/2014/main" id="{C2B311CC-4FE2-DE7E-B3FB-9D15CE9CF8B2}"/>
              </a:ext>
            </a:extLst>
          </p:cNvPr>
          <p:cNvSpPr txBox="1">
            <a:spLocks/>
          </p:cNvSpPr>
          <p:nvPr/>
        </p:nvSpPr>
        <p:spPr>
          <a:xfrm>
            <a:off x="3311655" y="5105400"/>
            <a:ext cx="271961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chemeClr val="bg1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C1CE9D52-1DB1-FBCA-CA23-C7CF7CCF0FFC}"/>
              </a:ext>
            </a:extLst>
          </p:cNvPr>
          <p:cNvSpPr txBox="1">
            <a:spLocks/>
          </p:cNvSpPr>
          <p:nvPr/>
        </p:nvSpPr>
        <p:spPr>
          <a:xfrm>
            <a:off x="6219159" y="5105400"/>
            <a:ext cx="274147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EAA0A7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3F96DD6F-F060-AC30-934E-070E5A769F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3199" y="6371245"/>
            <a:ext cx="1591233" cy="302709"/>
          </a:xfrm>
          <a:prstGeom prst="rect">
            <a:avLst/>
          </a:prstGeom>
        </p:spPr>
      </p:pic>
      <p:sp>
        <p:nvSpPr>
          <p:cNvPr id="33" name="object 4">
            <a:extLst>
              <a:ext uri="{FF2B5EF4-FFF2-40B4-BE49-F238E27FC236}">
                <a16:creationId xmlns:a16="http://schemas.microsoft.com/office/drawing/2014/main" id="{0C8C82CD-7169-135F-F725-44235671FB1A}"/>
              </a:ext>
            </a:extLst>
          </p:cNvPr>
          <p:cNvSpPr txBox="1"/>
          <p:nvPr/>
        </p:nvSpPr>
        <p:spPr>
          <a:xfrm>
            <a:off x="237563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sp>
        <p:nvSpPr>
          <p:cNvPr id="34" name="Sottotitolo 2">
            <a:extLst>
              <a:ext uri="{FF2B5EF4-FFF2-40B4-BE49-F238E27FC236}">
                <a16:creationId xmlns:a16="http://schemas.microsoft.com/office/drawing/2014/main" id="{59D5F041-4C51-FFF6-5CF1-2ABDA218E8A7}"/>
              </a:ext>
            </a:extLst>
          </p:cNvPr>
          <p:cNvSpPr txBox="1">
            <a:spLocks/>
          </p:cNvSpPr>
          <p:nvPr/>
        </p:nvSpPr>
        <p:spPr>
          <a:xfrm>
            <a:off x="9194800" y="5105400"/>
            <a:ext cx="2721977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7" name="Rectangle 108">
            <a:extLst>
              <a:ext uri="{FF2B5EF4-FFF2-40B4-BE49-F238E27FC236}">
                <a16:creationId xmlns:a16="http://schemas.microsoft.com/office/drawing/2014/main" id="{5E1D27C1-C4C3-8D6C-76D2-5C02BE019BDB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</p:spTree>
    <p:extLst>
      <p:ext uri="{BB962C8B-B14F-4D97-AF65-F5344CB8AC3E}">
        <p14:creationId xmlns:p14="http://schemas.microsoft.com/office/powerpoint/2010/main" val="3793821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431CE-1F57-1116-A013-A3FBDD1B4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C996396-815E-4BB2-9AFC-29B997DFB9EF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1D5C5EF-ACFE-CBA5-1FD6-75D3F64499A8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AA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F4BA6F71-5D14-0E77-66F5-8C385DC55C9B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F026D43-961C-0371-3901-DB30043AADB5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5CEF568-D89D-72F4-9AE1-3A85F8A9AA05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9158B100-458F-0069-3B8D-81299D9A1A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53F5F054-1617-11CB-314A-EB69FB4DD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13ABB038-F5F9-7E42-81E8-D83CB71A3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45AE7ED8-E470-6F68-B228-C0C901F67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4" name="Sottotitolo 2">
            <a:extLst>
              <a:ext uri="{FF2B5EF4-FFF2-40B4-BE49-F238E27FC236}">
                <a16:creationId xmlns:a16="http://schemas.microsoft.com/office/drawing/2014/main" id="{6EA2B087-F4A8-7E9C-29B8-9458DED7C894}"/>
              </a:ext>
            </a:extLst>
          </p:cNvPr>
          <p:cNvSpPr txBox="1">
            <a:spLocks/>
          </p:cNvSpPr>
          <p:nvPr/>
        </p:nvSpPr>
        <p:spPr>
          <a:xfrm>
            <a:off x="350521" y="5105400"/>
            <a:ext cx="2746800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432EA7ED-7190-3C63-6B2F-7A9D29EA33A9}"/>
              </a:ext>
            </a:extLst>
          </p:cNvPr>
          <p:cNvSpPr txBox="1">
            <a:spLocks/>
          </p:cNvSpPr>
          <p:nvPr/>
        </p:nvSpPr>
        <p:spPr>
          <a:xfrm>
            <a:off x="6219159" y="5105400"/>
            <a:ext cx="274147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EAA0A7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4" name="Sottotitolo 2">
            <a:extLst>
              <a:ext uri="{FF2B5EF4-FFF2-40B4-BE49-F238E27FC236}">
                <a16:creationId xmlns:a16="http://schemas.microsoft.com/office/drawing/2014/main" id="{01BCF6CA-228B-3FA9-F8CA-50052B52A948}"/>
              </a:ext>
            </a:extLst>
          </p:cNvPr>
          <p:cNvSpPr txBox="1">
            <a:spLocks/>
          </p:cNvSpPr>
          <p:nvPr/>
        </p:nvSpPr>
        <p:spPr>
          <a:xfrm>
            <a:off x="9194800" y="5105400"/>
            <a:ext cx="2721977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470E9CF0-1C01-743B-E553-4AFCF4F1CE81}"/>
              </a:ext>
            </a:extLst>
          </p:cNvPr>
          <p:cNvSpPr txBox="1">
            <a:spLocks/>
          </p:cNvSpPr>
          <p:nvPr/>
        </p:nvSpPr>
        <p:spPr>
          <a:xfrm>
            <a:off x="3311655" y="4145644"/>
            <a:ext cx="2719618" cy="195870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35D77A96-04F1-AF42-49AC-D5038160BBF5}"/>
              </a:ext>
            </a:extLst>
          </p:cNvPr>
          <p:cNvSpPr/>
          <p:nvPr/>
        </p:nvSpPr>
        <p:spPr>
          <a:xfrm>
            <a:off x="3311653" y="5052144"/>
            <a:ext cx="258432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162B"/>
              </a:buClr>
              <a:buSzTx/>
              <a:tabLst/>
              <a:defRPr/>
            </a:pP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Utilizziamo 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dati e tecnologie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per offrire 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soluzioni su misura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e 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orientate ai risultati</a:t>
            </a:r>
          </a:p>
        </p:txBody>
      </p:sp>
      <p:sp>
        <p:nvSpPr>
          <p:cNvPr id="9" name="Rectangle 108">
            <a:extLst>
              <a:ext uri="{FF2B5EF4-FFF2-40B4-BE49-F238E27FC236}">
                <a16:creationId xmlns:a16="http://schemas.microsoft.com/office/drawing/2014/main" id="{0ACA8D7C-4A15-0A42-E3BC-94E3ECF86447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</p:spTree>
    <p:extLst>
      <p:ext uri="{BB962C8B-B14F-4D97-AF65-F5344CB8AC3E}">
        <p14:creationId xmlns:p14="http://schemas.microsoft.com/office/powerpoint/2010/main" val="2107866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83A5D-86D7-C3E3-1E7C-DAEED017D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3BBFC2F-7ABF-66B3-EB11-C74F884320E5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0F05446-755F-1F7E-7787-714EE9E23DBD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AA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2954F93-5837-565F-FC21-15F24CBA3305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5F5CBBB-35F7-D200-94AA-CF638C7B6739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7BFD498B-FAB9-25D0-FBE3-452A13918217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6C931EA5-A2E8-3AE3-6483-2968FC0A0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743BBBC1-1A2A-4A8E-D309-39316AF1D1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323D619B-1DE8-DFFD-5F00-467E5C449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FBF8C914-D386-5CF7-B203-83517D6724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4" name="Sottotitolo 2">
            <a:extLst>
              <a:ext uri="{FF2B5EF4-FFF2-40B4-BE49-F238E27FC236}">
                <a16:creationId xmlns:a16="http://schemas.microsoft.com/office/drawing/2014/main" id="{AB6725F5-188A-A495-63B2-50AFE5FAAFAB}"/>
              </a:ext>
            </a:extLst>
          </p:cNvPr>
          <p:cNvSpPr txBox="1">
            <a:spLocks/>
          </p:cNvSpPr>
          <p:nvPr/>
        </p:nvSpPr>
        <p:spPr>
          <a:xfrm>
            <a:off x="350521" y="5105400"/>
            <a:ext cx="2746800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7" name="Sottotitolo 2">
            <a:extLst>
              <a:ext uri="{FF2B5EF4-FFF2-40B4-BE49-F238E27FC236}">
                <a16:creationId xmlns:a16="http://schemas.microsoft.com/office/drawing/2014/main" id="{DFB4E4A7-3099-B6AD-9014-4004CAF649D9}"/>
              </a:ext>
            </a:extLst>
          </p:cNvPr>
          <p:cNvSpPr txBox="1">
            <a:spLocks/>
          </p:cNvSpPr>
          <p:nvPr/>
        </p:nvSpPr>
        <p:spPr>
          <a:xfrm>
            <a:off x="3311655" y="5105400"/>
            <a:ext cx="271961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chemeClr val="bg1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66A0D1A7-7A01-33F4-CB1C-FD1FD7B7A778}"/>
              </a:ext>
            </a:extLst>
          </p:cNvPr>
          <p:cNvSpPr txBox="1">
            <a:spLocks/>
          </p:cNvSpPr>
          <p:nvPr/>
        </p:nvSpPr>
        <p:spPr>
          <a:xfrm>
            <a:off x="6219159" y="5105400"/>
            <a:ext cx="274147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EAA0A7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4" name="Sottotitolo 2">
            <a:extLst>
              <a:ext uri="{FF2B5EF4-FFF2-40B4-BE49-F238E27FC236}">
                <a16:creationId xmlns:a16="http://schemas.microsoft.com/office/drawing/2014/main" id="{AB4DAEEE-9E50-F44E-C231-1ED845284A52}"/>
              </a:ext>
            </a:extLst>
          </p:cNvPr>
          <p:cNvSpPr txBox="1">
            <a:spLocks/>
          </p:cNvSpPr>
          <p:nvPr/>
        </p:nvSpPr>
        <p:spPr>
          <a:xfrm>
            <a:off x="9194800" y="5105400"/>
            <a:ext cx="2721977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7" name="Rectangle 108">
            <a:extLst>
              <a:ext uri="{FF2B5EF4-FFF2-40B4-BE49-F238E27FC236}">
                <a16:creationId xmlns:a16="http://schemas.microsoft.com/office/drawing/2014/main" id="{3B0B2052-9C9E-8A75-D16A-59E03A8D46CD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</p:spTree>
    <p:extLst>
      <p:ext uri="{BB962C8B-B14F-4D97-AF65-F5344CB8AC3E}">
        <p14:creationId xmlns:p14="http://schemas.microsoft.com/office/powerpoint/2010/main" val="99127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31E84-3A93-C98F-5470-F2E3E05CE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2C6D7A6C-75BE-434F-9DAA-746CF25CCA3D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10CC518B-951E-7E99-1661-A9B743990B82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AA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B26C71CF-C1F6-BB07-27EF-6ECAF32651AC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C5B1DA06-1C31-D3C2-0CD8-918C1F2900A7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A1C7578-7FA9-6427-2DAE-2D9A022A8E41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3101496D-E07D-4798-0197-B26C76BF0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ECED3417-6F6D-88AE-3304-1ED097327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DB7A2925-E29C-6201-C95E-E65614162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A5A43FC2-1032-CAB7-A1EC-A227BA6D9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4" name="Sottotitolo 2">
            <a:extLst>
              <a:ext uri="{FF2B5EF4-FFF2-40B4-BE49-F238E27FC236}">
                <a16:creationId xmlns:a16="http://schemas.microsoft.com/office/drawing/2014/main" id="{78BF2D59-2B18-CF62-C53F-7ABFAE7E7DD7}"/>
              </a:ext>
            </a:extLst>
          </p:cNvPr>
          <p:cNvSpPr txBox="1">
            <a:spLocks/>
          </p:cNvSpPr>
          <p:nvPr/>
        </p:nvSpPr>
        <p:spPr>
          <a:xfrm>
            <a:off x="350521" y="5105400"/>
            <a:ext cx="2746800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7" name="Sottotitolo 2">
            <a:extLst>
              <a:ext uri="{FF2B5EF4-FFF2-40B4-BE49-F238E27FC236}">
                <a16:creationId xmlns:a16="http://schemas.microsoft.com/office/drawing/2014/main" id="{49F80B90-2086-DAB3-6700-813AA1AF56A9}"/>
              </a:ext>
            </a:extLst>
          </p:cNvPr>
          <p:cNvSpPr txBox="1">
            <a:spLocks/>
          </p:cNvSpPr>
          <p:nvPr/>
        </p:nvSpPr>
        <p:spPr>
          <a:xfrm>
            <a:off x="3311655" y="5105400"/>
            <a:ext cx="271961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chemeClr val="bg1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4" name="Sottotitolo 2">
            <a:extLst>
              <a:ext uri="{FF2B5EF4-FFF2-40B4-BE49-F238E27FC236}">
                <a16:creationId xmlns:a16="http://schemas.microsoft.com/office/drawing/2014/main" id="{B4C79AA6-E634-D10A-4C87-330F3D058815}"/>
              </a:ext>
            </a:extLst>
          </p:cNvPr>
          <p:cNvSpPr txBox="1">
            <a:spLocks/>
          </p:cNvSpPr>
          <p:nvPr/>
        </p:nvSpPr>
        <p:spPr>
          <a:xfrm>
            <a:off x="9194800" y="5105400"/>
            <a:ext cx="2721977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739644CF-DE94-D9E2-BD3E-E69E68E4DBA0}"/>
              </a:ext>
            </a:extLst>
          </p:cNvPr>
          <p:cNvSpPr txBox="1">
            <a:spLocks/>
          </p:cNvSpPr>
          <p:nvPr/>
        </p:nvSpPr>
        <p:spPr>
          <a:xfrm>
            <a:off x="6219159" y="4145644"/>
            <a:ext cx="2741478" cy="195870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1926E55E-B705-8B26-360C-FA742727A815}"/>
              </a:ext>
            </a:extLst>
          </p:cNvPr>
          <p:cNvSpPr/>
          <p:nvPr/>
        </p:nvSpPr>
        <p:spPr>
          <a:xfrm>
            <a:off x="6219157" y="5052144"/>
            <a:ext cx="28403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162B"/>
              </a:buClr>
              <a:buSzTx/>
              <a:tabLst/>
              <a:defRPr/>
            </a:pP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Mettiamo al 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centro le persone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, ascoltandole e accompagnandole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162B"/>
              </a:buClr>
              <a:buSzTx/>
              <a:tabLst/>
              <a:defRPr/>
            </a:pP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con interesse.</a:t>
            </a:r>
          </a:p>
        </p:txBody>
      </p:sp>
      <p:sp>
        <p:nvSpPr>
          <p:cNvPr id="9" name="Rectangle 108">
            <a:extLst>
              <a:ext uri="{FF2B5EF4-FFF2-40B4-BE49-F238E27FC236}">
                <a16:creationId xmlns:a16="http://schemas.microsoft.com/office/drawing/2014/main" id="{883B1E58-0266-9862-370B-C3A4C3FD261A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</p:spTree>
    <p:extLst>
      <p:ext uri="{BB962C8B-B14F-4D97-AF65-F5344CB8AC3E}">
        <p14:creationId xmlns:p14="http://schemas.microsoft.com/office/powerpoint/2010/main" val="2250353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CFD06-7AE1-A56B-C5C6-64489424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D4167342-AFBA-DD15-19E0-3F325F96287A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F37507ED-B8DE-66FC-37DC-DD6E7548FECE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AA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D572E38-DDF1-4CEC-A314-282F30D6CBCB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18B7193-3302-307B-FEB6-AF37993C541F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8A7933FD-1BDE-8DD2-7B1E-6DDB9EFE8B44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11B45DD9-CCBB-47AF-8E89-FEBC7640C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5F16C02D-BC1B-4655-5A76-4545BF4A32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436812FF-1BE1-67FA-1348-8293030CDB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87DE3F20-B665-435E-2281-BDDF8A5AC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4" name="Sottotitolo 2">
            <a:extLst>
              <a:ext uri="{FF2B5EF4-FFF2-40B4-BE49-F238E27FC236}">
                <a16:creationId xmlns:a16="http://schemas.microsoft.com/office/drawing/2014/main" id="{1E251A28-F603-DF96-4415-565C245F3206}"/>
              </a:ext>
            </a:extLst>
          </p:cNvPr>
          <p:cNvSpPr txBox="1">
            <a:spLocks/>
          </p:cNvSpPr>
          <p:nvPr/>
        </p:nvSpPr>
        <p:spPr>
          <a:xfrm>
            <a:off x="350521" y="5105400"/>
            <a:ext cx="2746800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7" name="Sottotitolo 2">
            <a:extLst>
              <a:ext uri="{FF2B5EF4-FFF2-40B4-BE49-F238E27FC236}">
                <a16:creationId xmlns:a16="http://schemas.microsoft.com/office/drawing/2014/main" id="{CFCB653E-B209-96D3-1039-CD12AB516A21}"/>
              </a:ext>
            </a:extLst>
          </p:cNvPr>
          <p:cNvSpPr txBox="1">
            <a:spLocks/>
          </p:cNvSpPr>
          <p:nvPr/>
        </p:nvSpPr>
        <p:spPr>
          <a:xfrm>
            <a:off x="3311655" y="5105400"/>
            <a:ext cx="271961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chemeClr val="bg1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918755E8-9789-C743-455F-1CC8F4F6D10E}"/>
              </a:ext>
            </a:extLst>
          </p:cNvPr>
          <p:cNvSpPr txBox="1">
            <a:spLocks/>
          </p:cNvSpPr>
          <p:nvPr/>
        </p:nvSpPr>
        <p:spPr>
          <a:xfrm>
            <a:off x="6219159" y="5105400"/>
            <a:ext cx="274147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EAA0A7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4" name="Sottotitolo 2">
            <a:extLst>
              <a:ext uri="{FF2B5EF4-FFF2-40B4-BE49-F238E27FC236}">
                <a16:creationId xmlns:a16="http://schemas.microsoft.com/office/drawing/2014/main" id="{E2E72B00-8D5F-84E7-084E-5742F8333D02}"/>
              </a:ext>
            </a:extLst>
          </p:cNvPr>
          <p:cNvSpPr txBox="1">
            <a:spLocks/>
          </p:cNvSpPr>
          <p:nvPr/>
        </p:nvSpPr>
        <p:spPr>
          <a:xfrm>
            <a:off x="9194800" y="5105400"/>
            <a:ext cx="2721977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7" name="Rectangle 108">
            <a:extLst>
              <a:ext uri="{FF2B5EF4-FFF2-40B4-BE49-F238E27FC236}">
                <a16:creationId xmlns:a16="http://schemas.microsoft.com/office/drawing/2014/main" id="{498F4948-D68D-CB0C-6E05-ACA547C4F6E2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</p:spTree>
    <p:extLst>
      <p:ext uri="{BB962C8B-B14F-4D97-AF65-F5344CB8AC3E}">
        <p14:creationId xmlns:p14="http://schemas.microsoft.com/office/powerpoint/2010/main" val="1662405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408D6-0959-5ED4-D91E-D23B4760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1DC6E45C-8EA3-3B26-199A-4B20537453E5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F366D8DC-5F3D-4AA3-8A71-F6CE8DB36E94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AA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7FCBF8A-2961-E45D-8104-19C2DAA72A49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8D08FC7-2F6D-78D5-9638-4956C197CCEF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A4DF814-B1D8-5C95-4EF7-CC9DA7BF4617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6404E6BD-8129-260E-70F5-783620C77F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ABF1E91C-7CC4-8EEF-424B-DDCEA9884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B0D3A454-3C44-8A14-BB5B-B0467663D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CD7CFEC6-C026-A958-92ED-F04DB9703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4" name="Sottotitolo 2">
            <a:extLst>
              <a:ext uri="{FF2B5EF4-FFF2-40B4-BE49-F238E27FC236}">
                <a16:creationId xmlns:a16="http://schemas.microsoft.com/office/drawing/2014/main" id="{56609BEF-C62C-C9A3-6C9D-C36455C63096}"/>
              </a:ext>
            </a:extLst>
          </p:cNvPr>
          <p:cNvSpPr txBox="1">
            <a:spLocks/>
          </p:cNvSpPr>
          <p:nvPr/>
        </p:nvSpPr>
        <p:spPr>
          <a:xfrm>
            <a:off x="350521" y="5105400"/>
            <a:ext cx="2746800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7" name="Sottotitolo 2">
            <a:extLst>
              <a:ext uri="{FF2B5EF4-FFF2-40B4-BE49-F238E27FC236}">
                <a16:creationId xmlns:a16="http://schemas.microsoft.com/office/drawing/2014/main" id="{C2369343-3AC4-5697-642F-26683305136B}"/>
              </a:ext>
            </a:extLst>
          </p:cNvPr>
          <p:cNvSpPr txBox="1">
            <a:spLocks/>
          </p:cNvSpPr>
          <p:nvPr/>
        </p:nvSpPr>
        <p:spPr>
          <a:xfrm>
            <a:off x="3311655" y="5105400"/>
            <a:ext cx="271961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chemeClr val="bg1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5DCE4B98-8193-1664-DDFE-6F072EEFD6A4}"/>
              </a:ext>
            </a:extLst>
          </p:cNvPr>
          <p:cNvSpPr txBox="1">
            <a:spLocks/>
          </p:cNvSpPr>
          <p:nvPr/>
        </p:nvSpPr>
        <p:spPr>
          <a:xfrm>
            <a:off x="6219159" y="5105400"/>
            <a:ext cx="274147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EAA0A7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42CD78B1-BF18-B397-9F3C-A27C48B957A9}"/>
              </a:ext>
            </a:extLst>
          </p:cNvPr>
          <p:cNvSpPr txBox="1">
            <a:spLocks/>
          </p:cNvSpPr>
          <p:nvPr/>
        </p:nvSpPr>
        <p:spPr>
          <a:xfrm>
            <a:off x="9194800" y="4145644"/>
            <a:ext cx="2721977" cy="195870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2DCEF51A-8FA3-7049-6BA3-21D14156F572}"/>
              </a:ext>
            </a:extLst>
          </p:cNvPr>
          <p:cNvSpPr/>
          <p:nvPr/>
        </p:nvSpPr>
        <p:spPr>
          <a:xfrm>
            <a:off x="9194801" y="5052144"/>
            <a:ext cx="27219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162B"/>
              </a:buClr>
              <a:buSzTx/>
              <a:tabLst/>
              <a:defRPr/>
            </a:pP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Offriamo 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una consulenza sartoriale e guidiamo progetti e persone</a:t>
            </a: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verso la realizzazione di obiettivi e desideri.</a:t>
            </a:r>
          </a:p>
        </p:txBody>
      </p:sp>
      <p:sp>
        <p:nvSpPr>
          <p:cNvPr id="9" name="Rectangle 108">
            <a:extLst>
              <a:ext uri="{FF2B5EF4-FFF2-40B4-BE49-F238E27FC236}">
                <a16:creationId xmlns:a16="http://schemas.microsoft.com/office/drawing/2014/main" id="{2CCA2509-B237-E5B8-2226-EFE2D4ECB0A9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</p:spTree>
    <p:extLst>
      <p:ext uri="{BB962C8B-B14F-4D97-AF65-F5344CB8AC3E}">
        <p14:creationId xmlns:p14="http://schemas.microsoft.com/office/powerpoint/2010/main" val="2411046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AF28C-4E2F-6C19-59E5-15238861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AC8CD32-ED04-9F36-C10B-36E4AAAF2168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Il tuo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 partner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strategico.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29FE9C3-9D95-3CE8-B719-C1274077477B}"/>
              </a:ext>
            </a:extLst>
          </p:cNvPr>
          <p:cNvSpPr/>
          <p:nvPr/>
        </p:nvSpPr>
        <p:spPr>
          <a:xfrm>
            <a:off x="275222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AA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B05D833-8AC7-6269-BBB6-F7815948CB6D}"/>
              </a:ext>
            </a:extLst>
          </p:cNvPr>
          <p:cNvSpPr/>
          <p:nvPr/>
        </p:nvSpPr>
        <p:spPr>
          <a:xfrm>
            <a:off x="3209174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00E4AD9-9AF6-5DE5-1E20-C42AD45D781D}"/>
              </a:ext>
            </a:extLst>
          </p:cNvPr>
          <p:cNvSpPr/>
          <p:nvPr/>
        </p:nvSpPr>
        <p:spPr>
          <a:xfrm>
            <a:off x="6143126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7A46A61B-AAD8-54CB-8733-251E7A484372}"/>
              </a:ext>
            </a:extLst>
          </p:cNvPr>
          <p:cNvSpPr/>
          <p:nvPr/>
        </p:nvSpPr>
        <p:spPr>
          <a:xfrm>
            <a:off x="9077078" y="2965615"/>
            <a:ext cx="2822098" cy="3138729"/>
          </a:xfrm>
          <a:prstGeom prst="roundRect">
            <a:avLst>
              <a:gd name="adj" fmla="val 6166"/>
            </a:avLst>
          </a:pr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EE9E0"/>
              </a:solidFill>
            </a:endParaRP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5772DAA7-FD63-6E83-E5EC-EDFCC8F81D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063" y="3262910"/>
            <a:ext cx="402634" cy="494142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108901C5-A9AF-454E-52CB-076927D56F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58" y="3262911"/>
            <a:ext cx="488041" cy="494142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F5E9A324-E98A-3A0A-1F53-1CDE341F9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250" y="3262910"/>
            <a:ext cx="494142" cy="494142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530D5B46-E260-E1FE-6EFD-0277507AD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961" y="3262911"/>
            <a:ext cx="335529" cy="494142"/>
          </a:xfrm>
          <a:prstGeom prst="rect">
            <a:avLst/>
          </a:prstGeom>
        </p:spPr>
      </p:pic>
      <p:sp>
        <p:nvSpPr>
          <p:cNvPr id="24" name="Sottotitolo 2">
            <a:extLst>
              <a:ext uri="{FF2B5EF4-FFF2-40B4-BE49-F238E27FC236}">
                <a16:creationId xmlns:a16="http://schemas.microsoft.com/office/drawing/2014/main" id="{72776A84-26A0-7576-CA5E-1EF74A62172D}"/>
              </a:ext>
            </a:extLst>
          </p:cNvPr>
          <p:cNvSpPr txBox="1">
            <a:spLocks/>
          </p:cNvSpPr>
          <p:nvPr/>
        </p:nvSpPr>
        <p:spPr>
          <a:xfrm>
            <a:off x="350521" y="5105400"/>
            <a:ext cx="2746800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</a:rPr>
              <a:t>Affidabilità e</a:t>
            </a:r>
          </a:p>
          <a:p>
            <a:r>
              <a:rPr lang="it-IT" sz="2400" b="1" dirty="0">
                <a:solidFill>
                  <a:srgbClr val="C3162B"/>
                </a:solidFill>
                <a:latin typeface="PP Pangaia SemiBold" pitchFamily="2" charset="0"/>
                <a:cs typeface="PP Pangaia Italic" pitchFamily="50" charset="0"/>
              </a:rPr>
              <a:t>Flessibilità</a:t>
            </a:r>
            <a:endParaRPr lang="it-IT" sz="24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27" name="Sottotitolo 2">
            <a:extLst>
              <a:ext uri="{FF2B5EF4-FFF2-40B4-BE49-F238E27FC236}">
                <a16:creationId xmlns:a16="http://schemas.microsoft.com/office/drawing/2014/main" id="{5E9ECFEA-187F-B535-0F96-F0BCDE7EAC42}"/>
              </a:ext>
            </a:extLst>
          </p:cNvPr>
          <p:cNvSpPr txBox="1">
            <a:spLocks/>
          </p:cNvSpPr>
          <p:nvPr/>
        </p:nvSpPr>
        <p:spPr>
          <a:xfrm>
            <a:off x="3311655" y="5105400"/>
            <a:ext cx="271961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</a:rPr>
              <a:t>Innovazione e</a:t>
            </a:r>
          </a:p>
          <a:p>
            <a:r>
              <a:rPr lang="it-IT" sz="2400" b="1" dirty="0">
                <a:solidFill>
                  <a:schemeClr val="bg1"/>
                </a:solidFill>
                <a:latin typeface="PP Pangaia SemiBold" pitchFamily="2" charset="0"/>
                <a:cs typeface="PP Pangaia Italic" pitchFamily="50" charset="0"/>
              </a:rPr>
              <a:t>Accuratezza</a:t>
            </a:r>
            <a:endParaRPr lang="it-IT" sz="2400" dirty="0">
              <a:solidFill>
                <a:schemeClr val="bg1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6A3804FB-7AAA-E731-81DF-C00DFF8A7871}"/>
              </a:ext>
            </a:extLst>
          </p:cNvPr>
          <p:cNvSpPr txBox="1">
            <a:spLocks/>
          </p:cNvSpPr>
          <p:nvPr/>
        </p:nvSpPr>
        <p:spPr>
          <a:xfrm>
            <a:off x="6219159" y="5105400"/>
            <a:ext cx="2741478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</a:rPr>
              <a:t>Empatia e</a:t>
            </a:r>
          </a:p>
          <a:p>
            <a:r>
              <a:rPr lang="it-IT" sz="2400" b="1" dirty="0">
                <a:solidFill>
                  <a:srgbClr val="EAA0A7"/>
                </a:solidFill>
                <a:latin typeface="PP Pangaia SemiBold" pitchFamily="2" charset="0"/>
                <a:cs typeface="PP Pangaia Italic" pitchFamily="50" charset="0"/>
              </a:rPr>
              <a:t>Ascolto</a:t>
            </a:r>
            <a:endParaRPr lang="it-IT" sz="2400" dirty="0">
              <a:solidFill>
                <a:srgbClr val="EAA0A7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4" name="Sottotitolo 2">
            <a:extLst>
              <a:ext uri="{FF2B5EF4-FFF2-40B4-BE49-F238E27FC236}">
                <a16:creationId xmlns:a16="http://schemas.microsoft.com/office/drawing/2014/main" id="{B4AA5AFA-5330-CB14-A2BA-6C60AE4A3B5F}"/>
              </a:ext>
            </a:extLst>
          </p:cNvPr>
          <p:cNvSpPr txBox="1">
            <a:spLocks/>
          </p:cNvSpPr>
          <p:nvPr/>
        </p:nvSpPr>
        <p:spPr>
          <a:xfrm>
            <a:off x="9194800" y="5105400"/>
            <a:ext cx="2721977" cy="99894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</a:rPr>
              <a:t>Cura e</a:t>
            </a:r>
          </a:p>
          <a:p>
            <a:r>
              <a:rPr lang="it-IT" sz="2400" b="1" dirty="0">
                <a:solidFill>
                  <a:srgbClr val="460E1D"/>
                </a:solidFill>
                <a:latin typeface="PP Pangaia SemiBold" pitchFamily="2" charset="0"/>
                <a:cs typeface="PP Pangaia Italic" pitchFamily="50" charset="0"/>
              </a:rPr>
              <a:t>Personalizzazione</a:t>
            </a:r>
            <a:endParaRPr lang="it-IT" sz="2400" dirty="0">
              <a:solidFill>
                <a:srgbClr val="460E1D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7" name="Rectangle 108">
            <a:extLst>
              <a:ext uri="{FF2B5EF4-FFF2-40B4-BE49-F238E27FC236}">
                <a16:creationId xmlns:a16="http://schemas.microsoft.com/office/drawing/2014/main" id="{51E5729D-8C2F-9286-EB0D-6EF62D8A3A6F}"/>
              </a:ext>
            </a:extLst>
          </p:cNvPr>
          <p:cNvSpPr/>
          <p:nvPr/>
        </p:nvSpPr>
        <p:spPr>
          <a:xfrm>
            <a:off x="275222" y="1129104"/>
            <a:ext cx="11623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Dal 1997 ci occupiamo della commercializzazione di soluzioni abitative di nuova costruzione e, attraverso i nostri brand specializzati, offriamo servizi integrati per l'intera filiera immobiliare.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Il nostro obiettivo è generare valore per ogni sviluppo Real Estate. Conosciamo a fondo il mercato, il territorio e le sue dinamiche e rispondiamo alle esigenze di proprietari, investitori e utilizzatori come un vero partner strategico.</a:t>
            </a:r>
          </a:p>
        </p:txBody>
      </p:sp>
    </p:spTree>
    <p:extLst>
      <p:ext uri="{BB962C8B-B14F-4D97-AF65-F5344CB8AC3E}">
        <p14:creationId xmlns:p14="http://schemas.microsoft.com/office/powerpoint/2010/main" val="2090697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A5007-EE80-8C3C-186B-BAF15036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F79A554-BEFB-BF3E-2D06-0529506754DC}"/>
              </a:ext>
            </a:extLst>
          </p:cNvPr>
          <p:cNvSpPr/>
          <p:nvPr/>
        </p:nvSpPr>
        <p:spPr>
          <a:xfrm>
            <a:off x="0" y="-6223819"/>
            <a:ext cx="6388100" cy="8852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6441BF7-34A9-899D-4B64-CBBE53A1A2DC}"/>
              </a:ext>
            </a:extLst>
          </p:cNvPr>
          <p:cNvSpPr/>
          <p:nvPr/>
        </p:nvSpPr>
        <p:spPr>
          <a:xfrm>
            <a:off x="0" y="4724399"/>
            <a:ext cx="6388100" cy="6897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5E354A8C-0489-7B6F-C4B5-114FB66B7104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021AFBE-0D62-2734-FDFD-6AB175520B28}"/>
              </a:ext>
            </a:extLst>
          </p:cNvPr>
          <p:cNvSpPr txBox="1">
            <a:spLocks/>
          </p:cNvSpPr>
          <p:nvPr/>
        </p:nvSpPr>
        <p:spPr>
          <a:xfrm>
            <a:off x="0" y="2618537"/>
            <a:ext cx="12192000" cy="1620926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43DC9B8B-154F-4BD8-B140-7F904FE4C7F6}"/>
              </a:ext>
            </a:extLst>
          </p:cNvPr>
          <p:cNvSpPr/>
          <p:nvPr/>
        </p:nvSpPr>
        <p:spPr>
          <a:xfrm>
            <a:off x="0" y="2038683"/>
            <a:ext cx="1219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Circular Std Book" panose="020B0604020101020102" pitchFamily="34" charset="0"/>
                <a:cs typeface="Circular Std Book" panose="020B0604020101020102" pitchFamily="34" charset="0"/>
              </a:rPr>
              <a:t>STORIA</a:t>
            </a:r>
          </a:p>
        </p:txBody>
      </p:sp>
    </p:spTree>
    <p:extLst>
      <p:ext uri="{BB962C8B-B14F-4D97-AF65-F5344CB8AC3E}">
        <p14:creationId xmlns:p14="http://schemas.microsoft.com/office/powerpoint/2010/main" val="3001908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15503-8EF5-A2A0-A2E4-A7CBAD9F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AFE83EB2-7C2A-6430-A188-74361647C60E}"/>
              </a:ext>
            </a:extLst>
          </p:cNvPr>
          <p:cNvSpPr/>
          <p:nvPr/>
        </p:nvSpPr>
        <p:spPr>
          <a:xfrm>
            <a:off x="6388100" y="1520785"/>
            <a:ext cx="52959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Le nostre origini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600" dirty="0">
              <a:solidFill>
                <a:srgbClr val="460E1D"/>
              </a:solidFill>
              <a:latin typeface="Manrope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Co. nasce nel 1997 con un obiettivo chiaro: offrire un servizio specializzato a clienti privati, imprese e cooperative nel segmento residenziale di nuova costruzione. Nei vent’anni successivi ci concentriamo sulla gestione di tutte le fasi dello sviluppo immobiliare, affermandoci come un modello innovativo sul mercato milanese.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600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Mettiamo al centro il benessere delle persone e l’evoluzione del mercato, utilizzando i dati per leggere con rapidità le esigenze abitative e promuovendo nuovi format dell’abitare, capaci di rendere più efficace il processo di vendita e di valorizzare le operazioni.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D45CA2A-C3D5-E2A7-D51C-4D98B8D1C33E}"/>
              </a:ext>
            </a:extLst>
          </p:cNvPr>
          <p:cNvSpPr txBox="1"/>
          <p:nvPr/>
        </p:nvSpPr>
        <p:spPr>
          <a:xfrm>
            <a:off x="584200" y="2568654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BE1C04D-0E13-1F90-2450-4AEA968A203C}"/>
              </a:ext>
            </a:extLst>
          </p:cNvPr>
          <p:cNvSpPr txBox="1"/>
          <p:nvPr/>
        </p:nvSpPr>
        <p:spPr>
          <a:xfrm>
            <a:off x="1696813" y="2568654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2B9046E-F199-1EC5-EA8D-3DFC3B4AC40F}"/>
              </a:ext>
            </a:extLst>
          </p:cNvPr>
          <p:cNvSpPr txBox="1"/>
          <p:nvPr/>
        </p:nvSpPr>
        <p:spPr>
          <a:xfrm>
            <a:off x="2887327" y="2568654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1A77B24-FD7A-0F68-DAC6-C4B4FA4C2565}"/>
              </a:ext>
            </a:extLst>
          </p:cNvPr>
          <p:cNvSpPr txBox="1"/>
          <p:nvPr/>
        </p:nvSpPr>
        <p:spPr>
          <a:xfrm>
            <a:off x="4061224" y="2568654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4505C74-6E8B-E24C-0923-330044D16CA4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B4B7B4D-3970-2338-721D-247C51632AFA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3EE88667-2959-1B6E-DFD0-A819920D975A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CBC7D580-7534-6E3A-70BB-681D050EADCB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240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8E8DE-98DE-4EEC-DA1C-6D783E29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7192B7E0-F95F-56FF-475F-A0208F7C43D6}"/>
              </a:ext>
            </a:extLst>
          </p:cNvPr>
          <p:cNvSpPr/>
          <p:nvPr/>
        </p:nvSpPr>
        <p:spPr>
          <a:xfrm>
            <a:off x="6388100" y="2551837"/>
            <a:ext cx="5295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Un ecosistema che cresce</a:t>
            </a:r>
          </a:p>
          <a:p>
            <a:pPr lvl="0">
              <a:defRPr/>
            </a:pPr>
            <a:endParaRPr lang="it-IT" dirty="0">
              <a:solidFill>
                <a:srgbClr val="460E1D"/>
              </a:solidFill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Nel luglio del 2010, a Milano, prende forma</a:t>
            </a:r>
            <a:b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</a:b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Servizi Immobiliari S.R.L.,</a:t>
            </a:r>
            <a:b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</a:b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ampliando l’offerta di servizi a supporto dei</a:t>
            </a:r>
            <a:b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</a:b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progetti e delle persone e rafforzando</a:t>
            </a:r>
            <a:b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</a:b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l’ecosistema Abitare Co.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B7740E5-CCDC-F692-8C46-449FBBF64094}"/>
              </a:ext>
            </a:extLst>
          </p:cNvPr>
          <p:cNvSpPr txBox="1"/>
          <p:nvPr/>
        </p:nvSpPr>
        <p:spPr>
          <a:xfrm>
            <a:off x="584200" y="478592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1F294C9-B52D-1898-71C4-EB11EB29A05D}"/>
              </a:ext>
            </a:extLst>
          </p:cNvPr>
          <p:cNvSpPr txBox="1"/>
          <p:nvPr/>
        </p:nvSpPr>
        <p:spPr>
          <a:xfrm>
            <a:off x="1696813" y="-20538113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AE03A4E-D7D4-5EA1-7CE7-05644409D8B7}"/>
              </a:ext>
            </a:extLst>
          </p:cNvPr>
          <p:cNvSpPr txBox="1"/>
          <p:nvPr/>
        </p:nvSpPr>
        <p:spPr>
          <a:xfrm>
            <a:off x="2887327" y="-22642683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3158823-F2C3-C646-2F5C-A06C4D170857}"/>
              </a:ext>
            </a:extLst>
          </p:cNvPr>
          <p:cNvSpPr txBox="1"/>
          <p:nvPr/>
        </p:nvSpPr>
        <p:spPr>
          <a:xfrm>
            <a:off x="4061224" y="-3730550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D417DF7-C27E-25F0-E02D-4FCE345AA6EC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8D0BD2-8DD9-D55C-ECEF-D2CD06B7A804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04F9C64E-FBD4-DA7D-79BB-E9318D06BE94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AC3AECA-3312-90B2-81E7-6EECD34FA586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431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61E24-96F7-AD33-7ACB-CAC7BA63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05094C4E-3F03-F6B0-8BD5-BB0B2713E505}"/>
              </a:ext>
            </a:extLst>
          </p:cNvPr>
          <p:cNvSpPr/>
          <p:nvPr/>
        </p:nvSpPr>
        <p:spPr>
          <a:xfrm>
            <a:off x="6388100" y="1720840"/>
            <a:ext cx="52959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Innovazione e rigenerazione</a:t>
            </a:r>
          </a:p>
          <a:p>
            <a:pPr lvl="0">
              <a:defRPr/>
            </a:pPr>
            <a:endParaRPr lang="it-IT" dirty="0">
              <a:solidFill>
                <a:srgbClr val="C3162B"/>
              </a:solidFill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Integriamo in modo progressivo l’innovazione digitale nella nostra strategia, spesso in modo pionieristico, per rispondere all’evoluzione del settore.</a:t>
            </a:r>
          </a:p>
          <a:p>
            <a:pPr lvl="0">
              <a:defRPr/>
            </a:pPr>
            <a:endParaRPr lang="it-IT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Ci confermiamo leader a Milano nella commercializzazione di appartamenti di nuova costruzione e frazionamenti, sia in vendita che in affitto. Continuiamo inoltre a essere protagonisti nella trasformazione dell’offerta residenziale e in ambiziosi progetti di rigenerazione urbana.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B4FE5F2-648E-D46C-931B-FB1C5E209F58}"/>
              </a:ext>
            </a:extLst>
          </p:cNvPr>
          <p:cNvSpPr txBox="1"/>
          <p:nvPr/>
        </p:nvSpPr>
        <p:spPr>
          <a:xfrm>
            <a:off x="584200" y="478592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8AD9C2C-B136-16F2-0B0B-AAC056EDB907}"/>
              </a:ext>
            </a:extLst>
          </p:cNvPr>
          <p:cNvSpPr txBox="1"/>
          <p:nvPr/>
        </p:nvSpPr>
        <p:spPr>
          <a:xfrm>
            <a:off x="1696813" y="-20538113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94B9FA9-2830-17B2-53DB-7DDB7F69FFC7}"/>
              </a:ext>
            </a:extLst>
          </p:cNvPr>
          <p:cNvSpPr txBox="1"/>
          <p:nvPr/>
        </p:nvSpPr>
        <p:spPr>
          <a:xfrm>
            <a:off x="2887327" y="-24761763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B4EC09B-0E40-E75D-F816-78EFB8B62C3B}"/>
              </a:ext>
            </a:extLst>
          </p:cNvPr>
          <p:cNvSpPr txBox="1"/>
          <p:nvPr/>
        </p:nvSpPr>
        <p:spPr>
          <a:xfrm>
            <a:off x="4061224" y="-3730550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F0120AF-A5F6-7255-D00B-E3F308209EDF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6579C46-AD0C-0797-4C20-8D99637E356D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0E574557-7382-3882-D9A0-6B0707F798A3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FE8F2F85-C726-EA4A-FF1E-4E3D415068F8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625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94604-3A1A-A215-40DF-2E3963B5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65F67511-716A-3BB1-7CEE-B92937F97A48}"/>
              </a:ext>
            </a:extLst>
          </p:cNvPr>
          <p:cNvSpPr/>
          <p:nvPr/>
        </p:nvSpPr>
        <p:spPr>
          <a:xfrm>
            <a:off x="6388100" y="2413337"/>
            <a:ext cx="5295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Nasce Abitare Commercial</a:t>
            </a:r>
          </a:p>
          <a:p>
            <a:pPr lvl="0">
              <a:defRPr/>
            </a:pPr>
            <a:endParaRPr lang="it-IT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Tra il 2021 e il 2022 viene presentata Abitare Commercial, una realtà dedicata al settore del Commercial Real Estate italiano: uffici, negozi, capannoni e altri asset, in risposta alla crescita degli investimenti in questo segmento.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FE88854-D37F-E779-93EA-17A747CFB090}"/>
              </a:ext>
            </a:extLst>
          </p:cNvPr>
          <p:cNvSpPr txBox="1"/>
          <p:nvPr/>
        </p:nvSpPr>
        <p:spPr>
          <a:xfrm>
            <a:off x="584200" y="478592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49EABE1-133B-3A92-E2B6-6E504D8D6553}"/>
              </a:ext>
            </a:extLst>
          </p:cNvPr>
          <p:cNvSpPr txBox="1"/>
          <p:nvPr/>
        </p:nvSpPr>
        <p:spPr>
          <a:xfrm>
            <a:off x="1696813" y="-20538113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36EE9B1-5FD7-E4F8-F777-E286150BCA86}"/>
              </a:ext>
            </a:extLst>
          </p:cNvPr>
          <p:cNvSpPr txBox="1"/>
          <p:nvPr/>
        </p:nvSpPr>
        <p:spPr>
          <a:xfrm>
            <a:off x="2887327" y="-24761763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0649D14-35D8-E88B-E4B9-851A8CB4616C}"/>
              </a:ext>
            </a:extLst>
          </p:cNvPr>
          <p:cNvSpPr txBox="1"/>
          <p:nvPr/>
        </p:nvSpPr>
        <p:spPr>
          <a:xfrm>
            <a:off x="4061224" y="-5835122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B4528D9-F3A1-28C4-7F71-1B262AD50CE9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11D4407-8E17-F25D-98C0-77D31B39F99B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A3559E0C-5CB0-E32A-C20E-3DA0A8DAFD4D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371DA8B-FBED-07E3-FB8A-BFD7E4E1887A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694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2D3B6-6C98-2388-B01E-94F10E0DE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0A9D00A5-8CB8-A2DF-9F46-A374DA8C0AE0}"/>
              </a:ext>
            </a:extLst>
          </p:cNvPr>
          <p:cNvSpPr/>
          <p:nvPr/>
        </p:nvSpPr>
        <p:spPr>
          <a:xfrm>
            <a:off x="6388100" y="2690336"/>
            <a:ext cx="5295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Nasce </a:t>
            </a:r>
            <a:r>
              <a:rPr lang="it-IT" dirty="0" err="1">
                <a:solidFill>
                  <a:srgbClr val="C3162B"/>
                </a:solidFill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RiAbitare</a:t>
            </a: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 Co.</a:t>
            </a:r>
          </a:p>
          <a:p>
            <a:pPr lvl="0">
              <a:defRPr/>
            </a:pPr>
            <a:endParaRPr lang="it-IT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Viene costituita 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RiAbitare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Co. S.r.l., agenzia immobiliare con sede a Milano specializzata in mediazione e investimenti immobiliari.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9FD3B54-E633-423D-A57A-860D1851A067}"/>
              </a:ext>
            </a:extLst>
          </p:cNvPr>
          <p:cNvSpPr txBox="1"/>
          <p:nvPr/>
        </p:nvSpPr>
        <p:spPr>
          <a:xfrm>
            <a:off x="584200" y="478592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5CD5744-7351-7663-AF34-4AFED4D80D0E}"/>
              </a:ext>
            </a:extLst>
          </p:cNvPr>
          <p:cNvSpPr txBox="1"/>
          <p:nvPr/>
        </p:nvSpPr>
        <p:spPr>
          <a:xfrm>
            <a:off x="1696813" y="-20538113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EEA5F2A-BF6E-AAB3-5A8A-381BBB54BF38}"/>
              </a:ext>
            </a:extLst>
          </p:cNvPr>
          <p:cNvSpPr txBox="1"/>
          <p:nvPr/>
        </p:nvSpPr>
        <p:spPr>
          <a:xfrm>
            <a:off x="2887327" y="-24761763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3D75E2A-3902-738D-D5F3-64E661819157}"/>
              </a:ext>
            </a:extLst>
          </p:cNvPr>
          <p:cNvSpPr txBox="1"/>
          <p:nvPr/>
        </p:nvSpPr>
        <p:spPr>
          <a:xfrm>
            <a:off x="4061224" y="-7954208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E3BB8F5-1CAF-5678-EA37-2F13D55CEF7F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C3216BB-59F1-B572-B8C6-C4F4EC1CD0EB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CE6A8DDC-9C4A-962F-BD88-FF12CBEEE622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2B73E7EF-B735-EB49-A58B-19ED94BA6494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189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A678-1F08-135A-0142-87D59F5F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E531DED6-DBE0-301A-1B50-B0B44A9E0592}"/>
              </a:ext>
            </a:extLst>
          </p:cNvPr>
          <p:cNvSpPr/>
          <p:nvPr/>
        </p:nvSpPr>
        <p:spPr>
          <a:xfrm>
            <a:off x="6388100" y="1582340"/>
            <a:ext cx="5295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Tecnologia al servizio dell’esperienza</a:t>
            </a:r>
          </a:p>
          <a:p>
            <a:pPr lvl="0">
              <a:defRPr/>
            </a:pPr>
            <a:endParaRPr lang="it-IT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Nel 2023 intensifichiamo e formalizziamo l’uso di strumenti digitali avanzati. Introduciamo piattaforme di acquisto online che permettono al cliente di scegliere l’immobile, personalizzarlo con un configuratore digitale e formalizzare la proposta di acquisto online, con il calcolo immediato del costo finale. Affianchiamo a questo percorso anche tecnologie immersive, come la 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virtual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reality, esperienze in 3D e realtà aumentata, per offrire una customer 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experience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ancora più coinvolgente.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06CDBFB-F8E1-5D75-49BF-F4D605A0D139}"/>
              </a:ext>
            </a:extLst>
          </p:cNvPr>
          <p:cNvSpPr txBox="1"/>
          <p:nvPr/>
        </p:nvSpPr>
        <p:spPr>
          <a:xfrm>
            <a:off x="584200" y="478592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30C31A8-EF03-8D45-F099-AFA45BD81C0C}"/>
              </a:ext>
            </a:extLst>
          </p:cNvPr>
          <p:cNvSpPr txBox="1"/>
          <p:nvPr/>
        </p:nvSpPr>
        <p:spPr>
          <a:xfrm>
            <a:off x="1696813" y="-20538113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DC113E5-9A3B-BAC7-6522-D6ABE72D6511}"/>
              </a:ext>
            </a:extLst>
          </p:cNvPr>
          <p:cNvSpPr txBox="1"/>
          <p:nvPr/>
        </p:nvSpPr>
        <p:spPr>
          <a:xfrm>
            <a:off x="2887327" y="-24761763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34E779E-8A3A-9919-C50F-E1A852DD0C8B}"/>
              </a:ext>
            </a:extLst>
          </p:cNvPr>
          <p:cNvSpPr txBox="1"/>
          <p:nvPr/>
        </p:nvSpPr>
        <p:spPr>
          <a:xfrm>
            <a:off x="4061224" y="-10029751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8C2AC1F-9CB2-4457-B545-7AC7B0F25F7F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8FD9697-BF41-EEB7-8118-12AD3FF38970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76033861-2867-2554-59D2-3A46AB31B4BB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9D56993-28D5-E4E8-9CEB-6203E87DF9A1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907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E7618-0AA6-1448-EEA3-AB0829ED1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36394998-EDDB-FA3A-AC49-55906C10FD4D}"/>
              </a:ext>
            </a:extLst>
          </p:cNvPr>
          <p:cNvSpPr/>
          <p:nvPr/>
        </p:nvSpPr>
        <p:spPr>
          <a:xfrm>
            <a:off x="6388100" y="2690336"/>
            <a:ext cx="5295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L’espansione in nuove città</a:t>
            </a:r>
          </a:p>
          <a:p>
            <a:pPr lvl="0">
              <a:defRPr/>
            </a:pPr>
            <a:endParaRPr lang="it-IT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Co. porta la propria esperienza e competenza in altre città, come Roma, Bologna, Parma e La Thuile.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346A827-593D-0FA8-2E09-711B6884E8C9}"/>
              </a:ext>
            </a:extLst>
          </p:cNvPr>
          <p:cNvSpPr txBox="1"/>
          <p:nvPr/>
        </p:nvSpPr>
        <p:spPr>
          <a:xfrm>
            <a:off x="584200" y="478592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BFCE508-D567-00DE-11C3-3359C3DD160C}"/>
              </a:ext>
            </a:extLst>
          </p:cNvPr>
          <p:cNvSpPr txBox="1"/>
          <p:nvPr/>
        </p:nvSpPr>
        <p:spPr>
          <a:xfrm>
            <a:off x="1696813" y="-20538113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3031D7E-1319-71D8-A2AB-4C72611DF0C6}"/>
              </a:ext>
            </a:extLst>
          </p:cNvPr>
          <p:cNvSpPr txBox="1"/>
          <p:nvPr/>
        </p:nvSpPr>
        <p:spPr>
          <a:xfrm>
            <a:off x="2887327" y="-24761763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E2FEF4F-302E-FC00-0640-73DF8A962F33}"/>
              </a:ext>
            </a:extLst>
          </p:cNvPr>
          <p:cNvSpPr txBox="1"/>
          <p:nvPr/>
        </p:nvSpPr>
        <p:spPr>
          <a:xfrm>
            <a:off x="4061224" y="-12134322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547F88D-DD5A-FA37-8032-E119A92A7809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A06ED17-925A-869B-ACB9-6E4B7FF3CB42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2C69D64E-2AD0-5F61-A0AB-BEB8C15EC580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A742A3F-90B5-CA21-461F-893A3620EDFA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27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908DD-50B4-B1FF-3160-990F2349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6D1E0398-DF24-9341-FA7A-A778EA66DBE6}"/>
              </a:ext>
            </a:extLst>
          </p:cNvPr>
          <p:cNvSpPr/>
          <p:nvPr/>
        </p:nvSpPr>
        <p:spPr>
          <a:xfrm>
            <a:off x="6388100" y="1582340"/>
            <a:ext cx="5295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Piattaforma di Gruppo</a:t>
            </a:r>
          </a:p>
          <a:p>
            <a:pPr lvl="0">
              <a:defRPr/>
            </a:pPr>
            <a:endParaRPr lang="it-IT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Nel 2025 Abitare Co. realizza una piattaforma unica basata su Salesforce per tutte le società del gruppo, capace di integrare dati interni ed esterni, processi e automazioni in un unico sistema. Un’infrastruttura che consente di monitorare un patrimonio informativo di oltre 40.000 contatti costantemente aggiornati, mettere il cliente al centro, attivare servizi e opportunità trasversali e sviluppare analisi predittive utili a leggere l’andamento del mercato.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A719695-1EBB-2062-465E-1847C0C359A8}"/>
              </a:ext>
            </a:extLst>
          </p:cNvPr>
          <p:cNvSpPr txBox="1"/>
          <p:nvPr/>
        </p:nvSpPr>
        <p:spPr>
          <a:xfrm>
            <a:off x="584200" y="478592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05C26B2-8AF3-08BB-612D-F6F2504B0DE9}"/>
              </a:ext>
            </a:extLst>
          </p:cNvPr>
          <p:cNvSpPr txBox="1"/>
          <p:nvPr/>
        </p:nvSpPr>
        <p:spPr>
          <a:xfrm>
            <a:off x="1696813" y="-20538113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91EDB16-EAFE-60BF-7FC5-C883339C97E7}"/>
              </a:ext>
            </a:extLst>
          </p:cNvPr>
          <p:cNvSpPr txBox="1"/>
          <p:nvPr/>
        </p:nvSpPr>
        <p:spPr>
          <a:xfrm>
            <a:off x="2887327" y="-24761763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4C9CF4C-586B-875A-617C-4B79527B94B9}"/>
              </a:ext>
            </a:extLst>
          </p:cNvPr>
          <p:cNvSpPr txBox="1"/>
          <p:nvPr/>
        </p:nvSpPr>
        <p:spPr>
          <a:xfrm>
            <a:off x="4061224" y="-14258397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936C53D-845C-C29D-FDBD-B35FD72DCACC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A639F27-913F-DC96-6F66-2317062B4003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82B61A55-E90E-3651-3942-C7F197F32929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958EE79-802B-E4F3-6831-1B1DB22C6CD2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070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5A1C1-817B-5A0B-D11F-3D58BC24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8">
            <a:extLst>
              <a:ext uri="{FF2B5EF4-FFF2-40B4-BE49-F238E27FC236}">
                <a16:creationId xmlns:a16="http://schemas.microsoft.com/office/drawing/2014/main" id="{FC53F68C-8C40-683B-DD32-7CFFF6B3A14A}"/>
              </a:ext>
            </a:extLst>
          </p:cNvPr>
          <p:cNvSpPr/>
          <p:nvPr/>
        </p:nvSpPr>
        <p:spPr>
          <a:xfrm>
            <a:off x="6388100" y="1997839"/>
            <a:ext cx="52959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C3162B"/>
                </a:solidFill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Crescente integrazione con Abitare Agency</a:t>
            </a:r>
          </a:p>
          <a:p>
            <a:pPr lvl="0">
              <a:defRPr/>
            </a:pPr>
            <a:endParaRPr lang="it-IT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Co. apre una nuova fase del proprio percorso di crescita con un accordo societario siglato con Abitare Agency. Un passaggio strategico che rafforza il posizionamento dell’azienda, amplia competenze e capacità operative e consolida una collaborazione più integrata tra le due realtà, creando nuove sinergie tra attività e team.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11B00A4-4BB1-F42E-A913-37F8A17466DE}"/>
              </a:ext>
            </a:extLst>
          </p:cNvPr>
          <p:cNvSpPr txBox="1"/>
          <p:nvPr/>
        </p:nvSpPr>
        <p:spPr>
          <a:xfrm>
            <a:off x="584200" y="478592"/>
            <a:ext cx="1369786" cy="2132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A34B93A-CA3E-80B2-7954-2124A55FA18A}"/>
              </a:ext>
            </a:extLst>
          </p:cNvPr>
          <p:cNvSpPr txBox="1"/>
          <p:nvPr/>
        </p:nvSpPr>
        <p:spPr>
          <a:xfrm>
            <a:off x="1696813" y="-20538113"/>
            <a:ext cx="1369786" cy="2769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58F66D6-85B5-8558-B45E-18DF79051649}"/>
              </a:ext>
            </a:extLst>
          </p:cNvPr>
          <p:cNvSpPr txBox="1"/>
          <p:nvPr/>
        </p:nvSpPr>
        <p:spPr>
          <a:xfrm>
            <a:off x="2887327" y="-24761763"/>
            <a:ext cx="1369786" cy="361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C90252C-6CCF-5457-C791-03D691373D61}"/>
              </a:ext>
            </a:extLst>
          </p:cNvPr>
          <p:cNvSpPr txBox="1"/>
          <p:nvPr/>
        </p:nvSpPr>
        <p:spPr>
          <a:xfrm>
            <a:off x="4061224" y="-16363422"/>
            <a:ext cx="1369786" cy="5106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1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3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4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5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7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8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9</a:t>
            </a:r>
          </a:p>
          <a:p>
            <a:pPr algn="ctr"/>
            <a:r>
              <a:rPr lang="it-IT" sz="13800" dirty="0">
                <a:solidFill>
                  <a:srgbClr val="C3162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AA09BFB-546B-D30D-EB94-AE5A5A92501E}"/>
              </a:ext>
            </a:extLst>
          </p:cNvPr>
          <p:cNvSpPr/>
          <p:nvPr/>
        </p:nvSpPr>
        <p:spPr>
          <a:xfrm>
            <a:off x="0" y="-7698658"/>
            <a:ext cx="6388100" cy="10327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E274FD5-7D41-B504-E36D-EE5D92CFF2F0}"/>
              </a:ext>
            </a:extLst>
          </p:cNvPr>
          <p:cNvSpPr/>
          <p:nvPr/>
        </p:nvSpPr>
        <p:spPr>
          <a:xfrm>
            <a:off x="0" y="4724399"/>
            <a:ext cx="6388100" cy="8932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A93312F4-01CC-016C-1C41-2D533C9C12A3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percorso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fatto di persone, luoghi e visione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E3B616A7-F325-8F22-B412-58F9224A5889}"/>
              </a:ext>
            </a:extLst>
          </p:cNvPr>
          <p:cNvSpPr txBox="1"/>
          <p:nvPr/>
        </p:nvSpPr>
        <p:spPr>
          <a:xfrm>
            <a:off x="237563" y="6553408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055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E8528-B58E-EA3B-0EE4-72ABCE09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890A029E-99FE-9A0C-5E10-A1504A83D128}"/>
              </a:ext>
            </a:extLst>
          </p:cNvPr>
          <p:cNvSpPr txBox="1">
            <a:spLocks/>
          </p:cNvSpPr>
          <p:nvPr/>
        </p:nvSpPr>
        <p:spPr>
          <a:xfrm>
            <a:off x="2482645" y="2618537"/>
            <a:ext cx="7226710" cy="1620926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Dati che raccontano </a:t>
            </a:r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  <a:cs typeface="PP Pangaia Italic" pitchFamily="50" charset="0"/>
              </a:rPr>
              <a:t>la vostra </a:t>
            </a:r>
            <a:r>
              <a:rPr kumimoji="0" lang="it-IT" sz="60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fiducia</a:t>
            </a:r>
            <a:endParaRPr kumimoji="0" lang="it-IT" sz="6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D401823A-FEB4-2A77-2867-1F0755E112B0}"/>
              </a:ext>
            </a:extLst>
          </p:cNvPr>
          <p:cNvSpPr/>
          <p:nvPr/>
        </p:nvSpPr>
        <p:spPr>
          <a:xfrm>
            <a:off x="0" y="2038683"/>
            <a:ext cx="1219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Circular Std Book" panose="020B0604020101020102" pitchFamily="34" charset="0"/>
                <a:ea typeface="+mn-ea"/>
                <a:cs typeface="Circular Std Book" panose="020B0604020101020102" pitchFamily="34" charset="0"/>
              </a:rPr>
              <a:t>AZIENDA IN NUMERI</a:t>
            </a:r>
          </a:p>
        </p:txBody>
      </p:sp>
    </p:spTree>
    <p:extLst>
      <p:ext uri="{BB962C8B-B14F-4D97-AF65-F5344CB8AC3E}">
        <p14:creationId xmlns:p14="http://schemas.microsoft.com/office/powerpoint/2010/main" val="165281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2788E-331F-40B8-D7A4-17EC3F43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2">
            <a:extLst>
              <a:ext uri="{FF2B5EF4-FFF2-40B4-BE49-F238E27FC236}">
                <a16:creationId xmlns:a16="http://schemas.microsoft.com/office/drawing/2014/main" id="{9F5227B7-4694-44F2-E72E-0B03C92C4E56}"/>
              </a:ext>
            </a:extLst>
          </p:cNvPr>
          <p:cNvSpPr txBox="1">
            <a:spLocks/>
          </p:cNvSpPr>
          <p:nvPr/>
        </p:nvSpPr>
        <p:spPr>
          <a:xfrm>
            <a:off x="0" y="232527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Dati che raccontano 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  <a:cs typeface="PP Pangaia Italic" pitchFamily="50" charset="0"/>
              </a:rPr>
              <a:t>la vostra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fiducia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  <a:p>
            <a:pPr algn="ctr"/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53DC031B-8947-3B79-2131-564D5A884A94}"/>
              </a:ext>
            </a:extLst>
          </p:cNvPr>
          <p:cNvGrpSpPr/>
          <p:nvPr/>
        </p:nvGrpSpPr>
        <p:grpSpPr>
          <a:xfrm>
            <a:off x="196850" y="1635125"/>
            <a:ext cx="3536950" cy="3536950"/>
            <a:chOff x="196850" y="1635125"/>
            <a:chExt cx="3536950" cy="3536950"/>
          </a:xfrm>
        </p:grpSpPr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901AA67F-1859-B63B-1BC6-DD4D16693E78}"/>
                </a:ext>
              </a:extLst>
            </p:cNvPr>
            <p:cNvSpPr/>
            <p:nvPr/>
          </p:nvSpPr>
          <p:spPr>
            <a:xfrm>
              <a:off x="196850" y="1635125"/>
              <a:ext cx="3536950" cy="3536950"/>
            </a:xfrm>
            <a:prstGeom prst="ellipse">
              <a:avLst/>
            </a:prstGeom>
            <a:solidFill>
              <a:srgbClr val="460E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Rectangle 108">
              <a:extLst>
                <a:ext uri="{FF2B5EF4-FFF2-40B4-BE49-F238E27FC236}">
                  <a16:creationId xmlns:a16="http://schemas.microsoft.com/office/drawing/2014/main" id="{5BC41D49-ED6C-1189-51B6-A69E35DD5096}"/>
                </a:ext>
              </a:extLst>
            </p:cNvPr>
            <p:cNvSpPr/>
            <p:nvPr/>
          </p:nvSpPr>
          <p:spPr>
            <a:xfrm>
              <a:off x="861986" y="3647043"/>
              <a:ext cx="220667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it-IT" dirty="0">
                  <a:solidFill>
                    <a:srgbClr val="EAA0A7"/>
                  </a:solidFill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professionisti</a:t>
              </a:r>
            </a:p>
          </p:txBody>
        </p:sp>
        <p:sp>
          <p:nvSpPr>
            <p:cNvPr id="14" name="Sottotitolo 2">
              <a:extLst>
                <a:ext uri="{FF2B5EF4-FFF2-40B4-BE49-F238E27FC236}">
                  <a16:creationId xmlns:a16="http://schemas.microsoft.com/office/drawing/2014/main" id="{82076874-6F6A-455A-157F-0787EFD9B250}"/>
                </a:ext>
              </a:extLst>
            </p:cNvPr>
            <p:cNvSpPr txBox="1">
              <a:spLocks/>
            </p:cNvSpPr>
            <p:nvPr/>
          </p:nvSpPr>
          <p:spPr>
            <a:xfrm>
              <a:off x="1100415" y="2598176"/>
              <a:ext cx="1729819" cy="1077163"/>
            </a:xfrm>
            <a:prstGeom prst="rect">
              <a:avLst/>
            </a:prstGeom>
          </p:spPr>
          <p:txBody>
            <a:bodyPr/>
            <a:lstStyle>
              <a:lvl1pPr marL="0" indent="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224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8205" indent="-14699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5000"/>
                <a:buFont typeface="Arial" panose="020B0604020202020204" pitchFamily="34" charset="0"/>
                <a:buChar char="•"/>
                <a:defRPr sz="1224" baseline="0">
                  <a:solidFill>
                    <a:schemeClr val="tx1"/>
                  </a:solidFill>
                  <a:latin typeface="+mn-lt"/>
                </a:defRPr>
              </a:lvl2pPr>
              <a:lvl3pPr marL="349861" indent="-200441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0000"/>
                <a:buFont typeface="Arial" charset="0"/>
                <a:buChar char="–"/>
                <a:defRPr sz="1224" baseline="0">
                  <a:solidFill>
                    <a:schemeClr val="tx1"/>
                  </a:solidFill>
                  <a:latin typeface="+mn-lt"/>
                </a:defRPr>
              </a:lvl3pPr>
              <a:lvl4pPr marL="470126" indent="-11905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0000"/>
                <a:buFont typeface="Arial" charset="0"/>
                <a:buChar char="▫"/>
                <a:defRPr sz="1224" baseline="0">
                  <a:solidFill>
                    <a:schemeClr val="tx1"/>
                  </a:solidFill>
                  <a:latin typeface="+mn-lt"/>
                </a:defRPr>
              </a:lvl4pPr>
              <a:lvl5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5pPr>
              <a:lvl6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6pPr>
              <a:lvl7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7pPr>
              <a:lvl8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8pPr>
              <a:lvl9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E2841"/>
                </a:buClr>
              </a:pPr>
              <a:r>
                <a:rPr lang="it-IT" sz="7200" b="1" dirty="0">
                  <a:solidFill>
                    <a:srgbClr val="EAA0A7"/>
                  </a:solidFill>
                  <a:latin typeface="PP Pangaia SemiBold" pitchFamily="2" charset="0"/>
                </a:rPr>
                <a:t>120</a:t>
              </a:r>
              <a:endParaRPr kumimoji="0" lang="it-IT" sz="7200" b="0" i="0" u="none" strike="noStrike" kern="1200" cap="none" spc="0" normalizeH="0" baseline="0" noProof="0" dirty="0">
                <a:ln>
                  <a:noFill/>
                </a:ln>
                <a:solidFill>
                  <a:srgbClr val="EAA0A7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endParaRPr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0CD5F061-94E8-CA36-1769-5B0CD95E7C23}"/>
              </a:ext>
            </a:extLst>
          </p:cNvPr>
          <p:cNvGrpSpPr/>
          <p:nvPr/>
        </p:nvGrpSpPr>
        <p:grpSpPr>
          <a:xfrm>
            <a:off x="3376613" y="3770325"/>
            <a:ext cx="2692876" cy="2692876"/>
            <a:chOff x="3376613" y="3770325"/>
            <a:chExt cx="2692876" cy="2692876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E8690809-7058-F008-8946-D36C016C47FA}"/>
                </a:ext>
              </a:extLst>
            </p:cNvPr>
            <p:cNvSpPr/>
            <p:nvPr/>
          </p:nvSpPr>
          <p:spPr>
            <a:xfrm>
              <a:off x="3376613" y="3770325"/>
              <a:ext cx="2692876" cy="2692876"/>
            </a:xfrm>
            <a:prstGeom prst="ellipse">
              <a:avLst/>
            </a:prstGeom>
            <a:solidFill>
              <a:srgbClr val="EAA0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Rectangle 108">
              <a:extLst>
                <a:ext uri="{FF2B5EF4-FFF2-40B4-BE49-F238E27FC236}">
                  <a16:creationId xmlns:a16="http://schemas.microsoft.com/office/drawing/2014/main" id="{86EAAB3E-49AD-B1D2-77CC-EDDE4A76F0B6}"/>
                </a:ext>
              </a:extLst>
            </p:cNvPr>
            <p:cNvSpPr/>
            <p:nvPr/>
          </p:nvSpPr>
          <p:spPr>
            <a:xfrm>
              <a:off x="3376613" y="5176069"/>
              <a:ext cx="269287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it-IT" dirty="0">
                  <a:solidFill>
                    <a:srgbClr val="C3162B"/>
                  </a:solidFill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Brand per il mercato immobiliare</a:t>
              </a:r>
            </a:p>
          </p:txBody>
        </p:sp>
        <p:sp>
          <p:nvSpPr>
            <p:cNvPr id="16" name="Sottotitolo 2">
              <a:extLst>
                <a:ext uri="{FF2B5EF4-FFF2-40B4-BE49-F238E27FC236}">
                  <a16:creationId xmlns:a16="http://schemas.microsoft.com/office/drawing/2014/main" id="{5165B109-253A-D02E-B582-3FFA03577845}"/>
                </a:ext>
              </a:extLst>
            </p:cNvPr>
            <p:cNvSpPr txBox="1">
              <a:spLocks/>
            </p:cNvSpPr>
            <p:nvPr/>
          </p:nvSpPr>
          <p:spPr>
            <a:xfrm>
              <a:off x="4096571" y="4104437"/>
              <a:ext cx="1252960" cy="1077163"/>
            </a:xfrm>
            <a:prstGeom prst="rect">
              <a:avLst/>
            </a:prstGeom>
          </p:spPr>
          <p:txBody>
            <a:bodyPr/>
            <a:lstStyle>
              <a:lvl1pPr marL="0" indent="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224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8205" indent="-14699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5000"/>
                <a:buFont typeface="Arial" panose="020B0604020202020204" pitchFamily="34" charset="0"/>
                <a:buChar char="•"/>
                <a:defRPr sz="1224" baseline="0">
                  <a:solidFill>
                    <a:schemeClr val="tx1"/>
                  </a:solidFill>
                  <a:latin typeface="+mn-lt"/>
                </a:defRPr>
              </a:lvl2pPr>
              <a:lvl3pPr marL="349861" indent="-200441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0000"/>
                <a:buFont typeface="Arial" charset="0"/>
                <a:buChar char="–"/>
                <a:defRPr sz="1224" baseline="0">
                  <a:solidFill>
                    <a:schemeClr val="tx1"/>
                  </a:solidFill>
                  <a:latin typeface="+mn-lt"/>
                </a:defRPr>
              </a:lvl3pPr>
              <a:lvl4pPr marL="470126" indent="-11905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0000"/>
                <a:buFont typeface="Arial" charset="0"/>
                <a:buChar char="▫"/>
                <a:defRPr sz="1224" baseline="0">
                  <a:solidFill>
                    <a:schemeClr val="tx1"/>
                  </a:solidFill>
                  <a:latin typeface="+mn-lt"/>
                </a:defRPr>
              </a:lvl4pPr>
              <a:lvl5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5pPr>
              <a:lvl6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6pPr>
              <a:lvl7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7pPr>
              <a:lvl8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8pPr>
              <a:lvl9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E2841"/>
                </a:buClr>
              </a:pPr>
              <a:r>
                <a:rPr lang="it-IT" sz="7200" b="1" dirty="0">
                  <a:solidFill>
                    <a:srgbClr val="C3162B"/>
                  </a:solidFill>
                  <a:latin typeface="PP Pangaia SemiBold" pitchFamily="2" charset="0"/>
                </a:rPr>
                <a:t>5</a:t>
              </a:r>
              <a:endParaRPr kumimoji="0" lang="it-IT" sz="7200" b="0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endParaRP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222FA059-5A9A-95B7-1ACC-11C69FD0F896}"/>
              </a:ext>
            </a:extLst>
          </p:cNvPr>
          <p:cNvGrpSpPr/>
          <p:nvPr/>
        </p:nvGrpSpPr>
        <p:grpSpPr>
          <a:xfrm>
            <a:off x="4784725" y="1132927"/>
            <a:ext cx="2930499" cy="2930499"/>
            <a:chOff x="4784725" y="1132927"/>
            <a:chExt cx="2930499" cy="2930499"/>
          </a:xfrm>
        </p:grpSpPr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221FF837-B9E0-A4EE-F611-4CB145935D55}"/>
                </a:ext>
              </a:extLst>
            </p:cNvPr>
            <p:cNvSpPr/>
            <p:nvPr/>
          </p:nvSpPr>
          <p:spPr>
            <a:xfrm>
              <a:off x="4784725" y="1132927"/>
              <a:ext cx="2930499" cy="2930499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Rectangle 108">
              <a:extLst>
                <a:ext uri="{FF2B5EF4-FFF2-40B4-BE49-F238E27FC236}">
                  <a16:creationId xmlns:a16="http://schemas.microsoft.com/office/drawing/2014/main" id="{582AF797-6D05-A00A-9194-25E09E1A4FB0}"/>
                </a:ext>
              </a:extLst>
            </p:cNvPr>
            <p:cNvSpPr/>
            <p:nvPr/>
          </p:nvSpPr>
          <p:spPr>
            <a:xfrm>
              <a:off x="4903537" y="2612903"/>
              <a:ext cx="269287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it-IT" dirty="0">
                  <a:solidFill>
                    <a:schemeClr val="bg1"/>
                  </a:solidFill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Grandi città italiane in cui siamo presenti</a:t>
              </a:r>
            </a:p>
          </p:txBody>
        </p:sp>
        <p:sp>
          <p:nvSpPr>
            <p:cNvPr id="18" name="Sottotitolo 2">
              <a:extLst>
                <a:ext uri="{FF2B5EF4-FFF2-40B4-BE49-F238E27FC236}">
                  <a16:creationId xmlns:a16="http://schemas.microsoft.com/office/drawing/2014/main" id="{AA91D303-B6AF-DD58-8A48-6D93C29E8E9C}"/>
                </a:ext>
              </a:extLst>
            </p:cNvPr>
            <p:cNvSpPr txBox="1">
              <a:spLocks/>
            </p:cNvSpPr>
            <p:nvPr/>
          </p:nvSpPr>
          <p:spPr>
            <a:xfrm>
              <a:off x="5623495" y="1541271"/>
              <a:ext cx="1252960" cy="1077163"/>
            </a:xfrm>
            <a:prstGeom prst="rect">
              <a:avLst/>
            </a:prstGeom>
          </p:spPr>
          <p:txBody>
            <a:bodyPr/>
            <a:lstStyle>
              <a:lvl1pPr marL="0" indent="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224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8205" indent="-14699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5000"/>
                <a:buFont typeface="Arial" panose="020B0604020202020204" pitchFamily="34" charset="0"/>
                <a:buChar char="•"/>
                <a:defRPr sz="1224" baseline="0">
                  <a:solidFill>
                    <a:schemeClr val="tx1"/>
                  </a:solidFill>
                  <a:latin typeface="+mn-lt"/>
                </a:defRPr>
              </a:lvl2pPr>
              <a:lvl3pPr marL="349861" indent="-200441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0000"/>
                <a:buFont typeface="Arial" charset="0"/>
                <a:buChar char="–"/>
                <a:defRPr sz="1224" baseline="0">
                  <a:solidFill>
                    <a:schemeClr val="tx1"/>
                  </a:solidFill>
                  <a:latin typeface="+mn-lt"/>
                </a:defRPr>
              </a:lvl3pPr>
              <a:lvl4pPr marL="470126" indent="-11905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0000"/>
                <a:buFont typeface="Arial" charset="0"/>
                <a:buChar char="▫"/>
                <a:defRPr sz="1224" baseline="0">
                  <a:solidFill>
                    <a:schemeClr val="tx1"/>
                  </a:solidFill>
                  <a:latin typeface="+mn-lt"/>
                </a:defRPr>
              </a:lvl4pPr>
              <a:lvl5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5pPr>
              <a:lvl6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6pPr>
              <a:lvl7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7pPr>
              <a:lvl8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8pPr>
              <a:lvl9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E2841"/>
                </a:buClr>
              </a:pPr>
              <a:r>
                <a:rPr lang="it-IT" sz="7200" b="1" dirty="0">
                  <a:solidFill>
                    <a:schemeClr val="bg1"/>
                  </a:solidFill>
                  <a:latin typeface="PP Pangaia SemiBold" pitchFamily="2" charset="0"/>
                </a:rPr>
                <a:t>7</a:t>
              </a:r>
              <a:endParaRPr kumimoji="0" lang="it-IT" sz="7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endParaRPr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9EDF9663-E968-0468-E7E1-B34CA6599EC6}"/>
              </a:ext>
            </a:extLst>
          </p:cNvPr>
          <p:cNvGrpSpPr/>
          <p:nvPr/>
        </p:nvGrpSpPr>
        <p:grpSpPr>
          <a:xfrm>
            <a:off x="7715224" y="1625600"/>
            <a:ext cx="4289451" cy="4289451"/>
            <a:chOff x="7715224" y="1625600"/>
            <a:chExt cx="4289451" cy="4289451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404086AB-606C-9706-DDBE-3C911581ECF1}"/>
                </a:ext>
              </a:extLst>
            </p:cNvPr>
            <p:cNvSpPr/>
            <p:nvPr/>
          </p:nvSpPr>
          <p:spPr>
            <a:xfrm>
              <a:off x="7715224" y="1625600"/>
              <a:ext cx="4289451" cy="4289451"/>
            </a:xfrm>
            <a:prstGeom prst="ellipse">
              <a:avLst/>
            </a:prstGeom>
            <a:solidFill>
              <a:srgbClr val="EAE3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Rectangle 108">
              <a:extLst>
                <a:ext uri="{FF2B5EF4-FFF2-40B4-BE49-F238E27FC236}">
                  <a16:creationId xmlns:a16="http://schemas.microsoft.com/office/drawing/2014/main" id="{BAC2D8EA-7DF8-7B92-6418-0985176F8C1C}"/>
                </a:ext>
              </a:extLst>
            </p:cNvPr>
            <p:cNvSpPr/>
            <p:nvPr/>
          </p:nvSpPr>
          <p:spPr>
            <a:xfrm>
              <a:off x="7715224" y="3818473"/>
              <a:ext cx="428945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it-IT" dirty="0">
                  <a:solidFill>
                    <a:srgbClr val="460E1D"/>
                  </a:solidFill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Famiglie hanno comprato e</a:t>
              </a:r>
              <a:br>
                <a:rPr lang="it-IT" dirty="0">
                  <a:solidFill>
                    <a:srgbClr val="460E1D"/>
                  </a:solidFill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</a:br>
              <a:r>
                <a:rPr lang="it-IT" dirty="0">
                  <a:solidFill>
                    <a:srgbClr val="460E1D"/>
                  </a:solidFill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personalizzato casa con noi</a:t>
              </a:r>
            </a:p>
          </p:txBody>
        </p:sp>
        <p:sp>
          <p:nvSpPr>
            <p:cNvPr id="20" name="Sottotitolo 2">
              <a:extLst>
                <a:ext uri="{FF2B5EF4-FFF2-40B4-BE49-F238E27FC236}">
                  <a16:creationId xmlns:a16="http://schemas.microsoft.com/office/drawing/2014/main" id="{609E4451-729F-064D-72A6-B99C6C9F2B07}"/>
                </a:ext>
              </a:extLst>
            </p:cNvPr>
            <p:cNvSpPr txBox="1">
              <a:spLocks/>
            </p:cNvSpPr>
            <p:nvPr/>
          </p:nvSpPr>
          <p:spPr>
            <a:xfrm>
              <a:off x="7715224" y="2769606"/>
              <a:ext cx="4289451" cy="1077163"/>
            </a:xfrm>
            <a:prstGeom prst="rect">
              <a:avLst/>
            </a:prstGeom>
          </p:spPr>
          <p:txBody>
            <a:bodyPr/>
            <a:lstStyle>
              <a:lvl1pPr marL="0" indent="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224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8205" indent="-14699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5000"/>
                <a:buFont typeface="Arial" panose="020B0604020202020204" pitchFamily="34" charset="0"/>
                <a:buChar char="•"/>
                <a:defRPr sz="1224" baseline="0">
                  <a:solidFill>
                    <a:schemeClr val="tx1"/>
                  </a:solidFill>
                  <a:latin typeface="+mn-lt"/>
                </a:defRPr>
              </a:lvl2pPr>
              <a:lvl3pPr marL="349861" indent="-200441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0000"/>
                <a:buFont typeface="Arial" charset="0"/>
                <a:buChar char="–"/>
                <a:defRPr sz="1224" baseline="0">
                  <a:solidFill>
                    <a:schemeClr val="tx1"/>
                  </a:solidFill>
                  <a:latin typeface="+mn-lt"/>
                </a:defRPr>
              </a:lvl3pPr>
              <a:lvl4pPr marL="470126" indent="-119050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120000"/>
                <a:buFont typeface="Arial" charset="0"/>
                <a:buChar char="▫"/>
                <a:defRPr sz="1224" baseline="0">
                  <a:solidFill>
                    <a:schemeClr val="tx1"/>
                  </a:solidFill>
                  <a:latin typeface="+mn-lt"/>
                </a:defRPr>
              </a:lvl4pPr>
              <a:lvl5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7C7C7C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5pPr>
              <a:lvl6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6pPr>
              <a:lvl7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7pPr>
              <a:lvl8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8pPr>
              <a:lvl9pPr marL="573772" indent="-99614" algn="l" defTabSz="685145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224" baseline="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E2841"/>
                </a:buClr>
              </a:pPr>
              <a:r>
                <a:rPr lang="it-IT" sz="7200" b="1" dirty="0">
                  <a:solidFill>
                    <a:srgbClr val="460E1D"/>
                  </a:solidFill>
                  <a:latin typeface="PP Pangaia SemiBold" pitchFamily="2" charset="0"/>
                </a:rPr>
                <a:t>9.700</a:t>
              </a:r>
              <a:endParaRPr kumimoji="0" lang="it-IT" sz="72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918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619B-C467-59E5-F2C3-333DF377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Elemento grafico 92">
            <a:extLst>
              <a:ext uri="{FF2B5EF4-FFF2-40B4-BE49-F238E27FC236}">
                <a16:creationId xmlns:a16="http://schemas.microsoft.com/office/drawing/2014/main" id="{08317B72-60D7-2F76-1D27-6294E821FA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2082" y="1479024"/>
            <a:ext cx="3841286" cy="4652658"/>
          </a:xfrm>
          <a:prstGeom prst="rect">
            <a:avLst/>
          </a:prstGeom>
        </p:spPr>
      </p:pic>
      <p:sp>
        <p:nvSpPr>
          <p:cNvPr id="94" name="Ovale 93">
            <a:extLst>
              <a:ext uri="{FF2B5EF4-FFF2-40B4-BE49-F238E27FC236}">
                <a16:creationId xmlns:a16="http://schemas.microsoft.com/office/drawing/2014/main" id="{C68B9269-2A9C-FC7C-E7AE-167F14D13870}"/>
              </a:ext>
            </a:extLst>
          </p:cNvPr>
          <p:cNvSpPr/>
          <p:nvPr/>
        </p:nvSpPr>
        <p:spPr>
          <a:xfrm>
            <a:off x="2112403" y="2267447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5" name="Ovale 94">
            <a:extLst>
              <a:ext uri="{FF2B5EF4-FFF2-40B4-BE49-F238E27FC236}">
                <a16:creationId xmlns:a16="http://schemas.microsoft.com/office/drawing/2014/main" id="{0D67F48A-20DB-EAD2-A6A4-10E8A831B697}"/>
              </a:ext>
            </a:extLst>
          </p:cNvPr>
          <p:cNvSpPr/>
          <p:nvPr/>
        </p:nvSpPr>
        <p:spPr>
          <a:xfrm>
            <a:off x="2112403" y="2267447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6" name="Ovale 95">
            <a:extLst>
              <a:ext uri="{FF2B5EF4-FFF2-40B4-BE49-F238E27FC236}">
                <a16:creationId xmlns:a16="http://schemas.microsoft.com/office/drawing/2014/main" id="{72E50C83-8A44-F764-6C64-DDABD7260A53}"/>
              </a:ext>
            </a:extLst>
          </p:cNvPr>
          <p:cNvSpPr/>
          <p:nvPr/>
        </p:nvSpPr>
        <p:spPr>
          <a:xfrm>
            <a:off x="2112403" y="2267447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89F3162-18F3-B21E-6E96-6D3A2CDF0E30}"/>
              </a:ext>
            </a:extLst>
          </p:cNvPr>
          <p:cNvSpPr/>
          <p:nvPr/>
        </p:nvSpPr>
        <p:spPr>
          <a:xfrm>
            <a:off x="2112403" y="2267447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3E57538B-76EB-32B1-F7EA-BF9B75E44D34}"/>
              </a:ext>
            </a:extLst>
          </p:cNvPr>
          <p:cNvSpPr txBox="1"/>
          <p:nvPr/>
        </p:nvSpPr>
        <p:spPr>
          <a:xfrm>
            <a:off x="1374855" y="2190450"/>
            <a:ext cx="809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Milano</a:t>
            </a:r>
          </a:p>
        </p:txBody>
      </p:sp>
      <p:sp>
        <p:nvSpPr>
          <p:cNvPr id="113" name="Sottotitolo 2">
            <a:extLst>
              <a:ext uri="{FF2B5EF4-FFF2-40B4-BE49-F238E27FC236}">
                <a16:creationId xmlns:a16="http://schemas.microsoft.com/office/drawing/2014/main" id="{436EC655-49A8-30C3-930E-C74FE1D7FD2E}"/>
              </a:ext>
            </a:extLst>
          </p:cNvPr>
          <p:cNvSpPr txBox="1">
            <a:spLocks/>
          </p:cNvSpPr>
          <p:nvPr/>
        </p:nvSpPr>
        <p:spPr>
          <a:xfrm>
            <a:off x="-1" y="283091"/>
            <a:ext cx="6096001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PP Pangaia Italic" pitchFamily="50" charset="0"/>
              </a:rPr>
              <a:t>Locations</a:t>
            </a:r>
            <a:endParaRPr kumimoji="0" lang="it-IT" sz="4800" b="1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D3B5C8C4-52FC-76B2-2CD8-19D88B01977D}"/>
              </a:ext>
            </a:extLst>
          </p:cNvPr>
          <p:cNvSpPr/>
          <p:nvPr/>
        </p:nvSpPr>
        <p:spPr>
          <a:xfrm>
            <a:off x="2112403" y="2267446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000B0825-7C31-D782-A5EE-BC43A7858B21}"/>
              </a:ext>
            </a:extLst>
          </p:cNvPr>
          <p:cNvGrpSpPr/>
          <p:nvPr/>
        </p:nvGrpSpPr>
        <p:grpSpPr>
          <a:xfrm>
            <a:off x="6096000" y="323185"/>
            <a:ext cx="5840914" cy="5806961"/>
            <a:chOff x="6690383" y="872119"/>
            <a:chExt cx="4681313" cy="5433890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71F52379-E56B-0A81-2234-5F7CFF7D00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38479" y="872163"/>
              <a:ext cx="1479497" cy="3463927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C1B44B8F-E373-AAE1-26AB-0E4F626B6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90384" y="4398615"/>
              <a:ext cx="3127592" cy="1907394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ECF48A73-9380-2B65-C69D-72E979FBE1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90383" y="872119"/>
              <a:ext cx="1591753" cy="1693281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779564A0-C8DF-C915-CA33-B8CE0FA055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92199" y="872119"/>
              <a:ext cx="1479497" cy="1693282"/>
            </a:xfrm>
            <a:prstGeom prst="rect">
              <a:avLst/>
            </a:prstGeom>
          </p:spPr>
        </p:pic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A7C2481A-BB88-B44B-9E9F-AE10CFF4D9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90383" y="2627925"/>
              <a:ext cx="1591753" cy="1698887"/>
            </a:xfrm>
            <a:prstGeom prst="rect">
              <a:avLst/>
            </a:prstGeom>
          </p:spPr>
        </p:pic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92E63A18-84C9-0D26-1495-72C51945C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92198" y="2627925"/>
              <a:ext cx="1479498" cy="36780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367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C39C-2320-3F1A-7DC8-A5101F27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E95F33AD-DCAD-FD28-1F59-0E0A03E6A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0257" y="1479024"/>
            <a:ext cx="3841286" cy="4652658"/>
          </a:xfrm>
          <a:prstGeom prst="rect">
            <a:avLst/>
          </a:prstGeom>
        </p:spPr>
      </p:pic>
      <p:sp>
        <p:nvSpPr>
          <p:cNvPr id="24" name="Ovale 23">
            <a:extLst>
              <a:ext uri="{FF2B5EF4-FFF2-40B4-BE49-F238E27FC236}">
                <a16:creationId xmlns:a16="http://schemas.microsoft.com/office/drawing/2014/main" id="{ECB8C6C9-F6DD-5D7C-4850-F2298775D075}"/>
              </a:ext>
            </a:extLst>
          </p:cNvPr>
          <p:cNvSpPr/>
          <p:nvPr/>
        </p:nvSpPr>
        <p:spPr>
          <a:xfrm>
            <a:off x="2904365" y="2032753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B7868822-3B68-47A3-4F20-54832F3B7D7D}"/>
              </a:ext>
            </a:extLst>
          </p:cNvPr>
          <p:cNvSpPr/>
          <p:nvPr/>
        </p:nvSpPr>
        <p:spPr>
          <a:xfrm>
            <a:off x="3710900" y="3805353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28AD41A4-A190-9CC6-CE78-849263BEF702}"/>
              </a:ext>
            </a:extLst>
          </p:cNvPr>
          <p:cNvSpPr/>
          <p:nvPr/>
        </p:nvSpPr>
        <p:spPr>
          <a:xfrm>
            <a:off x="3348950" y="2538528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bject 28">
            <a:extLst>
              <a:ext uri="{FF2B5EF4-FFF2-40B4-BE49-F238E27FC236}">
                <a16:creationId xmlns:a16="http://schemas.microsoft.com/office/drawing/2014/main" id="{1DD9772F-E8D6-1490-E9BA-C2A2D80BE081}"/>
              </a:ext>
            </a:extLst>
          </p:cNvPr>
          <p:cNvSpPr txBox="1"/>
          <p:nvPr/>
        </p:nvSpPr>
        <p:spPr>
          <a:xfrm>
            <a:off x="4311013" y="1989795"/>
            <a:ext cx="92096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Bergamo</a:t>
            </a:r>
            <a:endParaRPr kumimoji="0" lang="en-US" sz="1100" i="0" u="none" strike="noStrike" kern="1200" cap="none" spc="-5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rcular Std Medium" panose="020B0604020101010102" pitchFamily="34" charset="0"/>
              <a:ea typeface="Circular Std Light" panose="020B040402010102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12" name="object 28">
            <a:extLst>
              <a:ext uri="{FF2B5EF4-FFF2-40B4-BE49-F238E27FC236}">
                <a16:creationId xmlns:a16="http://schemas.microsoft.com/office/drawing/2014/main" id="{372ABFFE-8E82-8D79-6C44-5864D62F46EB}"/>
              </a:ext>
            </a:extLst>
          </p:cNvPr>
          <p:cNvSpPr txBox="1"/>
          <p:nvPr/>
        </p:nvSpPr>
        <p:spPr>
          <a:xfrm>
            <a:off x="3710900" y="2502681"/>
            <a:ext cx="92096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Bologna</a:t>
            </a:r>
            <a:endParaRPr kumimoji="0" lang="en-US" sz="1100" i="0" u="none" strike="noStrike" kern="1200" cap="none" spc="-5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rcular Std Medium" panose="020B0604020101010102" pitchFamily="34" charset="0"/>
              <a:ea typeface="Circular Std Light" panose="020B040402010102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F9C3DDF2-3312-1153-B5FA-9D2EA3659E8D}"/>
              </a:ext>
            </a:extLst>
          </p:cNvPr>
          <p:cNvSpPr txBox="1"/>
          <p:nvPr/>
        </p:nvSpPr>
        <p:spPr>
          <a:xfrm>
            <a:off x="2161500" y="3768112"/>
            <a:ext cx="92096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Roma</a:t>
            </a:r>
            <a:endParaRPr kumimoji="0" lang="en-US" sz="1100" i="0" u="none" strike="noStrike" kern="1200" cap="none" spc="-5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rcular Std Medium" panose="020B0604020101010102" pitchFamily="34" charset="0"/>
              <a:ea typeface="Circular Std Light" panose="020B0404020101020102" pitchFamily="34" charset="0"/>
              <a:cs typeface="Circular Std Medium" panose="020B0604020101010102" pitchFamily="34" charset="0"/>
            </a:endParaRPr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F2AA6064-5D9E-737B-7557-1448CE404C43}"/>
              </a:ext>
            </a:extLst>
          </p:cNvPr>
          <p:cNvCxnSpPr>
            <a:cxnSpLocks/>
          </p:cNvCxnSpPr>
          <p:nvPr/>
        </p:nvCxnSpPr>
        <p:spPr>
          <a:xfrm flipH="1">
            <a:off x="3109603" y="2103929"/>
            <a:ext cx="12931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4677C4EC-DD1F-9362-D5F1-AE2B2C2A59EF}"/>
              </a:ext>
            </a:extLst>
          </p:cNvPr>
          <p:cNvCxnSpPr>
            <a:cxnSpLocks/>
          </p:cNvCxnSpPr>
          <p:nvPr/>
        </p:nvCxnSpPr>
        <p:spPr>
          <a:xfrm flipH="1">
            <a:off x="3548743" y="2615421"/>
            <a:ext cx="3310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70D37159-E932-34A0-442C-A48E3D0981A9}"/>
              </a:ext>
            </a:extLst>
          </p:cNvPr>
          <p:cNvCxnSpPr>
            <a:cxnSpLocks/>
          </p:cNvCxnSpPr>
          <p:nvPr/>
        </p:nvCxnSpPr>
        <p:spPr>
          <a:xfrm flipH="1">
            <a:off x="3136686" y="3882246"/>
            <a:ext cx="5315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ottotitolo 2">
            <a:extLst>
              <a:ext uri="{FF2B5EF4-FFF2-40B4-BE49-F238E27FC236}">
                <a16:creationId xmlns:a16="http://schemas.microsoft.com/office/drawing/2014/main" id="{54BFA21B-E309-E5B7-386A-D16B4022DACA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PP Pangaia Italic" pitchFamily="50" charset="0"/>
              </a:rPr>
              <a:t>Locations</a:t>
            </a:r>
            <a:endParaRPr kumimoji="0" lang="it-IT" sz="4800" b="1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8022750-BA8D-15F9-21AE-C1BE50BC4761}"/>
              </a:ext>
            </a:extLst>
          </p:cNvPr>
          <p:cNvSpPr txBox="1"/>
          <p:nvPr/>
        </p:nvSpPr>
        <p:spPr>
          <a:xfrm>
            <a:off x="704850" y="2186540"/>
            <a:ext cx="809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Milano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9A2D29B3-0F47-DAD0-8EFC-4D375DC1FEC4}"/>
              </a:ext>
            </a:extLst>
          </p:cNvPr>
          <p:cNvSpPr/>
          <p:nvPr/>
        </p:nvSpPr>
        <p:spPr>
          <a:xfrm>
            <a:off x="2750578" y="2267446"/>
            <a:ext cx="153787" cy="153787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596D3F66-9669-905C-0410-510C1ADD3EA8}"/>
              </a:ext>
            </a:extLst>
          </p:cNvPr>
          <p:cNvCxnSpPr>
            <a:cxnSpLocks/>
          </p:cNvCxnSpPr>
          <p:nvPr/>
        </p:nvCxnSpPr>
        <p:spPr>
          <a:xfrm>
            <a:off x="1514475" y="2354558"/>
            <a:ext cx="11531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bject 28">
            <a:extLst>
              <a:ext uri="{FF2B5EF4-FFF2-40B4-BE49-F238E27FC236}">
                <a16:creationId xmlns:a16="http://schemas.microsoft.com/office/drawing/2014/main" id="{42AC252B-6F73-04F0-999D-D5F2F5E86BF8}"/>
              </a:ext>
            </a:extLst>
          </p:cNvPr>
          <p:cNvSpPr txBox="1"/>
          <p:nvPr/>
        </p:nvSpPr>
        <p:spPr>
          <a:xfrm>
            <a:off x="6714244" y="1562119"/>
            <a:ext cx="2484509" cy="30311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Milano - Headquarter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Via Savona 52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i="0" u="none" strike="noStrike" kern="1200" cap="none" spc="-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Milano - Showroom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Corso Vercelli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i="0" u="none" strike="noStrike" kern="1200" cap="none" spc="-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Roma – Business Office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Via Sicilia 50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i="0" u="none" strike="noStrike" kern="1200" cap="none" spc="-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Bologna – Business Office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Via Insolera 20</a:t>
            </a:r>
          </a:p>
        </p:txBody>
      </p:sp>
      <p:sp>
        <p:nvSpPr>
          <p:cNvPr id="25" name="object 28">
            <a:extLst>
              <a:ext uri="{FF2B5EF4-FFF2-40B4-BE49-F238E27FC236}">
                <a16:creationId xmlns:a16="http://schemas.microsoft.com/office/drawing/2014/main" id="{1C173D23-9971-80C0-1F83-6B7A29FFA3BE}"/>
              </a:ext>
            </a:extLst>
          </p:cNvPr>
          <p:cNvSpPr txBox="1"/>
          <p:nvPr/>
        </p:nvSpPr>
        <p:spPr>
          <a:xfrm>
            <a:off x="9287635" y="1562119"/>
            <a:ext cx="3286139" cy="44256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Milano – Showroom &amp; Store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Corso Sempione 21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Viale Gian Galeazzo 2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Via dei Missaglia 97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Via Cervignano 9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Via Padova 262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Via Barnaba Oriani 58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800" i="0" u="none" strike="noStrike" kern="1200" cap="none" spc="-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Hinterland Milano - Showroom &amp; Store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Segrate - Via San Rocco 8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San Donato M.se - Via Volta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Monza - Via Montegrappa 62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Senago - Via Londra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Basiglio - Residenza il Solco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Basiglio 3.0 - Piazza Marco Polo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Bergamo - Showroom &amp; Store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 Via Locatelli 37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800" i="0" u="none" strike="noStrike" kern="1200" cap="none" spc="-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Roma - Showroom &amp; Store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Via Duchessa di Galliera 3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Via Cecchignola (prossima apertura)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800" i="0" u="none" strike="noStrike" kern="1200" cap="none" spc="-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28523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B546-ABF8-C304-C067-F41A7A42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id="{5A2493DA-0FDB-F8E7-DB9B-14FB000F413C}"/>
              </a:ext>
            </a:extLst>
          </p:cNvPr>
          <p:cNvGrpSpPr/>
          <p:nvPr/>
        </p:nvGrpSpPr>
        <p:grpSpPr>
          <a:xfrm>
            <a:off x="638542" y="1515566"/>
            <a:ext cx="10945155" cy="783266"/>
            <a:chOff x="638542" y="1302899"/>
            <a:chExt cx="10945155" cy="783266"/>
          </a:xfrm>
        </p:grpSpPr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34CFD2E3-E64C-7BD9-AC7E-E3F075BBD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8542" y="1460524"/>
              <a:ext cx="859188" cy="483293"/>
            </a:xfrm>
            <a:prstGeom prst="rect">
              <a:avLst/>
            </a:prstGeom>
          </p:spPr>
        </p:pic>
        <p:pic>
          <p:nvPicPr>
            <p:cNvPr id="17" name="Picture 6" descr="InvestiRE SGR">
              <a:extLst>
                <a:ext uri="{FF2B5EF4-FFF2-40B4-BE49-F238E27FC236}">
                  <a16:creationId xmlns:a16="http://schemas.microsoft.com/office/drawing/2014/main" id="{947AC71F-5755-A96E-04F5-B50D91E1E9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6533" y="1480259"/>
              <a:ext cx="918257" cy="483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8" descr="DeA Capital Real Estate">
              <a:extLst>
                <a:ext uri="{FF2B5EF4-FFF2-40B4-BE49-F238E27FC236}">
                  <a16:creationId xmlns:a16="http://schemas.microsoft.com/office/drawing/2014/main" id="{73CF2CD9-3A2E-5634-BA0F-EBB7AA2955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3615" y="1415664"/>
              <a:ext cx="1225170" cy="490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0">
              <a:extLst>
                <a:ext uri="{FF2B5EF4-FFF2-40B4-BE49-F238E27FC236}">
                  <a16:creationId xmlns:a16="http://schemas.microsoft.com/office/drawing/2014/main" id="{21729707-DB72-35E7-E571-3A034702BA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0905" y="1590058"/>
              <a:ext cx="955489" cy="261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2" descr="Redbrick | Investment Group">
              <a:extLst>
                <a:ext uri="{FF2B5EF4-FFF2-40B4-BE49-F238E27FC236}">
                  <a16:creationId xmlns:a16="http://schemas.microsoft.com/office/drawing/2014/main" id="{A332EF03-155C-01E2-5A69-C464D4B093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32823" y="1580801"/>
              <a:ext cx="946041" cy="280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34" descr="Kryalos vende 40 centrali telefoniche ad Hayfin Capital Management - BeBeez">
              <a:extLst>
                <a:ext uri="{FF2B5EF4-FFF2-40B4-BE49-F238E27FC236}">
                  <a16:creationId xmlns:a16="http://schemas.microsoft.com/office/drawing/2014/main" id="{AB074AFB-4925-29D7-B168-78ABC9C833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0818" y="1627195"/>
              <a:ext cx="988828" cy="18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38" descr="Savills IM (@SavillsIM) / Twitter">
              <a:extLst>
                <a:ext uri="{FF2B5EF4-FFF2-40B4-BE49-F238E27FC236}">
                  <a16:creationId xmlns:a16="http://schemas.microsoft.com/office/drawing/2014/main" id="{EF793C62-EFDF-37C8-2DF8-98EE92CBB4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00431" y="1302899"/>
              <a:ext cx="783266" cy="783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B451E5A7-BB05-C068-79C9-A59477042A1B}"/>
              </a:ext>
            </a:extLst>
          </p:cNvPr>
          <p:cNvGrpSpPr/>
          <p:nvPr/>
        </p:nvGrpSpPr>
        <p:grpSpPr>
          <a:xfrm>
            <a:off x="638543" y="2547553"/>
            <a:ext cx="10997495" cy="605069"/>
            <a:chOff x="638543" y="2334886"/>
            <a:chExt cx="10997495" cy="605069"/>
          </a:xfrm>
        </p:grpSpPr>
        <p:pic>
          <p:nvPicPr>
            <p:cNvPr id="67" name="Picture 26" descr="Angelo Gordon - Crunchbase Investor Profile &amp; Investments">
              <a:extLst>
                <a:ext uri="{FF2B5EF4-FFF2-40B4-BE49-F238E27FC236}">
                  <a16:creationId xmlns:a16="http://schemas.microsoft.com/office/drawing/2014/main" id="{78EBA5A9-F128-D8CD-7836-A5C9559F41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4049" b="31538"/>
            <a:stretch/>
          </p:blipFill>
          <p:spPr bwMode="auto">
            <a:xfrm>
              <a:off x="1893857" y="2538785"/>
              <a:ext cx="812512" cy="279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28" descr="YELDO | LinkedIn">
              <a:extLst>
                <a:ext uri="{FF2B5EF4-FFF2-40B4-BE49-F238E27FC236}">
                  <a16:creationId xmlns:a16="http://schemas.microsoft.com/office/drawing/2014/main" id="{29C1EA97-A6D0-B25B-0B0B-1100C2A22F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335618" y="2529352"/>
              <a:ext cx="767132" cy="337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32">
              <a:extLst>
                <a:ext uri="{FF2B5EF4-FFF2-40B4-BE49-F238E27FC236}">
                  <a16:creationId xmlns:a16="http://schemas.microsoft.com/office/drawing/2014/main" id="{5C64E217-7591-41E5-0F0A-00F6BF72CD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8784" y="2529351"/>
              <a:ext cx="601424" cy="268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36" descr="First Atlantic Real Estate mette in vendita 58 centraline. Deal da 28 mln  di euro - BeBeez">
              <a:extLst>
                <a:ext uri="{FF2B5EF4-FFF2-40B4-BE49-F238E27FC236}">
                  <a16:creationId xmlns:a16="http://schemas.microsoft.com/office/drawing/2014/main" id="{A1F58BD5-3EBB-AEA4-FD23-257C076483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156242" y="2538785"/>
              <a:ext cx="1441075" cy="268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40" descr="Working at Gruppo Leonardo Caltagirone | Glassdoor">
              <a:extLst>
                <a:ext uri="{FF2B5EF4-FFF2-40B4-BE49-F238E27FC236}">
                  <a16:creationId xmlns:a16="http://schemas.microsoft.com/office/drawing/2014/main" id="{AD8CD304-DAC0-9E8A-1F56-A626B748BF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543" y="2427818"/>
              <a:ext cx="512137" cy="512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42" descr="Prelios - Wikipedia">
              <a:extLst>
                <a:ext uri="{FF2B5EF4-FFF2-40B4-BE49-F238E27FC236}">
                  <a16:creationId xmlns:a16="http://schemas.microsoft.com/office/drawing/2014/main" id="{C858921F-759D-51C1-10D9-855251326E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224851" y="2386883"/>
              <a:ext cx="1270295" cy="3724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60" descr="Varallo RE Group | Società di investimento Immobiliare | Milano">
              <a:extLst>
                <a:ext uri="{FF2B5EF4-FFF2-40B4-BE49-F238E27FC236}">
                  <a16:creationId xmlns:a16="http://schemas.microsoft.com/office/drawing/2014/main" id="{77764A01-91C2-F529-3380-FD609E69B0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9363" y="2375525"/>
              <a:ext cx="836675" cy="460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64" descr="Goldman Sachs - Wikipedia">
              <a:extLst>
                <a:ext uri="{FF2B5EF4-FFF2-40B4-BE49-F238E27FC236}">
                  <a16:creationId xmlns:a16="http://schemas.microsoft.com/office/drawing/2014/main" id="{C5AED878-E65D-C3B4-3718-43992AA746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6736" y="2334886"/>
              <a:ext cx="591863" cy="591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FC378782-1F4A-4E1A-14DD-4471D4D5C260}"/>
              </a:ext>
            </a:extLst>
          </p:cNvPr>
          <p:cNvGrpSpPr/>
          <p:nvPr/>
        </p:nvGrpSpPr>
        <p:grpSpPr>
          <a:xfrm>
            <a:off x="568466" y="3353560"/>
            <a:ext cx="10936767" cy="764797"/>
            <a:chOff x="568466" y="3140893"/>
            <a:chExt cx="10936767" cy="764797"/>
          </a:xfrm>
        </p:grpSpPr>
        <p:pic>
          <p:nvPicPr>
            <p:cNvPr id="84" name="Picture 16" descr="Contatti - Algos Special Servicer">
              <a:extLst>
                <a:ext uri="{FF2B5EF4-FFF2-40B4-BE49-F238E27FC236}">
                  <a16:creationId xmlns:a16="http://schemas.microsoft.com/office/drawing/2014/main" id="{2D970C3A-E0B6-BCC9-D100-C0FB2170F1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8773" y="3307192"/>
              <a:ext cx="740873" cy="3177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48" descr="Patron Capital - Home">
              <a:extLst>
                <a:ext uri="{FF2B5EF4-FFF2-40B4-BE49-F238E27FC236}">
                  <a16:creationId xmlns:a16="http://schemas.microsoft.com/office/drawing/2014/main" id="{8CAC7201-9AFC-E935-E61B-693A35195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466" y="3350560"/>
              <a:ext cx="1449720" cy="3436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56" descr="Reale Immobili - Together More">
              <a:extLst>
                <a:ext uri="{FF2B5EF4-FFF2-40B4-BE49-F238E27FC236}">
                  <a16:creationId xmlns:a16="http://schemas.microsoft.com/office/drawing/2014/main" id="{D461FD6E-1344-7114-BD5F-4057EBFE41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4198" y="3349615"/>
              <a:ext cx="1120757" cy="255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58">
              <a:extLst>
                <a:ext uri="{FF2B5EF4-FFF2-40B4-BE49-F238E27FC236}">
                  <a16:creationId xmlns:a16="http://schemas.microsoft.com/office/drawing/2014/main" id="{CFE0876A-67A6-B9C4-91C1-FE02ABFFCD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0967" y="3140893"/>
              <a:ext cx="988829" cy="764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68" descr="Vitale&amp;Co - Overview, Competitors, And Employees | Ampliz.com">
              <a:extLst>
                <a:ext uri="{FF2B5EF4-FFF2-40B4-BE49-F238E27FC236}">
                  <a16:creationId xmlns:a16="http://schemas.microsoft.com/office/drawing/2014/main" id="{158015E1-0CFD-4B64-DBB5-8ECF412629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3904" y="3141421"/>
              <a:ext cx="598880" cy="59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70">
              <a:extLst>
                <a:ext uri="{FF2B5EF4-FFF2-40B4-BE49-F238E27FC236}">
                  <a16:creationId xmlns:a16="http://schemas.microsoft.com/office/drawing/2014/main" id="{1CA729E3-79C0-756F-00D9-1ADF1A5AB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9684" y="3342949"/>
              <a:ext cx="1668123" cy="279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74" descr="Oaktree Capital Management">
              <a:extLst>
                <a:ext uri="{FF2B5EF4-FFF2-40B4-BE49-F238E27FC236}">
                  <a16:creationId xmlns:a16="http://schemas.microsoft.com/office/drawing/2014/main" id="{8E03699B-A8EF-AF77-BB88-FD12E4F96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5119" y="3268653"/>
              <a:ext cx="1540114" cy="3947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" name="Gruppo 91">
            <a:extLst>
              <a:ext uri="{FF2B5EF4-FFF2-40B4-BE49-F238E27FC236}">
                <a16:creationId xmlns:a16="http://schemas.microsoft.com/office/drawing/2014/main" id="{BAA1DBAE-ECDC-F016-A69C-A315DAD71B40}"/>
              </a:ext>
            </a:extLst>
          </p:cNvPr>
          <p:cNvGrpSpPr/>
          <p:nvPr/>
        </p:nvGrpSpPr>
        <p:grpSpPr>
          <a:xfrm>
            <a:off x="627480" y="4292315"/>
            <a:ext cx="11107326" cy="701481"/>
            <a:chOff x="627480" y="4079648"/>
            <a:chExt cx="11107326" cy="701481"/>
          </a:xfrm>
        </p:grpSpPr>
        <p:pic>
          <p:nvPicPr>
            <p:cNvPr id="101" name="Picture 10" descr="SeiMilano | Chi siamo - Borio Mangiarotti">
              <a:extLst>
                <a:ext uri="{FF2B5EF4-FFF2-40B4-BE49-F238E27FC236}">
                  <a16:creationId xmlns:a16="http://schemas.microsoft.com/office/drawing/2014/main" id="{6D848E11-64CF-C100-F606-19D3D57FB9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4435" y="4236714"/>
              <a:ext cx="1380192" cy="4205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" name="Picture 12" descr="MADE IN ITALY GREEN - BOSCONAVIGLI">
              <a:extLst>
                <a:ext uri="{FF2B5EF4-FFF2-40B4-BE49-F238E27FC236}">
                  <a16:creationId xmlns:a16="http://schemas.microsoft.com/office/drawing/2014/main" id="{814A15E7-BE00-3985-E474-F4D13DA4F8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clrChange>
                <a:clrFrom>
                  <a:srgbClr val="E2E3DE"/>
                </a:clrFrom>
                <a:clrTo>
                  <a:srgbClr val="E2E3DE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9666" y="4145079"/>
              <a:ext cx="1567646" cy="5519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Picture 14" descr="Donato Colombini - Profilo">
              <a:extLst>
                <a:ext uri="{FF2B5EF4-FFF2-40B4-BE49-F238E27FC236}">
                  <a16:creationId xmlns:a16="http://schemas.microsoft.com/office/drawing/2014/main" id="{794530BE-CB84-4948-9ED3-B817127F24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480" y="4167505"/>
              <a:ext cx="1331691" cy="518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18" descr="Impresaponte | Da quasi 40 anni nel settore immobiliare in italia e  all'estero">
              <a:extLst>
                <a:ext uri="{FF2B5EF4-FFF2-40B4-BE49-F238E27FC236}">
                  <a16:creationId xmlns:a16="http://schemas.microsoft.com/office/drawing/2014/main" id="{CE7B9C96-F640-14EB-9FA9-B608D7138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8204" y="4115021"/>
              <a:ext cx="3045227" cy="591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" name="Picture 30">
              <a:extLst>
                <a:ext uri="{FF2B5EF4-FFF2-40B4-BE49-F238E27FC236}">
                  <a16:creationId xmlns:a16="http://schemas.microsoft.com/office/drawing/2014/main" id="{C835F83A-C16A-45E4-E4E8-F696351D88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6702" y="4079648"/>
              <a:ext cx="1402962" cy="701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" name="Picture 44" descr="Costruttori e Aziende Edili Partner di Concrete Investing | Concrete  Investing">
              <a:extLst>
                <a:ext uri="{FF2B5EF4-FFF2-40B4-BE49-F238E27FC236}">
                  <a16:creationId xmlns:a16="http://schemas.microsoft.com/office/drawing/2014/main" id="{0683CADE-67C1-D42F-4296-797DB6DFB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3894" y="4079648"/>
              <a:ext cx="1200912" cy="548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" name="Gruppo 107">
            <a:extLst>
              <a:ext uri="{FF2B5EF4-FFF2-40B4-BE49-F238E27FC236}">
                <a16:creationId xmlns:a16="http://schemas.microsoft.com/office/drawing/2014/main" id="{F814E1BA-22FA-0EBB-6410-6700EE1F02F0}"/>
              </a:ext>
            </a:extLst>
          </p:cNvPr>
          <p:cNvGrpSpPr/>
          <p:nvPr/>
        </p:nvGrpSpPr>
        <p:grpSpPr>
          <a:xfrm>
            <a:off x="643332" y="5121803"/>
            <a:ext cx="11010352" cy="770644"/>
            <a:chOff x="643332" y="4909136"/>
            <a:chExt cx="11010352" cy="770644"/>
          </a:xfrm>
        </p:grpSpPr>
        <p:pic>
          <p:nvPicPr>
            <p:cNvPr id="117" name="Picture 46" descr="LOGO FIRMA EMAIL">
              <a:extLst>
                <a:ext uri="{FF2B5EF4-FFF2-40B4-BE49-F238E27FC236}">
                  <a16:creationId xmlns:a16="http://schemas.microsoft.com/office/drawing/2014/main" id="{37201C99-115A-69FD-E6D6-BAF519646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332" y="4912178"/>
              <a:ext cx="916651" cy="767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8" name="Picture 50" descr="Associazione Club CDO Libera Impresa - Soci - Edilizia - Aedes S.r.l.">
              <a:extLst>
                <a:ext uri="{FF2B5EF4-FFF2-40B4-BE49-F238E27FC236}">
                  <a16:creationId xmlns:a16="http://schemas.microsoft.com/office/drawing/2014/main" id="{79930C44-7B59-0EE9-3401-182846D3A4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516" y="4974609"/>
              <a:ext cx="681729" cy="681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" name="Immagine 118">
              <a:extLst>
                <a:ext uri="{FF2B5EF4-FFF2-40B4-BE49-F238E27FC236}">
                  <a16:creationId xmlns:a16="http://schemas.microsoft.com/office/drawing/2014/main" id="{E61E3F7B-C457-A945-2197-945390219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grayscl/>
            </a:blip>
            <a:stretch>
              <a:fillRect/>
            </a:stretch>
          </p:blipFill>
          <p:spPr>
            <a:xfrm>
              <a:off x="3220676" y="5172116"/>
              <a:ext cx="1384300" cy="361950"/>
            </a:xfrm>
            <a:prstGeom prst="rect">
              <a:avLst/>
            </a:prstGeom>
          </p:spPr>
        </p:pic>
        <p:pic>
          <p:nvPicPr>
            <p:cNvPr id="120" name="Picture 54">
              <a:extLst>
                <a:ext uri="{FF2B5EF4-FFF2-40B4-BE49-F238E27FC236}">
                  <a16:creationId xmlns:a16="http://schemas.microsoft.com/office/drawing/2014/main" id="{7FA517BD-D523-6449-C7E8-5007FE81C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3296" y="5172116"/>
              <a:ext cx="127635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" name="Immagine 120">
              <a:extLst>
                <a:ext uri="{FF2B5EF4-FFF2-40B4-BE49-F238E27FC236}">
                  <a16:creationId xmlns:a16="http://schemas.microsoft.com/office/drawing/2014/main" id="{E7695786-13E2-FFB2-7CC1-D31E11BF6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  <a:grayscl/>
            </a:blip>
            <a:stretch>
              <a:fillRect/>
            </a:stretch>
          </p:blipFill>
          <p:spPr>
            <a:xfrm>
              <a:off x="6749609" y="4909136"/>
              <a:ext cx="1173688" cy="767602"/>
            </a:xfrm>
            <a:prstGeom prst="rect">
              <a:avLst/>
            </a:prstGeom>
          </p:spPr>
        </p:pic>
        <p:pic>
          <p:nvPicPr>
            <p:cNvPr id="122" name="Picture 66">
              <a:extLst>
                <a:ext uri="{FF2B5EF4-FFF2-40B4-BE49-F238E27FC236}">
                  <a16:creationId xmlns:a16="http://schemas.microsoft.com/office/drawing/2014/main" id="{0F838B5E-719D-FF51-84B7-863122FBDA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37545" y="5055870"/>
              <a:ext cx="1316139" cy="57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72">
              <a:extLst>
                <a:ext uri="{FF2B5EF4-FFF2-40B4-BE49-F238E27FC236}">
                  <a16:creationId xmlns:a16="http://schemas.microsoft.com/office/drawing/2014/main" id="{9CA5B836-3B20-CD5E-8C68-79329C2539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4315" y="5078103"/>
              <a:ext cx="1773615" cy="483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4" name="Elemento grafico 123">
            <a:extLst>
              <a:ext uri="{FF2B5EF4-FFF2-40B4-BE49-F238E27FC236}">
                <a16:creationId xmlns:a16="http://schemas.microsoft.com/office/drawing/2014/main" id="{1BF74CD9-F7DC-0715-8D30-A852B8C7A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431381" y="451009"/>
            <a:ext cx="5348287" cy="47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3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24784-65D1-C776-5CBC-11A1A3F1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826DD8B-702D-7608-6524-4660F2B1A214}"/>
              </a:ext>
            </a:extLst>
          </p:cNvPr>
          <p:cNvSpPr txBox="1">
            <a:spLocks/>
          </p:cNvSpPr>
          <p:nvPr/>
        </p:nvSpPr>
        <p:spPr>
          <a:xfrm>
            <a:off x="2286000" y="2618537"/>
            <a:ext cx="7620000" cy="1620926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Un’unica </a:t>
            </a:r>
            <a:r>
              <a:rPr kumimoji="0" lang="it-IT" sz="60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regia</a:t>
            </a:r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, tanti</a:t>
            </a:r>
          </a:p>
          <a:p>
            <a:pPr algn="ctr">
              <a:buClr>
                <a:srgbClr val="0E2841"/>
              </a:buClr>
            </a:pPr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attori specializzati</a:t>
            </a:r>
            <a:endParaRPr kumimoji="0" lang="it-IT" sz="6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DB7F76EB-8760-B43F-DB35-1990C0BACC26}"/>
              </a:ext>
            </a:extLst>
          </p:cNvPr>
          <p:cNvSpPr/>
          <p:nvPr/>
        </p:nvSpPr>
        <p:spPr>
          <a:xfrm>
            <a:off x="0" y="2038683"/>
            <a:ext cx="1219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Circular Std Book" panose="020B0604020101020102" pitchFamily="34" charset="0"/>
                <a:ea typeface="+mn-ea"/>
                <a:cs typeface="Circular Std Book" panose="020B0604020101020102" pitchFamily="34" charset="0"/>
              </a:rPr>
              <a:t>SERVIZI E SETTORI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43122916-B092-E23E-36EC-EB17398CA792}"/>
              </a:ext>
            </a:extLst>
          </p:cNvPr>
          <p:cNvSpPr/>
          <p:nvPr/>
        </p:nvSpPr>
        <p:spPr>
          <a:xfrm>
            <a:off x="12925683" y="-3138228"/>
            <a:ext cx="13134718" cy="13134456"/>
          </a:xfrm>
          <a:prstGeom prst="ellipse">
            <a:avLst/>
          </a:prstGeom>
          <a:noFill/>
          <a:ln>
            <a:solidFill>
              <a:srgbClr val="460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468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2B660-5B8C-7D67-EC05-651E2DF43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8">
            <a:extLst>
              <a:ext uri="{FF2B5EF4-FFF2-40B4-BE49-F238E27FC236}">
                <a16:creationId xmlns:a16="http://schemas.microsoft.com/office/drawing/2014/main" id="{A8BDCC51-BC6D-B476-340E-21CA2A977F99}"/>
              </a:ext>
            </a:extLst>
          </p:cNvPr>
          <p:cNvSpPr/>
          <p:nvPr/>
        </p:nvSpPr>
        <p:spPr>
          <a:xfrm>
            <a:off x="8378841" y="2076706"/>
            <a:ext cx="3526798" cy="2704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Configurazione degli appartamenti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Servizi catastali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Gestione delle fasi post-consegna</a:t>
            </a:r>
            <a:b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</a:b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dell'immobile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Gestione </a:t>
            </a:r>
            <a:r>
              <a:rPr lang="it-IT" sz="1400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Contract</a:t>
            </a:r>
            <a:endParaRPr lang="it-IT" sz="1400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4D3F05E9-834F-6CD4-817D-3D7F3292987A}"/>
              </a:ext>
            </a:extLst>
          </p:cNvPr>
          <p:cNvSpPr/>
          <p:nvPr/>
        </p:nvSpPr>
        <p:spPr>
          <a:xfrm>
            <a:off x="6284175" y="-619458"/>
            <a:ext cx="8097077" cy="8096916"/>
          </a:xfrm>
          <a:prstGeom prst="ellipse">
            <a:avLst/>
          </a:prstGeom>
          <a:noFill/>
          <a:ln>
            <a:solidFill>
              <a:srgbClr val="460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119EB6B9-09E9-0C56-9269-DBCAEA1D4987}"/>
              </a:ext>
            </a:extLst>
          </p:cNvPr>
          <p:cNvGrpSpPr/>
          <p:nvPr/>
        </p:nvGrpSpPr>
        <p:grpSpPr>
          <a:xfrm>
            <a:off x="12515593" y="6627135"/>
            <a:ext cx="1473494" cy="1473463"/>
            <a:chOff x="4289608" y="5017582"/>
            <a:chExt cx="1420724" cy="1420695"/>
          </a:xfrm>
        </p:grpSpPr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B63C6763-F1D4-BF39-C5F4-EAABE6F6F1BC}"/>
                </a:ext>
              </a:extLst>
            </p:cNvPr>
            <p:cNvSpPr/>
            <p:nvPr/>
          </p:nvSpPr>
          <p:spPr>
            <a:xfrm>
              <a:off x="4289608" y="5017582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4" name="Elemento grafico 33">
              <a:extLst>
                <a:ext uri="{FF2B5EF4-FFF2-40B4-BE49-F238E27FC236}">
                  <a16:creationId xmlns:a16="http://schemas.microsoft.com/office/drawing/2014/main" id="{4A60CB61-20EF-19D4-76C1-AB8313FFF6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62166" y="5592630"/>
              <a:ext cx="1254530" cy="270597"/>
            </a:xfrm>
            <a:prstGeom prst="rect">
              <a:avLst/>
            </a:prstGeom>
          </p:spPr>
        </p:pic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28338E52-A600-44CB-098E-020F3175D80B}"/>
              </a:ext>
            </a:extLst>
          </p:cNvPr>
          <p:cNvGrpSpPr/>
          <p:nvPr/>
        </p:nvGrpSpPr>
        <p:grpSpPr>
          <a:xfrm>
            <a:off x="7775917" y="-1047113"/>
            <a:ext cx="1473494" cy="1473463"/>
            <a:chOff x="2960010" y="3317385"/>
            <a:chExt cx="1420724" cy="1420695"/>
          </a:xfrm>
        </p:grpSpPr>
        <p:sp>
          <p:nvSpPr>
            <p:cNvPr id="24" name="Ovale 23">
              <a:extLst>
                <a:ext uri="{FF2B5EF4-FFF2-40B4-BE49-F238E27FC236}">
                  <a16:creationId xmlns:a16="http://schemas.microsoft.com/office/drawing/2014/main" id="{2F553563-B424-03D4-21ED-51607F6F07DB}"/>
                </a:ext>
              </a:extLst>
            </p:cNvPr>
            <p:cNvSpPr/>
            <p:nvPr/>
          </p:nvSpPr>
          <p:spPr>
            <a:xfrm>
              <a:off x="2960010" y="3317385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5" name="Elemento grafico 34">
              <a:extLst>
                <a:ext uri="{FF2B5EF4-FFF2-40B4-BE49-F238E27FC236}">
                  <a16:creationId xmlns:a16="http://schemas.microsoft.com/office/drawing/2014/main" id="{4C6286FE-9C97-5A45-73C0-905E304F79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31806" y="3904075"/>
              <a:ext cx="1077132" cy="169463"/>
            </a:xfrm>
            <a:prstGeom prst="rect">
              <a:avLst/>
            </a:prstGeom>
          </p:spPr>
        </p:pic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A4D87FFA-3193-75CA-6BA7-78D2E5872D90}"/>
              </a:ext>
            </a:extLst>
          </p:cNvPr>
          <p:cNvGrpSpPr/>
          <p:nvPr/>
        </p:nvGrpSpPr>
        <p:grpSpPr>
          <a:xfrm>
            <a:off x="5195745" y="2242486"/>
            <a:ext cx="2373076" cy="2373027"/>
            <a:chOff x="3724134" y="1180926"/>
            <a:chExt cx="1420724" cy="1420695"/>
          </a:xfrm>
        </p:grpSpPr>
        <p:sp>
          <p:nvSpPr>
            <p:cNvPr id="25" name="Ovale 24">
              <a:extLst>
                <a:ext uri="{FF2B5EF4-FFF2-40B4-BE49-F238E27FC236}">
                  <a16:creationId xmlns:a16="http://schemas.microsoft.com/office/drawing/2014/main" id="{0B9D1DFE-CCA2-FEAD-A742-DB28088DE362}"/>
                </a:ext>
              </a:extLst>
            </p:cNvPr>
            <p:cNvSpPr/>
            <p:nvPr/>
          </p:nvSpPr>
          <p:spPr>
            <a:xfrm>
              <a:off x="3724134" y="1180926"/>
              <a:ext cx="1420724" cy="1420695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6" name="Elemento grafico 35">
              <a:extLst>
                <a:ext uri="{FF2B5EF4-FFF2-40B4-BE49-F238E27FC236}">
                  <a16:creationId xmlns:a16="http://schemas.microsoft.com/office/drawing/2014/main" id="{C143941E-53CB-BD1B-0D9E-BCA1A5A9F9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07474" y="1789425"/>
              <a:ext cx="1254044" cy="179617"/>
            </a:xfrm>
            <a:prstGeom prst="rect">
              <a:avLst/>
            </a:prstGeom>
          </p:spPr>
        </p:pic>
      </p:grp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4679EEB6-5A96-B7B8-8C81-77699285E883}"/>
              </a:ext>
            </a:extLst>
          </p:cNvPr>
          <p:cNvGrpSpPr/>
          <p:nvPr/>
        </p:nvGrpSpPr>
        <p:grpSpPr>
          <a:xfrm>
            <a:off x="10092874" y="6914250"/>
            <a:ext cx="1473494" cy="1473463"/>
            <a:chOff x="6932825" y="4836377"/>
            <a:chExt cx="1420724" cy="1420695"/>
          </a:xfrm>
        </p:grpSpPr>
        <p:sp>
          <p:nvSpPr>
            <p:cNvPr id="22" name="Ovale 21">
              <a:extLst>
                <a:ext uri="{FF2B5EF4-FFF2-40B4-BE49-F238E27FC236}">
                  <a16:creationId xmlns:a16="http://schemas.microsoft.com/office/drawing/2014/main" id="{9E0539C6-B949-3090-7422-3065FA6BF653}"/>
                </a:ext>
              </a:extLst>
            </p:cNvPr>
            <p:cNvSpPr/>
            <p:nvPr/>
          </p:nvSpPr>
          <p:spPr>
            <a:xfrm>
              <a:off x="6932825" y="4836377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7" name="Elemento grafico 36">
              <a:extLst>
                <a:ext uri="{FF2B5EF4-FFF2-40B4-BE49-F238E27FC236}">
                  <a16:creationId xmlns:a16="http://schemas.microsoft.com/office/drawing/2014/main" id="{70699398-876B-E12D-0DBC-4E0E769C7E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3362" y="5478690"/>
              <a:ext cx="1219649" cy="136068"/>
            </a:xfrm>
            <a:prstGeom prst="rect">
              <a:avLst/>
            </a:prstGeom>
          </p:spPr>
        </p:pic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2A595E93-E289-4C4F-9DF1-1E8E4F2738D1}"/>
              </a:ext>
            </a:extLst>
          </p:cNvPr>
          <p:cNvGrpSpPr/>
          <p:nvPr/>
        </p:nvGrpSpPr>
        <p:grpSpPr>
          <a:xfrm>
            <a:off x="7954094" y="6431650"/>
            <a:ext cx="1473494" cy="1473463"/>
            <a:chOff x="7608653" y="2532722"/>
            <a:chExt cx="1420724" cy="1420695"/>
          </a:xfrm>
        </p:grpSpPr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912E330E-8ADA-612D-ABE5-25B76FF2A3DB}"/>
                </a:ext>
              </a:extLst>
            </p:cNvPr>
            <p:cNvSpPr/>
            <p:nvPr/>
          </p:nvSpPr>
          <p:spPr>
            <a:xfrm>
              <a:off x="7608653" y="2532722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2" name="Elemento grafico 1">
              <a:extLst>
                <a:ext uri="{FF2B5EF4-FFF2-40B4-BE49-F238E27FC236}">
                  <a16:creationId xmlns:a16="http://schemas.microsoft.com/office/drawing/2014/main" id="{09A26040-7400-8594-ADFD-0C5E1A0D81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82423" y="3004495"/>
              <a:ext cx="873183" cy="427059"/>
            </a:xfrm>
            <a:prstGeom prst="rect">
              <a:avLst/>
            </a:prstGeom>
          </p:spPr>
        </p:pic>
      </p:grpSp>
      <p:sp>
        <p:nvSpPr>
          <p:cNvPr id="7" name="Sottotitolo 2">
            <a:extLst>
              <a:ext uri="{FF2B5EF4-FFF2-40B4-BE49-F238E27FC236}">
                <a16:creationId xmlns:a16="http://schemas.microsoft.com/office/drawing/2014/main" id="{ADBE9D07-F877-AF79-ECDC-538311E20BB3}"/>
              </a:ext>
            </a:extLst>
          </p:cNvPr>
          <p:cNvSpPr txBox="1">
            <a:spLocks/>
          </p:cNvSpPr>
          <p:nvPr/>
        </p:nvSpPr>
        <p:spPr>
          <a:xfrm>
            <a:off x="175344" y="1195419"/>
            <a:ext cx="5223002" cy="1620926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Un’unica </a:t>
            </a: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regia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, tanti</a:t>
            </a:r>
          </a:p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attori specializzati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51A12851-9A43-B528-4DFD-E6BE39C5D539}"/>
              </a:ext>
            </a:extLst>
          </p:cNvPr>
          <p:cNvSpPr/>
          <p:nvPr/>
        </p:nvSpPr>
        <p:spPr>
          <a:xfrm>
            <a:off x="219219" y="2588324"/>
            <a:ext cx="406703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Operiamo lungo l’intera filiera immobiliare attraverso brand verticali e specializzati nei settori del residenziale nuovo e usato, office, retail, industrial-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logistic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e 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hospitality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Ogni brand garantisce qualità e competenza e, insieme, raccontano un’unica visione: costruire valore in ogni fase del percorso immobiliare.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4082CE60-92B3-26DF-85CB-5CEB955E8D12}"/>
              </a:ext>
            </a:extLst>
          </p:cNvPr>
          <p:cNvGrpSpPr/>
          <p:nvPr/>
        </p:nvGrpSpPr>
        <p:grpSpPr>
          <a:xfrm>
            <a:off x="8110907" y="2395447"/>
            <a:ext cx="230790" cy="2318001"/>
            <a:chOff x="8110907" y="2395447"/>
            <a:chExt cx="230790" cy="2318001"/>
          </a:xfrm>
        </p:grpSpPr>
        <p:pic>
          <p:nvPicPr>
            <p:cNvPr id="10" name="Elemento grafico 9">
              <a:extLst>
                <a:ext uri="{FF2B5EF4-FFF2-40B4-BE49-F238E27FC236}">
                  <a16:creationId xmlns:a16="http://schemas.microsoft.com/office/drawing/2014/main" id="{AD07EE92-BB72-FB14-2503-397EAC4ACE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0907" y="2395447"/>
              <a:ext cx="230790" cy="167124"/>
            </a:xfrm>
            <a:prstGeom prst="rect">
              <a:avLst/>
            </a:prstGeom>
          </p:spPr>
        </p:pic>
        <p:pic>
          <p:nvPicPr>
            <p:cNvPr id="4" name="Elemento grafico 3">
              <a:extLst>
                <a:ext uri="{FF2B5EF4-FFF2-40B4-BE49-F238E27FC236}">
                  <a16:creationId xmlns:a16="http://schemas.microsoft.com/office/drawing/2014/main" id="{4A1CE705-BCA1-661C-9C89-CF05F9E00A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0907" y="2933166"/>
              <a:ext cx="230790" cy="167124"/>
            </a:xfrm>
            <a:prstGeom prst="rect">
              <a:avLst/>
            </a:prstGeom>
          </p:spPr>
        </p:pic>
        <p:pic>
          <p:nvPicPr>
            <p:cNvPr id="6" name="Elemento grafico 5">
              <a:extLst>
                <a:ext uri="{FF2B5EF4-FFF2-40B4-BE49-F238E27FC236}">
                  <a16:creationId xmlns:a16="http://schemas.microsoft.com/office/drawing/2014/main" id="{7851A906-7355-F7AA-5E5F-623206248C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0907" y="3470885"/>
              <a:ext cx="230790" cy="167124"/>
            </a:xfrm>
            <a:prstGeom prst="rect">
              <a:avLst/>
            </a:prstGeom>
          </p:spPr>
        </p:pic>
        <p:pic>
          <p:nvPicPr>
            <p:cNvPr id="9" name="Elemento grafico 8">
              <a:extLst>
                <a:ext uri="{FF2B5EF4-FFF2-40B4-BE49-F238E27FC236}">
                  <a16:creationId xmlns:a16="http://schemas.microsoft.com/office/drawing/2014/main" id="{924703D5-C314-3D97-F997-3159929032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0907" y="4008604"/>
              <a:ext cx="230790" cy="167124"/>
            </a:xfrm>
            <a:prstGeom prst="rect">
              <a:avLst/>
            </a:prstGeom>
          </p:spPr>
        </p:pic>
        <p:pic>
          <p:nvPicPr>
            <p:cNvPr id="11" name="Elemento grafico 10">
              <a:extLst>
                <a:ext uri="{FF2B5EF4-FFF2-40B4-BE49-F238E27FC236}">
                  <a16:creationId xmlns:a16="http://schemas.microsoft.com/office/drawing/2014/main" id="{1EC0D77A-065F-96AF-B654-7ED9E5130A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0907" y="4546324"/>
              <a:ext cx="230790" cy="1671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7625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C7BCA-D1DE-E7B7-D47D-E2CA9DEA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8">
            <a:extLst>
              <a:ext uri="{FF2B5EF4-FFF2-40B4-BE49-F238E27FC236}">
                <a16:creationId xmlns:a16="http://schemas.microsoft.com/office/drawing/2014/main" id="{85BAD7A8-D4E7-69E2-97E8-B7187990E373}"/>
              </a:ext>
            </a:extLst>
          </p:cNvPr>
          <p:cNvSpPr/>
          <p:nvPr/>
        </p:nvSpPr>
        <p:spPr>
          <a:xfrm>
            <a:off x="8378841" y="1268791"/>
            <a:ext cx="3526798" cy="4320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Agency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Advisory</a:t>
            </a: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&amp; </a:t>
            </a:r>
            <a:r>
              <a:rPr lang="it-IT" sz="1400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Valuation</a:t>
            </a:r>
            <a:endParaRPr lang="it-IT" sz="1400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lnSpc>
                <a:spcPct val="250000"/>
              </a:lnSpc>
              <a:defRPr/>
            </a:pPr>
            <a:r>
              <a:rPr lang="it-IT" sz="1400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Creativity</a:t>
            </a:r>
            <a:endParaRPr lang="it-IT" sz="1400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Marketing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Info point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Personalizzazione spazi interni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Assistenza Mutuo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Assistenza Assicurativa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DE4534F-7D33-EEF5-6179-164B3AFFA448}"/>
              </a:ext>
            </a:extLst>
          </p:cNvPr>
          <p:cNvSpPr/>
          <p:nvPr/>
        </p:nvSpPr>
        <p:spPr>
          <a:xfrm>
            <a:off x="6284175" y="-619458"/>
            <a:ext cx="8097077" cy="8096916"/>
          </a:xfrm>
          <a:prstGeom prst="ellipse">
            <a:avLst/>
          </a:prstGeom>
          <a:noFill/>
          <a:ln>
            <a:solidFill>
              <a:srgbClr val="460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D21BD562-97EA-F90F-8D24-A0EEE8875FD2}"/>
              </a:ext>
            </a:extLst>
          </p:cNvPr>
          <p:cNvGrpSpPr/>
          <p:nvPr/>
        </p:nvGrpSpPr>
        <p:grpSpPr>
          <a:xfrm>
            <a:off x="12494657" y="-1929849"/>
            <a:ext cx="1473494" cy="1473463"/>
            <a:chOff x="2960010" y="3317385"/>
            <a:chExt cx="1420724" cy="1420695"/>
          </a:xfrm>
        </p:grpSpPr>
        <p:sp>
          <p:nvSpPr>
            <p:cNvPr id="24" name="Ovale 23">
              <a:extLst>
                <a:ext uri="{FF2B5EF4-FFF2-40B4-BE49-F238E27FC236}">
                  <a16:creationId xmlns:a16="http://schemas.microsoft.com/office/drawing/2014/main" id="{6BA4E9B3-B587-1C39-CF91-FB7FB4CFF2D2}"/>
                </a:ext>
              </a:extLst>
            </p:cNvPr>
            <p:cNvSpPr/>
            <p:nvPr/>
          </p:nvSpPr>
          <p:spPr>
            <a:xfrm>
              <a:off x="2960010" y="3317385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5" name="Elemento grafico 34">
              <a:extLst>
                <a:ext uri="{FF2B5EF4-FFF2-40B4-BE49-F238E27FC236}">
                  <a16:creationId xmlns:a16="http://schemas.microsoft.com/office/drawing/2014/main" id="{68F67D14-1BC2-584D-E165-6D91899D6E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31806" y="3904075"/>
              <a:ext cx="1077132" cy="169463"/>
            </a:xfrm>
            <a:prstGeom prst="rect">
              <a:avLst/>
            </a:prstGeom>
          </p:spPr>
        </p:pic>
      </p:grpSp>
      <p:sp>
        <p:nvSpPr>
          <p:cNvPr id="7" name="Sottotitolo 2">
            <a:extLst>
              <a:ext uri="{FF2B5EF4-FFF2-40B4-BE49-F238E27FC236}">
                <a16:creationId xmlns:a16="http://schemas.microsoft.com/office/drawing/2014/main" id="{075E9F53-F00F-1D76-7315-D87181B04CDA}"/>
              </a:ext>
            </a:extLst>
          </p:cNvPr>
          <p:cNvSpPr txBox="1">
            <a:spLocks/>
          </p:cNvSpPr>
          <p:nvPr/>
        </p:nvSpPr>
        <p:spPr>
          <a:xfrm>
            <a:off x="175344" y="1195419"/>
            <a:ext cx="5223002" cy="1620926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Un’unica </a:t>
            </a: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regia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, tanti</a:t>
            </a:r>
          </a:p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attori specializzati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B3F6CDBD-2F0F-29C7-3B48-7FF947FC39A0}"/>
              </a:ext>
            </a:extLst>
          </p:cNvPr>
          <p:cNvSpPr/>
          <p:nvPr/>
        </p:nvSpPr>
        <p:spPr>
          <a:xfrm>
            <a:off x="219219" y="2588324"/>
            <a:ext cx="406703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Operiamo lungo l’intera filiera immobiliare attraverso brand verticali e specializzati nei settori del residenziale nuovo e usato, office, retail, industrial-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logistic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e 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hospitality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Ogni brand garantisce qualità e competenza e, insieme, raccontano un’unica visione: costruire valore in ogni fase del percorso immobiliare.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C40348A1-1D4B-2876-50FF-F13153E95ECB}"/>
              </a:ext>
            </a:extLst>
          </p:cNvPr>
          <p:cNvGrpSpPr/>
          <p:nvPr/>
        </p:nvGrpSpPr>
        <p:grpSpPr>
          <a:xfrm>
            <a:off x="7775917" y="-1087486"/>
            <a:ext cx="1473494" cy="1473463"/>
            <a:chOff x="3724134" y="1180926"/>
            <a:chExt cx="1420724" cy="1420695"/>
          </a:xfrm>
        </p:grpSpPr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418909B7-6175-B7F5-E6E1-5C33F6A2EF74}"/>
                </a:ext>
              </a:extLst>
            </p:cNvPr>
            <p:cNvSpPr/>
            <p:nvPr/>
          </p:nvSpPr>
          <p:spPr>
            <a:xfrm>
              <a:off x="3724134" y="1180926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7" name="Elemento grafico 16">
              <a:extLst>
                <a:ext uri="{FF2B5EF4-FFF2-40B4-BE49-F238E27FC236}">
                  <a16:creationId xmlns:a16="http://schemas.microsoft.com/office/drawing/2014/main" id="{50A7627B-A8AD-3076-8495-6351BC8809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07474" y="1789425"/>
              <a:ext cx="1254044" cy="179617"/>
            </a:xfrm>
            <a:prstGeom prst="rect">
              <a:avLst/>
            </a:prstGeom>
          </p:spPr>
        </p:pic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E8C2EAF0-9965-1B85-C3C2-72B19C9CABEC}"/>
              </a:ext>
            </a:extLst>
          </p:cNvPr>
          <p:cNvGrpSpPr/>
          <p:nvPr/>
        </p:nvGrpSpPr>
        <p:grpSpPr>
          <a:xfrm>
            <a:off x="5195745" y="2242485"/>
            <a:ext cx="2373076" cy="2373027"/>
            <a:chOff x="7608653" y="2532722"/>
            <a:chExt cx="1420724" cy="1420695"/>
          </a:xfrm>
        </p:grpSpPr>
        <p:sp>
          <p:nvSpPr>
            <p:cNvPr id="32" name="Ovale 31">
              <a:extLst>
                <a:ext uri="{FF2B5EF4-FFF2-40B4-BE49-F238E27FC236}">
                  <a16:creationId xmlns:a16="http://schemas.microsoft.com/office/drawing/2014/main" id="{CCC149B8-1B8A-C993-D732-80FA59394B94}"/>
                </a:ext>
              </a:extLst>
            </p:cNvPr>
            <p:cNvSpPr/>
            <p:nvPr/>
          </p:nvSpPr>
          <p:spPr>
            <a:xfrm>
              <a:off x="7608653" y="2532722"/>
              <a:ext cx="1420724" cy="1420695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3" name="Elemento grafico 32">
              <a:extLst>
                <a:ext uri="{FF2B5EF4-FFF2-40B4-BE49-F238E27FC236}">
                  <a16:creationId xmlns:a16="http://schemas.microsoft.com/office/drawing/2014/main" id="{DE3662D2-9505-9407-F7BB-BB9D3F2165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82423" y="3004495"/>
              <a:ext cx="873183" cy="427059"/>
            </a:xfrm>
            <a:prstGeom prst="rect">
              <a:avLst/>
            </a:prstGeom>
          </p:spPr>
        </p:pic>
      </p:grp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187B3A19-B94E-D0BC-AAF5-6003CA1CEFBC}"/>
              </a:ext>
            </a:extLst>
          </p:cNvPr>
          <p:cNvGrpSpPr/>
          <p:nvPr/>
        </p:nvGrpSpPr>
        <p:grpSpPr>
          <a:xfrm>
            <a:off x="7954094" y="6431650"/>
            <a:ext cx="1473494" cy="1473463"/>
            <a:chOff x="6932825" y="4836377"/>
            <a:chExt cx="1420724" cy="1420695"/>
          </a:xfrm>
        </p:grpSpPr>
        <p:sp>
          <p:nvSpPr>
            <p:cNvPr id="42" name="Ovale 41">
              <a:extLst>
                <a:ext uri="{FF2B5EF4-FFF2-40B4-BE49-F238E27FC236}">
                  <a16:creationId xmlns:a16="http://schemas.microsoft.com/office/drawing/2014/main" id="{0E5E4518-0906-2F42-EA45-3455499CD4A1}"/>
                </a:ext>
              </a:extLst>
            </p:cNvPr>
            <p:cNvSpPr/>
            <p:nvPr/>
          </p:nvSpPr>
          <p:spPr>
            <a:xfrm>
              <a:off x="6932825" y="4836377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43" name="Elemento grafico 42">
              <a:extLst>
                <a:ext uri="{FF2B5EF4-FFF2-40B4-BE49-F238E27FC236}">
                  <a16:creationId xmlns:a16="http://schemas.microsoft.com/office/drawing/2014/main" id="{4E29C427-117E-CCC1-DD48-D86D49ADC5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3362" y="5478690"/>
              <a:ext cx="1219649" cy="136068"/>
            </a:xfrm>
            <a:prstGeom prst="rect">
              <a:avLst/>
            </a:prstGeom>
          </p:spPr>
        </p:pic>
      </p:grp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EBA2371F-E228-6CB9-1D4A-D9A951BD1704}"/>
              </a:ext>
            </a:extLst>
          </p:cNvPr>
          <p:cNvGrpSpPr/>
          <p:nvPr/>
        </p:nvGrpSpPr>
        <p:grpSpPr>
          <a:xfrm>
            <a:off x="8110907" y="1547233"/>
            <a:ext cx="230790" cy="3925561"/>
            <a:chOff x="8110907" y="1547233"/>
            <a:chExt cx="230790" cy="3925561"/>
          </a:xfrm>
        </p:grpSpPr>
        <p:pic>
          <p:nvPicPr>
            <p:cNvPr id="10" name="Elemento grafico 9">
              <a:extLst>
                <a:ext uri="{FF2B5EF4-FFF2-40B4-BE49-F238E27FC236}">
                  <a16:creationId xmlns:a16="http://schemas.microsoft.com/office/drawing/2014/main" id="{ACE153CC-9001-147F-67F9-9B7841F57C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10907" y="1547233"/>
              <a:ext cx="230790" cy="167124"/>
            </a:xfrm>
            <a:prstGeom prst="rect">
              <a:avLst/>
            </a:prstGeom>
          </p:spPr>
        </p:pic>
        <p:pic>
          <p:nvPicPr>
            <p:cNvPr id="4" name="Elemento grafico 3">
              <a:extLst>
                <a:ext uri="{FF2B5EF4-FFF2-40B4-BE49-F238E27FC236}">
                  <a16:creationId xmlns:a16="http://schemas.microsoft.com/office/drawing/2014/main" id="{90EA5FDA-D4D7-0C82-3EBC-743754B102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10907" y="2084952"/>
              <a:ext cx="230790" cy="167124"/>
            </a:xfrm>
            <a:prstGeom prst="rect">
              <a:avLst/>
            </a:prstGeom>
          </p:spPr>
        </p:pic>
        <p:pic>
          <p:nvPicPr>
            <p:cNvPr id="6" name="Elemento grafico 5">
              <a:extLst>
                <a:ext uri="{FF2B5EF4-FFF2-40B4-BE49-F238E27FC236}">
                  <a16:creationId xmlns:a16="http://schemas.microsoft.com/office/drawing/2014/main" id="{20F6085D-8326-023A-F018-D15A4DB90D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10907" y="2622671"/>
              <a:ext cx="230790" cy="167124"/>
            </a:xfrm>
            <a:prstGeom prst="rect">
              <a:avLst/>
            </a:prstGeom>
          </p:spPr>
        </p:pic>
        <p:pic>
          <p:nvPicPr>
            <p:cNvPr id="9" name="Elemento grafico 8">
              <a:extLst>
                <a:ext uri="{FF2B5EF4-FFF2-40B4-BE49-F238E27FC236}">
                  <a16:creationId xmlns:a16="http://schemas.microsoft.com/office/drawing/2014/main" id="{4BB08A41-1A77-A07C-8F7C-B343AB169A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10907" y="3160390"/>
              <a:ext cx="230790" cy="167124"/>
            </a:xfrm>
            <a:prstGeom prst="rect">
              <a:avLst/>
            </a:prstGeom>
          </p:spPr>
        </p:pic>
        <p:pic>
          <p:nvPicPr>
            <p:cNvPr id="11" name="Elemento grafico 10">
              <a:extLst>
                <a:ext uri="{FF2B5EF4-FFF2-40B4-BE49-F238E27FC236}">
                  <a16:creationId xmlns:a16="http://schemas.microsoft.com/office/drawing/2014/main" id="{0E37CED5-E4A3-455A-A40B-BFECDFB4C7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10907" y="3698110"/>
              <a:ext cx="230790" cy="167124"/>
            </a:xfrm>
            <a:prstGeom prst="rect">
              <a:avLst/>
            </a:prstGeom>
          </p:spPr>
        </p:pic>
        <p:pic>
          <p:nvPicPr>
            <p:cNvPr id="44" name="Elemento grafico 43">
              <a:extLst>
                <a:ext uri="{FF2B5EF4-FFF2-40B4-BE49-F238E27FC236}">
                  <a16:creationId xmlns:a16="http://schemas.microsoft.com/office/drawing/2014/main" id="{9D7D3EFB-0EF2-30FA-1DDC-16B9923379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10907" y="4230231"/>
              <a:ext cx="230790" cy="167124"/>
            </a:xfrm>
            <a:prstGeom prst="rect">
              <a:avLst/>
            </a:prstGeom>
          </p:spPr>
        </p:pic>
        <p:pic>
          <p:nvPicPr>
            <p:cNvPr id="45" name="Elemento grafico 44">
              <a:extLst>
                <a:ext uri="{FF2B5EF4-FFF2-40B4-BE49-F238E27FC236}">
                  <a16:creationId xmlns:a16="http://schemas.microsoft.com/office/drawing/2014/main" id="{AA01A7DF-D3B0-5727-BEE4-F8C53B0D09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10907" y="4767950"/>
              <a:ext cx="230790" cy="167124"/>
            </a:xfrm>
            <a:prstGeom prst="rect">
              <a:avLst/>
            </a:prstGeom>
          </p:spPr>
        </p:pic>
        <p:pic>
          <p:nvPicPr>
            <p:cNvPr id="46" name="Elemento grafico 45">
              <a:extLst>
                <a:ext uri="{FF2B5EF4-FFF2-40B4-BE49-F238E27FC236}">
                  <a16:creationId xmlns:a16="http://schemas.microsoft.com/office/drawing/2014/main" id="{1ADA6C89-623B-4D47-C479-44172C9003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10907" y="5305670"/>
              <a:ext cx="230790" cy="167124"/>
            </a:xfrm>
            <a:prstGeom prst="rect">
              <a:avLst/>
            </a:prstGeom>
          </p:spPr>
        </p:pic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DF0B8422-D160-6616-BD63-3CA80D9D3C33}"/>
              </a:ext>
            </a:extLst>
          </p:cNvPr>
          <p:cNvGrpSpPr/>
          <p:nvPr/>
        </p:nvGrpSpPr>
        <p:grpSpPr>
          <a:xfrm>
            <a:off x="10092874" y="6914249"/>
            <a:ext cx="1473494" cy="1473463"/>
            <a:chOff x="4289608" y="5017582"/>
            <a:chExt cx="1420724" cy="1420695"/>
          </a:xfrm>
        </p:grpSpPr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797F6B38-4179-9FF5-F289-9D8ECF9A85A0}"/>
                </a:ext>
              </a:extLst>
            </p:cNvPr>
            <p:cNvSpPr/>
            <p:nvPr/>
          </p:nvSpPr>
          <p:spPr>
            <a:xfrm>
              <a:off x="4289608" y="5017582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4" name="Elemento grafico 13">
              <a:extLst>
                <a:ext uri="{FF2B5EF4-FFF2-40B4-BE49-F238E27FC236}">
                  <a16:creationId xmlns:a16="http://schemas.microsoft.com/office/drawing/2014/main" id="{6E82E2BC-7E75-76B1-8EA0-1BAB54FBAF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62166" y="5592630"/>
              <a:ext cx="1254530" cy="270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5603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D8D30-4AA7-D4CB-22ED-D8FBE5B01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8">
            <a:extLst>
              <a:ext uri="{FF2B5EF4-FFF2-40B4-BE49-F238E27FC236}">
                <a16:creationId xmlns:a16="http://schemas.microsoft.com/office/drawing/2014/main" id="{33F27983-7A3E-C0F7-D8FD-8A08543C7F8B}"/>
              </a:ext>
            </a:extLst>
          </p:cNvPr>
          <p:cNvSpPr/>
          <p:nvPr/>
        </p:nvSpPr>
        <p:spPr>
          <a:xfrm>
            <a:off x="8378841" y="2321165"/>
            <a:ext cx="3526798" cy="2165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Investimenti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Locazione Commerciale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Advisory</a:t>
            </a: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&amp; </a:t>
            </a:r>
            <a:r>
              <a:rPr lang="it-IT" sz="1400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Valuation</a:t>
            </a:r>
            <a:endParaRPr lang="it-IT" sz="1400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Agency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82C895EC-E9FB-6404-5263-B184C420B258}"/>
              </a:ext>
            </a:extLst>
          </p:cNvPr>
          <p:cNvSpPr/>
          <p:nvPr/>
        </p:nvSpPr>
        <p:spPr>
          <a:xfrm>
            <a:off x="6284175" y="-619458"/>
            <a:ext cx="8097077" cy="8096916"/>
          </a:xfrm>
          <a:prstGeom prst="ellipse">
            <a:avLst/>
          </a:prstGeom>
          <a:noFill/>
          <a:ln>
            <a:solidFill>
              <a:srgbClr val="460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6B33E517-6203-3FAD-EBB4-E0E4CF9D86C3}"/>
              </a:ext>
            </a:extLst>
          </p:cNvPr>
          <p:cNvSpPr txBox="1">
            <a:spLocks/>
          </p:cNvSpPr>
          <p:nvPr/>
        </p:nvSpPr>
        <p:spPr>
          <a:xfrm>
            <a:off x="175344" y="1195419"/>
            <a:ext cx="5223002" cy="1620926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Un’unica </a:t>
            </a: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regia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, tanti</a:t>
            </a:r>
          </a:p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attori specializzati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B3CF742A-9E48-BF69-25F8-9B3D3CC6480B}"/>
              </a:ext>
            </a:extLst>
          </p:cNvPr>
          <p:cNvSpPr/>
          <p:nvPr/>
        </p:nvSpPr>
        <p:spPr>
          <a:xfrm>
            <a:off x="219219" y="2588324"/>
            <a:ext cx="406703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Operiamo lungo l’intera filiera immobiliare attraverso brand verticali e specializzati nei settori del residenziale nuovo e usato, office, retail, industrial-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logistic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e 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hospitality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Ogni brand garantisce qualità e competenza e, insieme, raccontano un’unica visione: costruire valore in ogni fase del percorso immobiliare.</a:t>
            </a:r>
          </a:p>
        </p:txBody>
      </p:sp>
      <p:grpSp>
        <p:nvGrpSpPr>
          <p:cNvPr id="69" name="Gruppo 68">
            <a:extLst>
              <a:ext uri="{FF2B5EF4-FFF2-40B4-BE49-F238E27FC236}">
                <a16:creationId xmlns:a16="http://schemas.microsoft.com/office/drawing/2014/main" id="{28B3B7B9-7B41-C537-6394-C020858E1F69}"/>
              </a:ext>
            </a:extLst>
          </p:cNvPr>
          <p:cNvGrpSpPr/>
          <p:nvPr/>
        </p:nvGrpSpPr>
        <p:grpSpPr>
          <a:xfrm>
            <a:off x="8110907" y="2599607"/>
            <a:ext cx="230790" cy="1780281"/>
            <a:chOff x="8110907" y="1547233"/>
            <a:chExt cx="230790" cy="1780281"/>
          </a:xfrm>
        </p:grpSpPr>
        <p:pic>
          <p:nvPicPr>
            <p:cNvPr id="10" name="Elemento grafico 9">
              <a:extLst>
                <a:ext uri="{FF2B5EF4-FFF2-40B4-BE49-F238E27FC236}">
                  <a16:creationId xmlns:a16="http://schemas.microsoft.com/office/drawing/2014/main" id="{A1FF798D-9874-7175-1139-61DA63734D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10907" y="1547233"/>
              <a:ext cx="230790" cy="167124"/>
            </a:xfrm>
            <a:prstGeom prst="rect">
              <a:avLst/>
            </a:prstGeom>
          </p:spPr>
        </p:pic>
        <p:pic>
          <p:nvPicPr>
            <p:cNvPr id="4" name="Elemento grafico 3">
              <a:extLst>
                <a:ext uri="{FF2B5EF4-FFF2-40B4-BE49-F238E27FC236}">
                  <a16:creationId xmlns:a16="http://schemas.microsoft.com/office/drawing/2014/main" id="{61971B53-E0C8-6B88-2C5F-FCF38909D6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10907" y="2084952"/>
              <a:ext cx="230790" cy="167124"/>
            </a:xfrm>
            <a:prstGeom prst="rect">
              <a:avLst/>
            </a:prstGeom>
          </p:spPr>
        </p:pic>
        <p:pic>
          <p:nvPicPr>
            <p:cNvPr id="6" name="Elemento grafico 5">
              <a:extLst>
                <a:ext uri="{FF2B5EF4-FFF2-40B4-BE49-F238E27FC236}">
                  <a16:creationId xmlns:a16="http://schemas.microsoft.com/office/drawing/2014/main" id="{ED46B9E4-2307-DAC7-6AD7-B986842707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10907" y="2622671"/>
              <a:ext cx="230790" cy="167124"/>
            </a:xfrm>
            <a:prstGeom prst="rect">
              <a:avLst/>
            </a:prstGeom>
          </p:spPr>
        </p:pic>
        <p:pic>
          <p:nvPicPr>
            <p:cNvPr id="9" name="Elemento grafico 8">
              <a:extLst>
                <a:ext uri="{FF2B5EF4-FFF2-40B4-BE49-F238E27FC236}">
                  <a16:creationId xmlns:a16="http://schemas.microsoft.com/office/drawing/2014/main" id="{FF28F1D9-6BF1-8437-F918-29F78761FB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10907" y="3160390"/>
              <a:ext cx="230790" cy="167124"/>
            </a:xfrm>
            <a:prstGeom prst="rect">
              <a:avLst/>
            </a:prstGeom>
          </p:spPr>
        </p:pic>
      </p:grp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CF524A97-C2EA-7937-9A33-6116382E1F94}"/>
              </a:ext>
            </a:extLst>
          </p:cNvPr>
          <p:cNvGrpSpPr/>
          <p:nvPr/>
        </p:nvGrpSpPr>
        <p:grpSpPr>
          <a:xfrm>
            <a:off x="5196340" y="2242483"/>
            <a:ext cx="2373076" cy="2373027"/>
            <a:chOff x="6932825" y="4836377"/>
            <a:chExt cx="1420724" cy="1420695"/>
          </a:xfrm>
        </p:grpSpPr>
        <p:sp>
          <p:nvSpPr>
            <p:cNvPr id="52" name="Ovale 51">
              <a:extLst>
                <a:ext uri="{FF2B5EF4-FFF2-40B4-BE49-F238E27FC236}">
                  <a16:creationId xmlns:a16="http://schemas.microsoft.com/office/drawing/2014/main" id="{EEA5CD35-1455-4D7A-6941-6B097A66B73D}"/>
                </a:ext>
              </a:extLst>
            </p:cNvPr>
            <p:cNvSpPr/>
            <p:nvPr/>
          </p:nvSpPr>
          <p:spPr>
            <a:xfrm>
              <a:off x="6932825" y="4836377"/>
              <a:ext cx="1420724" cy="1420695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53" name="Elemento grafico 52">
              <a:extLst>
                <a:ext uri="{FF2B5EF4-FFF2-40B4-BE49-F238E27FC236}">
                  <a16:creationId xmlns:a16="http://schemas.microsoft.com/office/drawing/2014/main" id="{6E99D4C9-BCC7-522A-10B4-E970DADB46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33362" y="5478690"/>
              <a:ext cx="1219649" cy="136068"/>
            </a:xfrm>
            <a:prstGeom prst="rect">
              <a:avLst/>
            </a:prstGeom>
          </p:spPr>
        </p:pic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1EB87F62-2014-9E5A-035F-34DE5CA9E7FF}"/>
              </a:ext>
            </a:extLst>
          </p:cNvPr>
          <p:cNvGrpSpPr/>
          <p:nvPr/>
        </p:nvGrpSpPr>
        <p:grpSpPr>
          <a:xfrm>
            <a:off x="7954093" y="6431645"/>
            <a:ext cx="1473494" cy="1473463"/>
            <a:chOff x="4289608" y="5017582"/>
            <a:chExt cx="1420724" cy="1420695"/>
          </a:xfrm>
        </p:grpSpPr>
        <p:sp>
          <p:nvSpPr>
            <p:cNvPr id="58" name="Ovale 57">
              <a:extLst>
                <a:ext uri="{FF2B5EF4-FFF2-40B4-BE49-F238E27FC236}">
                  <a16:creationId xmlns:a16="http://schemas.microsoft.com/office/drawing/2014/main" id="{372E93B2-9917-4526-675A-58DC03ABDE7C}"/>
                </a:ext>
              </a:extLst>
            </p:cNvPr>
            <p:cNvSpPr/>
            <p:nvPr/>
          </p:nvSpPr>
          <p:spPr>
            <a:xfrm>
              <a:off x="4289608" y="5017582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59" name="Elemento grafico 58">
              <a:extLst>
                <a:ext uri="{FF2B5EF4-FFF2-40B4-BE49-F238E27FC236}">
                  <a16:creationId xmlns:a16="http://schemas.microsoft.com/office/drawing/2014/main" id="{59DEA475-7437-D75E-7E91-D81145D372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62166" y="5592630"/>
              <a:ext cx="1254530" cy="270597"/>
            </a:xfrm>
            <a:prstGeom prst="rect">
              <a:avLst/>
            </a:prstGeom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BD46766B-D69C-C69C-0146-340ABEC0A376}"/>
              </a:ext>
            </a:extLst>
          </p:cNvPr>
          <p:cNvGrpSpPr/>
          <p:nvPr/>
        </p:nvGrpSpPr>
        <p:grpSpPr>
          <a:xfrm>
            <a:off x="7793388" y="-1096799"/>
            <a:ext cx="1473494" cy="1473463"/>
            <a:chOff x="7608653" y="2532722"/>
            <a:chExt cx="1420724" cy="1420695"/>
          </a:xfrm>
        </p:grpSpPr>
        <p:sp>
          <p:nvSpPr>
            <p:cNvPr id="64" name="Ovale 63">
              <a:extLst>
                <a:ext uri="{FF2B5EF4-FFF2-40B4-BE49-F238E27FC236}">
                  <a16:creationId xmlns:a16="http://schemas.microsoft.com/office/drawing/2014/main" id="{7F9B9D70-6DE4-7B43-150A-A3B56BCE1DB1}"/>
                </a:ext>
              </a:extLst>
            </p:cNvPr>
            <p:cNvSpPr/>
            <p:nvPr/>
          </p:nvSpPr>
          <p:spPr>
            <a:xfrm>
              <a:off x="7608653" y="2532722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65" name="Elemento grafico 64">
              <a:extLst>
                <a:ext uri="{FF2B5EF4-FFF2-40B4-BE49-F238E27FC236}">
                  <a16:creationId xmlns:a16="http://schemas.microsoft.com/office/drawing/2014/main" id="{BB344625-73D7-52ED-E508-49FBC9575B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82423" y="3004495"/>
              <a:ext cx="873183" cy="427059"/>
            </a:xfrm>
            <a:prstGeom prst="rect">
              <a:avLst/>
            </a:prstGeom>
          </p:spPr>
        </p:pic>
      </p:grpSp>
      <p:grpSp>
        <p:nvGrpSpPr>
          <p:cNvPr id="70" name="Gruppo 69">
            <a:extLst>
              <a:ext uri="{FF2B5EF4-FFF2-40B4-BE49-F238E27FC236}">
                <a16:creationId xmlns:a16="http://schemas.microsoft.com/office/drawing/2014/main" id="{E77FDD3B-B16B-4A19-4ED0-04E2B5FD4FFE}"/>
              </a:ext>
            </a:extLst>
          </p:cNvPr>
          <p:cNvGrpSpPr/>
          <p:nvPr/>
        </p:nvGrpSpPr>
        <p:grpSpPr>
          <a:xfrm>
            <a:off x="12311370" y="7168376"/>
            <a:ext cx="1473494" cy="1473463"/>
            <a:chOff x="2960010" y="3317385"/>
            <a:chExt cx="1420724" cy="1420695"/>
          </a:xfrm>
        </p:grpSpPr>
        <p:sp>
          <p:nvSpPr>
            <p:cNvPr id="71" name="Ovale 70">
              <a:extLst>
                <a:ext uri="{FF2B5EF4-FFF2-40B4-BE49-F238E27FC236}">
                  <a16:creationId xmlns:a16="http://schemas.microsoft.com/office/drawing/2014/main" id="{97E7080B-555F-9E40-21E4-060D8132B0AC}"/>
                </a:ext>
              </a:extLst>
            </p:cNvPr>
            <p:cNvSpPr/>
            <p:nvPr/>
          </p:nvSpPr>
          <p:spPr>
            <a:xfrm>
              <a:off x="2960010" y="3317385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72" name="Elemento grafico 71">
              <a:extLst>
                <a:ext uri="{FF2B5EF4-FFF2-40B4-BE49-F238E27FC236}">
                  <a16:creationId xmlns:a16="http://schemas.microsoft.com/office/drawing/2014/main" id="{2CA3A871-4D62-EFD5-DAB4-DE07919A45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31806" y="3904075"/>
              <a:ext cx="1077132" cy="169463"/>
            </a:xfrm>
            <a:prstGeom prst="rect">
              <a:avLst/>
            </a:prstGeom>
          </p:spPr>
        </p:pic>
      </p:grpSp>
      <p:grpSp>
        <p:nvGrpSpPr>
          <p:cNvPr id="73" name="Gruppo 72">
            <a:extLst>
              <a:ext uri="{FF2B5EF4-FFF2-40B4-BE49-F238E27FC236}">
                <a16:creationId xmlns:a16="http://schemas.microsoft.com/office/drawing/2014/main" id="{5250BC55-48D5-4859-F456-0FF506106B42}"/>
              </a:ext>
            </a:extLst>
          </p:cNvPr>
          <p:cNvGrpSpPr/>
          <p:nvPr/>
        </p:nvGrpSpPr>
        <p:grpSpPr>
          <a:xfrm>
            <a:off x="12489547" y="-1859506"/>
            <a:ext cx="1473494" cy="1473463"/>
            <a:chOff x="3724134" y="1180926"/>
            <a:chExt cx="1420724" cy="1420695"/>
          </a:xfrm>
        </p:grpSpPr>
        <p:sp>
          <p:nvSpPr>
            <p:cNvPr id="74" name="Ovale 73">
              <a:extLst>
                <a:ext uri="{FF2B5EF4-FFF2-40B4-BE49-F238E27FC236}">
                  <a16:creationId xmlns:a16="http://schemas.microsoft.com/office/drawing/2014/main" id="{F6755114-59CF-785E-69BC-36555D287B9B}"/>
                </a:ext>
              </a:extLst>
            </p:cNvPr>
            <p:cNvSpPr/>
            <p:nvPr/>
          </p:nvSpPr>
          <p:spPr>
            <a:xfrm>
              <a:off x="3724134" y="1180926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75" name="Elemento grafico 74">
              <a:extLst>
                <a:ext uri="{FF2B5EF4-FFF2-40B4-BE49-F238E27FC236}">
                  <a16:creationId xmlns:a16="http://schemas.microsoft.com/office/drawing/2014/main" id="{A9A2AC72-C0DF-D659-CBF6-577DD72E4D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07474" y="1789425"/>
              <a:ext cx="1254044" cy="1796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647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D1D10-D2DA-2ACC-EB1B-CF68029B5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e 4">
            <a:extLst>
              <a:ext uri="{FF2B5EF4-FFF2-40B4-BE49-F238E27FC236}">
                <a16:creationId xmlns:a16="http://schemas.microsoft.com/office/drawing/2014/main" id="{0813166A-2D27-1F2E-1D77-865247475289}"/>
              </a:ext>
            </a:extLst>
          </p:cNvPr>
          <p:cNvSpPr/>
          <p:nvPr/>
        </p:nvSpPr>
        <p:spPr>
          <a:xfrm>
            <a:off x="6284175" y="-619458"/>
            <a:ext cx="8097077" cy="8096916"/>
          </a:xfrm>
          <a:prstGeom prst="ellipse">
            <a:avLst/>
          </a:prstGeom>
          <a:noFill/>
          <a:ln>
            <a:solidFill>
              <a:srgbClr val="460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D438264F-8BEE-53C4-8658-0803EC5A467E}"/>
              </a:ext>
            </a:extLst>
          </p:cNvPr>
          <p:cNvSpPr txBox="1">
            <a:spLocks/>
          </p:cNvSpPr>
          <p:nvPr/>
        </p:nvSpPr>
        <p:spPr>
          <a:xfrm>
            <a:off x="175344" y="1195419"/>
            <a:ext cx="5223002" cy="1620926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Un’unica </a:t>
            </a: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regia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, tanti</a:t>
            </a:r>
          </a:p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attori specializzati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0D13A4C3-8957-08B3-9569-C8A819501C3E}"/>
              </a:ext>
            </a:extLst>
          </p:cNvPr>
          <p:cNvSpPr/>
          <p:nvPr/>
        </p:nvSpPr>
        <p:spPr>
          <a:xfrm>
            <a:off x="219219" y="2588324"/>
            <a:ext cx="406703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Operiamo lungo l’intera filiera immobiliare attraverso brand verticali e specializzati nei settori del residenziale nuovo e usato, office, retail, industrial-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logistic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e 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hospitality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Ogni brand garantisce qualità e competenza e, insieme, raccontano un’unica visione: costruire valore in ogni fase del percorso immobiliare.</a:t>
            </a:r>
          </a:p>
        </p:txBody>
      </p:sp>
      <p:sp>
        <p:nvSpPr>
          <p:cNvPr id="2" name="Rectangle 108">
            <a:extLst>
              <a:ext uri="{FF2B5EF4-FFF2-40B4-BE49-F238E27FC236}">
                <a16:creationId xmlns:a16="http://schemas.microsoft.com/office/drawing/2014/main" id="{F54B2DED-7EEE-64B8-4027-E104838BFE07}"/>
              </a:ext>
            </a:extLst>
          </p:cNvPr>
          <p:cNvSpPr/>
          <p:nvPr/>
        </p:nvSpPr>
        <p:spPr>
          <a:xfrm>
            <a:off x="8378841" y="2588324"/>
            <a:ext cx="3526798" cy="1627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Agency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Valutazioni immobiliari</a:t>
            </a:r>
          </a:p>
          <a:p>
            <a:pPr lvl="0">
              <a:lnSpc>
                <a:spcPct val="250000"/>
              </a:lnSpc>
              <a:defRPr/>
            </a:pPr>
            <a:r>
              <a:rPr lang="it-IT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Assistenza mutuo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F1750CF0-9081-CFA3-7468-B2DDC5065DD0}"/>
              </a:ext>
            </a:extLst>
          </p:cNvPr>
          <p:cNvGrpSpPr/>
          <p:nvPr/>
        </p:nvGrpSpPr>
        <p:grpSpPr>
          <a:xfrm>
            <a:off x="10741153" y="-1783845"/>
            <a:ext cx="1473494" cy="1473463"/>
            <a:chOff x="2960010" y="3317385"/>
            <a:chExt cx="1420724" cy="1420695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0BC5D842-0EC0-BC74-FEEC-D05104F2E319}"/>
                </a:ext>
              </a:extLst>
            </p:cNvPr>
            <p:cNvSpPr/>
            <p:nvPr/>
          </p:nvSpPr>
          <p:spPr>
            <a:xfrm>
              <a:off x="2960010" y="3317385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3" name="Elemento grafico 12">
              <a:extLst>
                <a:ext uri="{FF2B5EF4-FFF2-40B4-BE49-F238E27FC236}">
                  <a16:creationId xmlns:a16="http://schemas.microsoft.com/office/drawing/2014/main" id="{46EEFB5C-07CC-9512-39CE-B540B8DC45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31806" y="3904075"/>
              <a:ext cx="1077132" cy="169463"/>
            </a:xfrm>
            <a:prstGeom prst="rect">
              <a:avLst/>
            </a:prstGeom>
          </p:spPr>
        </p:pic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CE5D7465-5FCE-E504-F084-7DD805EC7D3B}"/>
              </a:ext>
            </a:extLst>
          </p:cNvPr>
          <p:cNvGrpSpPr/>
          <p:nvPr/>
        </p:nvGrpSpPr>
        <p:grpSpPr>
          <a:xfrm>
            <a:off x="8110907" y="2866766"/>
            <a:ext cx="230790" cy="1242562"/>
            <a:chOff x="8110907" y="1547233"/>
            <a:chExt cx="230790" cy="1242562"/>
          </a:xfrm>
        </p:grpSpPr>
        <p:pic>
          <p:nvPicPr>
            <p:cNvPr id="21" name="Elemento grafico 20">
              <a:extLst>
                <a:ext uri="{FF2B5EF4-FFF2-40B4-BE49-F238E27FC236}">
                  <a16:creationId xmlns:a16="http://schemas.microsoft.com/office/drawing/2014/main" id="{42282D07-7E2A-352B-3DF5-39384F6624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10907" y="1547233"/>
              <a:ext cx="230790" cy="167124"/>
            </a:xfrm>
            <a:prstGeom prst="rect">
              <a:avLst/>
            </a:prstGeom>
          </p:spPr>
        </p:pic>
        <p:pic>
          <p:nvPicPr>
            <p:cNvPr id="22" name="Elemento grafico 21">
              <a:extLst>
                <a:ext uri="{FF2B5EF4-FFF2-40B4-BE49-F238E27FC236}">
                  <a16:creationId xmlns:a16="http://schemas.microsoft.com/office/drawing/2014/main" id="{BF19D98F-31E9-E604-E9A8-7E503FBFE5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10907" y="2084952"/>
              <a:ext cx="230790" cy="167124"/>
            </a:xfrm>
            <a:prstGeom prst="rect">
              <a:avLst/>
            </a:prstGeom>
          </p:spPr>
        </p:pic>
        <p:pic>
          <p:nvPicPr>
            <p:cNvPr id="23" name="Elemento grafico 22">
              <a:extLst>
                <a:ext uri="{FF2B5EF4-FFF2-40B4-BE49-F238E27FC236}">
                  <a16:creationId xmlns:a16="http://schemas.microsoft.com/office/drawing/2014/main" id="{3293CEB4-5165-90B3-E560-A5C993D936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10907" y="2622671"/>
              <a:ext cx="230790" cy="167124"/>
            </a:xfrm>
            <a:prstGeom prst="rect">
              <a:avLst/>
            </a:prstGeom>
          </p:spPr>
        </p:pic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4474209C-6ACD-C9A7-6433-7DBEC959DD41}"/>
              </a:ext>
            </a:extLst>
          </p:cNvPr>
          <p:cNvGrpSpPr/>
          <p:nvPr/>
        </p:nvGrpSpPr>
        <p:grpSpPr>
          <a:xfrm>
            <a:off x="12490310" y="-1995803"/>
            <a:ext cx="1473494" cy="1473463"/>
            <a:chOff x="7608653" y="2532722"/>
            <a:chExt cx="1420724" cy="1420695"/>
          </a:xfrm>
        </p:grpSpPr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004962B7-F5FA-E332-9A20-597DED349E31}"/>
                </a:ext>
              </a:extLst>
            </p:cNvPr>
            <p:cNvSpPr/>
            <p:nvPr/>
          </p:nvSpPr>
          <p:spPr>
            <a:xfrm>
              <a:off x="7608653" y="2532722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28" name="Elemento grafico 27">
              <a:extLst>
                <a:ext uri="{FF2B5EF4-FFF2-40B4-BE49-F238E27FC236}">
                  <a16:creationId xmlns:a16="http://schemas.microsoft.com/office/drawing/2014/main" id="{66DFF2DD-9FD5-923C-17F5-704AB3ECBA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82423" y="3004495"/>
              <a:ext cx="873183" cy="427059"/>
            </a:xfrm>
            <a:prstGeom prst="rect">
              <a:avLst/>
            </a:prstGeom>
          </p:spPr>
        </p:pic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01E5028-B904-06E8-E018-000551B40AEA}"/>
              </a:ext>
            </a:extLst>
          </p:cNvPr>
          <p:cNvGrpSpPr/>
          <p:nvPr/>
        </p:nvGrpSpPr>
        <p:grpSpPr>
          <a:xfrm>
            <a:off x="5198617" y="2246668"/>
            <a:ext cx="2373076" cy="2373027"/>
            <a:chOff x="4289608" y="5017582"/>
            <a:chExt cx="1420724" cy="1420695"/>
          </a:xfrm>
        </p:grpSpPr>
        <p:sp>
          <p:nvSpPr>
            <p:cNvPr id="31" name="Ovale 30">
              <a:extLst>
                <a:ext uri="{FF2B5EF4-FFF2-40B4-BE49-F238E27FC236}">
                  <a16:creationId xmlns:a16="http://schemas.microsoft.com/office/drawing/2014/main" id="{68339DDB-A083-B503-8924-E6631F4564BB}"/>
                </a:ext>
              </a:extLst>
            </p:cNvPr>
            <p:cNvSpPr/>
            <p:nvPr/>
          </p:nvSpPr>
          <p:spPr>
            <a:xfrm>
              <a:off x="4289608" y="5017582"/>
              <a:ext cx="1420724" cy="1420695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2" name="Elemento grafico 31">
              <a:extLst>
                <a:ext uri="{FF2B5EF4-FFF2-40B4-BE49-F238E27FC236}">
                  <a16:creationId xmlns:a16="http://schemas.microsoft.com/office/drawing/2014/main" id="{359C0C8D-06F0-727A-514A-9996C6CC2B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62166" y="5592630"/>
              <a:ext cx="1254530" cy="270597"/>
            </a:xfrm>
            <a:prstGeom prst="rect">
              <a:avLst/>
            </a:prstGeom>
          </p:spPr>
        </p:pic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7C7E4487-F197-9911-C6E5-E9211751CC93}"/>
              </a:ext>
            </a:extLst>
          </p:cNvPr>
          <p:cNvGrpSpPr/>
          <p:nvPr/>
        </p:nvGrpSpPr>
        <p:grpSpPr>
          <a:xfrm>
            <a:off x="7943162" y="6431645"/>
            <a:ext cx="1473494" cy="1473463"/>
            <a:chOff x="2960010" y="3317385"/>
            <a:chExt cx="1420724" cy="1420695"/>
          </a:xfrm>
        </p:grpSpPr>
        <p:sp>
          <p:nvSpPr>
            <p:cNvPr id="34" name="Ovale 33">
              <a:extLst>
                <a:ext uri="{FF2B5EF4-FFF2-40B4-BE49-F238E27FC236}">
                  <a16:creationId xmlns:a16="http://schemas.microsoft.com/office/drawing/2014/main" id="{BCA78F0C-CB4B-36AF-9B79-EC2561ADDBA8}"/>
                </a:ext>
              </a:extLst>
            </p:cNvPr>
            <p:cNvSpPr/>
            <p:nvPr/>
          </p:nvSpPr>
          <p:spPr>
            <a:xfrm>
              <a:off x="2960010" y="3317385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6" name="Elemento grafico 35">
              <a:extLst>
                <a:ext uri="{FF2B5EF4-FFF2-40B4-BE49-F238E27FC236}">
                  <a16:creationId xmlns:a16="http://schemas.microsoft.com/office/drawing/2014/main" id="{709B7B48-71B3-5BBA-8201-7DE7505F62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31806" y="3904075"/>
              <a:ext cx="1077132" cy="169463"/>
            </a:xfrm>
            <a:prstGeom prst="rect">
              <a:avLst/>
            </a:prstGeom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4CFBF3CE-8CE0-9B26-D199-DFE58B48BFDE}"/>
              </a:ext>
            </a:extLst>
          </p:cNvPr>
          <p:cNvGrpSpPr/>
          <p:nvPr/>
        </p:nvGrpSpPr>
        <p:grpSpPr>
          <a:xfrm>
            <a:off x="7793388" y="-1099974"/>
            <a:ext cx="1473494" cy="1473463"/>
            <a:chOff x="6932825" y="4836377"/>
            <a:chExt cx="1420724" cy="1420695"/>
          </a:xfrm>
        </p:grpSpPr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2166A7EB-A78A-1FEC-1A1B-17C12B0F7F61}"/>
                </a:ext>
              </a:extLst>
            </p:cNvPr>
            <p:cNvSpPr/>
            <p:nvPr/>
          </p:nvSpPr>
          <p:spPr>
            <a:xfrm>
              <a:off x="6932825" y="4836377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9" name="Elemento grafico 38">
              <a:extLst>
                <a:ext uri="{FF2B5EF4-FFF2-40B4-BE49-F238E27FC236}">
                  <a16:creationId xmlns:a16="http://schemas.microsoft.com/office/drawing/2014/main" id="{6C97DA54-F35B-573B-43F5-6980A2C2A9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33362" y="5478690"/>
              <a:ext cx="1219649" cy="136068"/>
            </a:xfrm>
            <a:prstGeom prst="rect">
              <a:avLst/>
            </a:prstGeom>
          </p:spPr>
        </p:pic>
      </p:grp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24914EF5-D7B5-6395-3839-6943F6B0C024}"/>
              </a:ext>
            </a:extLst>
          </p:cNvPr>
          <p:cNvGrpSpPr/>
          <p:nvPr/>
        </p:nvGrpSpPr>
        <p:grpSpPr>
          <a:xfrm>
            <a:off x="12192000" y="7380340"/>
            <a:ext cx="1473494" cy="1473463"/>
            <a:chOff x="3724134" y="1180926"/>
            <a:chExt cx="1420724" cy="1420695"/>
          </a:xfrm>
        </p:grpSpPr>
        <p:sp>
          <p:nvSpPr>
            <p:cNvPr id="44" name="Ovale 43">
              <a:extLst>
                <a:ext uri="{FF2B5EF4-FFF2-40B4-BE49-F238E27FC236}">
                  <a16:creationId xmlns:a16="http://schemas.microsoft.com/office/drawing/2014/main" id="{531C2C66-E1B9-8611-3991-7BB386D2F7C0}"/>
                </a:ext>
              </a:extLst>
            </p:cNvPr>
            <p:cNvSpPr/>
            <p:nvPr/>
          </p:nvSpPr>
          <p:spPr>
            <a:xfrm>
              <a:off x="3724134" y="1180926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45" name="Elemento grafico 44">
              <a:extLst>
                <a:ext uri="{FF2B5EF4-FFF2-40B4-BE49-F238E27FC236}">
                  <a16:creationId xmlns:a16="http://schemas.microsoft.com/office/drawing/2014/main" id="{755DCA61-FAC5-CF4B-D181-749F12094C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07474" y="1789425"/>
              <a:ext cx="1254044" cy="1796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4847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0FF81-6213-1763-D67C-DEC8BAC7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e 4">
            <a:extLst>
              <a:ext uri="{FF2B5EF4-FFF2-40B4-BE49-F238E27FC236}">
                <a16:creationId xmlns:a16="http://schemas.microsoft.com/office/drawing/2014/main" id="{5C447EB4-A894-203E-CEB5-7D270637C557}"/>
              </a:ext>
            </a:extLst>
          </p:cNvPr>
          <p:cNvSpPr/>
          <p:nvPr/>
        </p:nvSpPr>
        <p:spPr>
          <a:xfrm>
            <a:off x="6284175" y="-619458"/>
            <a:ext cx="8097077" cy="8096916"/>
          </a:xfrm>
          <a:prstGeom prst="ellipse">
            <a:avLst/>
          </a:prstGeom>
          <a:noFill/>
          <a:ln>
            <a:solidFill>
              <a:srgbClr val="460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B551258B-4BE3-44FD-0A39-4430F2E5E949}"/>
              </a:ext>
            </a:extLst>
          </p:cNvPr>
          <p:cNvSpPr txBox="1">
            <a:spLocks/>
          </p:cNvSpPr>
          <p:nvPr/>
        </p:nvSpPr>
        <p:spPr>
          <a:xfrm>
            <a:off x="175344" y="1195419"/>
            <a:ext cx="5223002" cy="1620926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Un’unica </a:t>
            </a: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regia</a:t>
            </a: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, tanti</a:t>
            </a:r>
          </a:p>
          <a:p>
            <a:pPr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attori specializzati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63AB0448-0FB6-43F6-498C-B12B22DB4164}"/>
              </a:ext>
            </a:extLst>
          </p:cNvPr>
          <p:cNvSpPr/>
          <p:nvPr/>
        </p:nvSpPr>
        <p:spPr>
          <a:xfrm>
            <a:off x="219219" y="2588324"/>
            <a:ext cx="406703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Operiamo lungo l’intera filiera immobiliare attraverso brand verticali e specializzati nei settori del residenziale nuovo e usato, office, retail, industrial-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logistic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e </a:t>
            </a:r>
            <a:r>
              <a:rPr lang="it-IT" dirty="0" err="1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hospitality</a:t>
            </a: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Ogni brand garantisce qualità e competenza e, insieme, raccontano un’unica visione: costruire valore in ogni fase del percorso immobiliare.</a:t>
            </a:r>
          </a:p>
        </p:txBody>
      </p:sp>
      <p:sp>
        <p:nvSpPr>
          <p:cNvPr id="2" name="Rectangle 108">
            <a:extLst>
              <a:ext uri="{FF2B5EF4-FFF2-40B4-BE49-F238E27FC236}">
                <a16:creationId xmlns:a16="http://schemas.microsoft.com/office/drawing/2014/main" id="{22FA77B0-BEE2-192D-67E5-6524D75972B6}"/>
              </a:ext>
            </a:extLst>
          </p:cNvPr>
          <p:cNvSpPr/>
          <p:nvPr/>
        </p:nvSpPr>
        <p:spPr>
          <a:xfrm>
            <a:off x="8378841" y="2588324"/>
            <a:ext cx="3526798" cy="1627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50000"/>
              </a:lnSpc>
              <a:defRPr/>
            </a:pPr>
            <a:r>
              <a:rPr lang="en-US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Agency</a:t>
            </a:r>
          </a:p>
          <a:p>
            <a:pPr lvl="0">
              <a:lnSpc>
                <a:spcPct val="250000"/>
              </a:lnSpc>
              <a:defRPr/>
            </a:pPr>
            <a:r>
              <a:rPr lang="en-US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Advisory &amp; Valuation</a:t>
            </a:r>
          </a:p>
          <a:p>
            <a:pPr lvl="0">
              <a:lnSpc>
                <a:spcPct val="250000"/>
              </a:lnSpc>
              <a:defRPr/>
            </a:pPr>
            <a:r>
              <a:rPr lang="en-US" sz="1400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Capital Market</a:t>
            </a:r>
            <a:endParaRPr lang="it-IT" sz="1400" dirty="0">
              <a:solidFill>
                <a:srgbClr val="460E1D"/>
              </a:solidFill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6851BFA-A28D-EC96-4D91-ED8DF99451E7}"/>
              </a:ext>
            </a:extLst>
          </p:cNvPr>
          <p:cNvGrpSpPr/>
          <p:nvPr/>
        </p:nvGrpSpPr>
        <p:grpSpPr>
          <a:xfrm>
            <a:off x="10741153" y="-1783845"/>
            <a:ext cx="1473494" cy="1473463"/>
            <a:chOff x="2960010" y="3317385"/>
            <a:chExt cx="1420724" cy="1420695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97E2E1AA-01FC-C2B4-C724-BBF95FE19D76}"/>
                </a:ext>
              </a:extLst>
            </p:cNvPr>
            <p:cNvSpPr/>
            <p:nvPr/>
          </p:nvSpPr>
          <p:spPr>
            <a:xfrm>
              <a:off x="2960010" y="3317385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3" name="Elemento grafico 12">
              <a:extLst>
                <a:ext uri="{FF2B5EF4-FFF2-40B4-BE49-F238E27FC236}">
                  <a16:creationId xmlns:a16="http://schemas.microsoft.com/office/drawing/2014/main" id="{88C07FBA-DD4B-C334-6DEC-1FD9484244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31806" y="3904075"/>
              <a:ext cx="1077132" cy="169463"/>
            </a:xfrm>
            <a:prstGeom prst="rect">
              <a:avLst/>
            </a:prstGeom>
          </p:spPr>
        </p:pic>
      </p:grpSp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045C6CF0-73B7-C479-FF6A-79B690351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0907" y="2866766"/>
            <a:ext cx="230790" cy="167124"/>
          </a:xfrm>
          <a:prstGeom prst="rect">
            <a:avLst/>
          </a:prstGeom>
        </p:spPr>
      </p:pic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84ABCA2A-2CEE-1EC3-582A-3C6D7F909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0907" y="3404485"/>
            <a:ext cx="230790" cy="167124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0EE6109A-81EC-7BD8-7822-5A255B5F2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0907" y="3942204"/>
            <a:ext cx="230790" cy="167124"/>
          </a:xfrm>
          <a:prstGeom prst="rect">
            <a:avLst/>
          </a:prstGeom>
        </p:spPr>
      </p:pic>
      <p:grpSp>
        <p:nvGrpSpPr>
          <p:cNvPr id="26" name="Gruppo 25">
            <a:extLst>
              <a:ext uri="{FF2B5EF4-FFF2-40B4-BE49-F238E27FC236}">
                <a16:creationId xmlns:a16="http://schemas.microsoft.com/office/drawing/2014/main" id="{751540EC-2507-ADD6-C8BF-BCA2EA49B64D}"/>
              </a:ext>
            </a:extLst>
          </p:cNvPr>
          <p:cNvGrpSpPr/>
          <p:nvPr/>
        </p:nvGrpSpPr>
        <p:grpSpPr>
          <a:xfrm>
            <a:off x="12490310" y="-1995803"/>
            <a:ext cx="1473494" cy="1473463"/>
            <a:chOff x="7608653" y="2532722"/>
            <a:chExt cx="1420724" cy="1420695"/>
          </a:xfrm>
        </p:grpSpPr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8DABD36B-A6A8-7673-59DE-75FDEAFFB4C6}"/>
                </a:ext>
              </a:extLst>
            </p:cNvPr>
            <p:cNvSpPr/>
            <p:nvPr/>
          </p:nvSpPr>
          <p:spPr>
            <a:xfrm>
              <a:off x="7608653" y="2532722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28" name="Elemento grafico 27">
              <a:extLst>
                <a:ext uri="{FF2B5EF4-FFF2-40B4-BE49-F238E27FC236}">
                  <a16:creationId xmlns:a16="http://schemas.microsoft.com/office/drawing/2014/main" id="{107A6FC8-6259-BBAF-A6BE-C496EA4698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82423" y="3004495"/>
              <a:ext cx="873183" cy="427059"/>
            </a:xfrm>
            <a:prstGeom prst="rect">
              <a:avLst/>
            </a:prstGeom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EC084130-18C2-EFB2-20BA-B93648CE0A4D}"/>
              </a:ext>
            </a:extLst>
          </p:cNvPr>
          <p:cNvGrpSpPr/>
          <p:nvPr/>
        </p:nvGrpSpPr>
        <p:grpSpPr>
          <a:xfrm>
            <a:off x="10718506" y="-2314985"/>
            <a:ext cx="1473494" cy="1473463"/>
            <a:chOff x="6932825" y="4836377"/>
            <a:chExt cx="1420724" cy="1420695"/>
          </a:xfrm>
        </p:grpSpPr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089CD2B9-019E-5031-43FB-0EE167C259D9}"/>
                </a:ext>
              </a:extLst>
            </p:cNvPr>
            <p:cNvSpPr/>
            <p:nvPr/>
          </p:nvSpPr>
          <p:spPr>
            <a:xfrm>
              <a:off x="6932825" y="4836377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9" name="Elemento grafico 38">
              <a:extLst>
                <a:ext uri="{FF2B5EF4-FFF2-40B4-BE49-F238E27FC236}">
                  <a16:creationId xmlns:a16="http://schemas.microsoft.com/office/drawing/2014/main" id="{67C499F4-9A69-F8A2-9C41-37A9000F46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3362" y="5478690"/>
              <a:ext cx="1219649" cy="136068"/>
            </a:xfrm>
            <a:prstGeom prst="rect">
              <a:avLst/>
            </a:prstGeom>
          </p:spPr>
        </p:pic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5BBCA5B3-538F-B3A5-6433-E25EEC1D6D19}"/>
              </a:ext>
            </a:extLst>
          </p:cNvPr>
          <p:cNvGrpSpPr/>
          <p:nvPr/>
        </p:nvGrpSpPr>
        <p:grpSpPr>
          <a:xfrm>
            <a:off x="5205198" y="2242486"/>
            <a:ext cx="2373076" cy="2373027"/>
            <a:chOff x="2960010" y="3317385"/>
            <a:chExt cx="1420724" cy="1420695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F9DAF7E5-1610-1B9B-8A71-B35CF51D1D2A}"/>
                </a:ext>
              </a:extLst>
            </p:cNvPr>
            <p:cNvSpPr/>
            <p:nvPr/>
          </p:nvSpPr>
          <p:spPr>
            <a:xfrm>
              <a:off x="2960010" y="3317385"/>
              <a:ext cx="1420724" cy="1420695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5" name="Elemento grafico 14">
              <a:extLst>
                <a:ext uri="{FF2B5EF4-FFF2-40B4-BE49-F238E27FC236}">
                  <a16:creationId xmlns:a16="http://schemas.microsoft.com/office/drawing/2014/main" id="{E4A4F0B2-D7A3-6631-8800-FA83A1C78E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31806" y="3904075"/>
              <a:ext cx="1077132" cy="169463"/>
            </a:xfrm>
            <a:prstGeom prst="rect">
              <a:avLst/>
            </a:prstGeom>
          </p:spPr>
        </p:pic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8E150932-DB2E-27FE-FD46-DD0D11197082}"/>
              </a:ext>
            </a:extLst>
          </p:cNvPr>
          <p:cNvGrpSpPr/>
          <p:nvPr/>
        </p:nvGrpSpPr>
        <p:grpSpPr>
          <a:xfrm>
            <a:off x="7793387" y="-1101091"/>
            <a:ext cx="1473494" cy="1473463"/>
            <a:chOff x="4289608" y="5017582"/>
            <a:chExt cx="1420724" cy="1420695"/>
          </a:xfrm>
        </p:grpSpPr>
        <p:sp>
          <p:nvSpPr>
            <p:cNvPr id="29" name="Ovale 28">
              <a:extLst>
                <a:ext uri="{FF2B5EF4-FFF2-40B4-BE49-F238E27FC236}">
                  <a16:creationId xmlns:a16="http://schemas.microsoft.com/office/drawing/2014/main" id="{71F98D2F-07E1-4EE7-D62B-6F20751D8964}"/>
                </a:ext>
              </a:extLst>
            </p:cNvPr>
            <p:cNvSpPr/>
            <p:nvPr/>
          </p:nvSpPr>
          <p:spPr>
            <a:xfrm>
              <a:off x="4289608" y="5017582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35" name="Elemento grafico 34">
              <a:extLst>
                <a:ext uri="{FF2B5EF4-FFF2-40B4-BE49-F238E27FC236}">
                  <a16:creationId xmlns:a16="http://schemas.microsoft.com/office/drawing/2014/main" id="{77C2C5B9-DFA8-0704-B4D7-6D39133622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62166" y="5592630"/>
              <a:ext cx="1254530" cy="270597"/>
            </a:xfrm>
            <a:prstGeom prst="rect">
              <a:avLst/>
            </a:prstGeom>
          </p:spPr>
        </p:pic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34265C6D-06FB-D5DD-1CB7-B210F6F5D69D}"/>
              </a:ext>
            </a:extLst>
          </p:cNvPr>
          <p:cNvGrpSpPr/>
          <p:nvPr/>
        </p:nvGrpSpPr>
        <p:grpSpPr>
          <a:xfrm>
            <a:off x="7943162" y="6431645"/>
            <a:ext cx="1473494" cy="1473463"/>
            <a:chOff x="3724134" y="1180926"/>
            <a:chExt cx="1420724" cy="1420695"/>
          </a:xfrm>
        </p:grpSpPr>
        <p:sp>
          <p:nvSpPr>
            <p:cNvPr id="41" name="Ovale 40">
              <a:extLst>
                <a:ext uri="{FF2B5EF4-FFF2-40B4-BE49-F238E27FC236}">
                  <a16:creationId xmlns:a16="http://schemas.microsoft.com/office/drawing/2014/main" id="{5B075A88-2645-F57C-EEFE-448902861818}"/>
                </a:ext>
              </a:extLst>
            </p:cNvPr>
            <p:cNvSpPr/>
            <p:nvPr/>
          </p:nvSpPr>
          <p:spPr>
            <a:xfrm>
              <a:off x="3724134" y="1180926"/>
              <a:ext cx="1420724" cy="1420695"/>
            </a:xfrm>
            <a:prstGeom prst="ellipse">
              <a:avLst/>
            </a:prstGeom>
            <a:solidFill>
              <a:srgbClr val="4C1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42" name="Elemento grafico 41">
              <a:extLst>
                <a:ext uri="{FF2B5EF4-FFF2-40B4-BE49-F238E27FC236}">
                  <a16:creationId xmlns:a16="http://schemas.microsoft.com/office/drawing/2014/main" id="{1BBF1CEF-6E13-466E-66F1-F04E0A4D47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07474" y="1789425"/>
              <a:ext cx="1254044" cy="1796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6261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3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5D0A2-0A67-7AA3-36DB-1AC3E0C1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89732039-BE79-19CB-6851-44E5D9E8B0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5349" y="2377236"/>
            <a:ext cx="7937351" cy="4480763"/>
          </a:xfrm>
          <a:prstGeom prst="rect">
            <a:avLst/>
          </a:prstGeom>
        </p:spPr>
      </p:pic>
      <p:pic>
        <p:nvPicPr>
          <p:cNvPr id="28" name="Elemento grafico 27">
            <a:extLst>
              <a:ext uri="{FF2B5EF4-FFF2-40B4-BE49-F238E27FC236}">
                <a16:creationId xmlns:a16="http://schemas.microsoft.com/office/drawing/2014/main" id="{33A72695-554C-65C3-5881-4F7E51B22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472"/>
          <a:stretch>
            <a:fillRect/>
          </a:stretch>
        </p:blipFill>
        <p:spPr>
          <a:xfrm>
            <a:off x="0" y="2240414"/>
            <a:ext cx="1753918" cy="4608444"/>
          </a:xfrm>
          <a:prstGeom prst="rect">
            <a:avLst/>
          </a:prstGeom>
        </p:spPr>
      </p:pic>
      <p:pic>
        <p:nvPicPr>
          <p:cNvPr id="26" name="Elemento grafico 25">
            <a:extLst>
              <a:ext uri="{FF2B5EF4-FFF2-40B4-BE49-F238E27FC236}">
                <a16:creationId xmlns:a16="http://schemas.microsoft.com/office/drawing/2014/main" id="{88326524-13C6-7C8D-B0DD-260DB2D39C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332" y="2068182"/>
            <a:ext cx="2749710" cy="4789817"/>
          </a:xfrm>
          <a:prstGeom prst="rect">
            <a:avLst/>
          </a:prstGeom>
        </p:spPr>
      </p:pic>
      <p:pic>
        <p:nvPicPr>
          <p:cNvPr id="30" name="Elemento grafico 29">
            <a:extLst>
              <a:ext uri="{FF2B5EF4-FFF2-40B4-BE49-F238E27FC236}">
                <a16:creationId xmlns:a16="http://schemas.microsoft.com/office/drawing/2014/main" id="{92058A5E-CCC1-06A8-209F-A54E89D52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0032" y="1905000"/>
            <a:ext cx="1801967" cy="4943858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E24CDDCA-6B37-2A0A-8775-02AB0B5C43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7419" y="458795"/>
            <a:ext cx="6385021" cy="586249"/>
          </a:xfrm>
          <a:prstGeom prst="rect">
            <a:avLst/>
          </a:prstGeom>
        </p:spPr>
      </p:pic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3E49B6F2-5C90-3DFD-B289-DDEBC1EC0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3199" y="6371245"/>
            <a:ext cx="1591233" cy="302709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C5860DAA-50B2-68D7-5553-681B26633886}"/>
              </a:ext>
            </a:extLst>
          </p:cNvPr>
          <p:cNvSpPr txBox="1"/>
          <p:nvPr/>
        </p:nvSpPr>
        <p:spPr>
          <a:xfrm>
            <a:off x="237563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lang="it-IT" sz="700" spc="-5" dirty="0">
                <a:solidFill>
                  <a:srgbClr val="EAE3DB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FD513364-5617-60F0-C118-72265DE75C17}"/>
              </a:ext>
            </a:extLst>
          </p:cNvPr>
          <p:cNvSpPr txBox="1">
            <a:spLocks/>
          </p:cNvSpPr>
          <p:nvPr/>
        </p:nvSpPr>
        <p:spPr>
          <a:xfrm>
            <a:off x="11071478" y="5586288"/>
            <a:ext cx="966737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CRM</a:t>
            </a:r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4FB0D2DB-1112-DCFA-F14D-50BD4E7B8E90}"/>
              </a:ext>
            </a:extLst>
          </p:cNvPr>
          <p:cNvSpPr txBox="1">
            <a:spLocks/>
          </p:cNvSpPr>
          <p:nvPr/>
        </p:nvSpPr>
        <p:spPr>
          <a:xfrm>
            <a:off x="2" y="1290392"/>
            <a:ext cx="12191998" cy="876093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28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CEO</a:t>
            </a:r>
          </a:p>
        </p:txBody>
      </p:sp>
      <p:sp>
        <p:nvSpPr>
          <p:cNvPr id="6" name="object 28">
            <a:extLst>
              <a:ext uri="{FF2B5EF4-FFF2-40B4-BE49-F238E27FC236}">
                <a16:creationId xmlns:a16="http://schemas.microsoft.com/office/drawing/2014/main" id="{12B021FD-0CB6-68FC-740B-198668251D78}"/>
              </a:ext>
            </a:extLst>
          </p:cNvPr>
          <p:cNvSpPr txBox="1">
            <a:spLocks/>
          </p:cNvSpPr>
          <p:nvPr/>
        </p:nvSpPr>
        <p:spPr>
          <a:xfrm>
            <a:off x="0" y="1728438"/>
            <a:ext cx="1219199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defRPr/>
            </a:pPr>
            <a:r>
              <a:rPr kumimoji="0" lang="it-IT" sz="1200" b="0" i="0" u="none" strike="noStrike" kern="1200" cap="none" spc="-5" normalizeH="0" baseline="0" noProof="0" dirty="0">
                <a:ln>
                  <a:noFill/>
                </a:ln>
                <a:solidFill>
                  <a:srgbClr val="E8E1D8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Giuseppe Crupi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D74CAF48-0808-EFF1-EF93-D659D195FB55}"/>
              </a:ext>
            </a:extLst>
          </p:cNvPr>
          <p:cNvSpPr txBox="1">
            <a:spLocks/>
          </p:cNvSpPr>
          <p:nvPr/>
        </p:nvSpPr>
        <p:spPr>
          <a:xfrm>
            <a:off x="4445256" y="2474666"/>
            <a:ext cx="736344" cy="33215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6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COO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42DB3A6F-EC04-0EC7-CFBC-A222681C37D4}"/>
              </a:ext>
            </a:extLst>
          </p:cNvPr>
          <p:cNvSpPr txBox="1">
            <a:spLocks/>
          </p:cNvSpPr>
          <p:nvPr/>
        </p:nvSpPr>
        <p:spPr>
          <a:xfrm>
            <a:off x="6991016" y="2706271"/>
            <a:ext cx="1111834" cy="33215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6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CFO</a:t>
            </a:r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5641AFF7-B9EE-4719-06CB-D89131E1E1E9}"/>
              </a:ext>
            </a:extLst>
          </p:cNvPr>
          <p:cNvSpPr txBox="1">
            <a:spLocks/>
          </p:cNvSpPr>
          <p:nvPr/>
        </p:nvSpPr>
        <p:spPr>
          <a:xfrm>
            <a:off x="396743" y="3987653"/>
            <a:ext cx="3210255" cy="33215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6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Living &amp; </a:t>
            </a:r>
            <a:r>
              <a:rPr lang="it-IT" sz="1600" dirty="0" err="1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Residential</a:t>
            </a:r>
            <a:endParaRPr lang="it-IT" sz="1600" dirty="0">
              <a:solidFill>
                <a:srgbClr val="E8E1D8"/>
              </a:solidFill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14" name="Sottotitolo 2">
            <a:extLst>
              <a:ext uri="{FF2B5EF4-FFF2-40B4-BE49-F238E27FC236}">
                <a16:creationId xmlns:a16="http://schemas.microsoft.com/office/drawing/2014/main" id="{C608CCD3-633E-2F83-42C0-B61F88D670F8}"/>
              </a:ext>
            </a:extLst>
          </p:cNvPr>
          <p:cNvSpPr txBox="1">
            <a:spLocks/>
          </p:cNvSpPr>
          <p:nvPr/>
        </p:nvSpPr>
        <p:spPr>
          <a:xfrm>
            <a:off x="4516433" y="3987653"/>
            <a:ext cx="1256339" cy="33215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6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Marketing</a:t>
            </a:r>
          </a:p>
        </p:txBody>
      </p:sp>
      <p:sp>
        <p:nvSpPr>
          <p:cNvPr id="21" name="Sottotitolo 2">
            <a:extLst>
              <a:ext uri="{FF2B5EF4-FFF2-40B4-BE49-F238E27FC236}">
                <a16:creationId xmlns:a16="http://schemas.microsoft.com/office/drawing/2014/main" id="{C57E2627-7DD2-1559-D1D4-69B9966D2856}"/>
              </a:ext>
            </a:extLst>
          </p:cNvPr>
          <p:cNvSpPr txBox="1">
            <a:spLocks/>
          </p:cNvSpPr>
          <p:nvPr/>
        </p:nvSpPr>
        <p:spPr>
          <a:xfrm>
            <a:off x="5657921" y="3987653"/>
            <a:ext cx="3210255" cy="33215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6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Production Area</a:t>
            </a:r>
          </a:p>
        </p:txBody>
      </p:sp>
      <p:sp>
        <p:nvSpPr>
          <p:cNvPr id="23" name="Sottotitolo 2">
            <a:extLst>
              <a:ext uri="{FF2B5EF4-FFF2-40B4-BE49-F238E27FC236}">
                <a16:creationId xmlns:a16="http://schemas.microsoft.com/office/drawing/2014/main" id="{5756D607-C082-BB89-776A-D5018F2BEDB0}"/>
              </a:ext>
            </a:extLst>
          </p:cNvPr>
          <p:cNvSpPr txBox="1">
            <a:spLocks/>
          </p:cNvSpPr>
          <p:nvPr/>
        </p:nvSpPr>
        <p:spPr>
          <a:xfrm>
            <a:off x="9699357" y="3987653"/>
            <a:ext cx="1256339" cy="332154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6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Agency</a:t>
            </a:r>
          </a:p>
        </p:txBody>
      </p:sp>
      <p:sp>
        <p:nvSpPr>
          <p:cNvPr id="24" name="Sottotitolo 2">
            <a:extLst>
              <a:ext uri="{FF2B5EF4-FFF2-40B4-BE49-F238E27FC236}">
                <a16:creationId xmlns:a16="http://schemas.microsoft.com/office/drawing/2014/main" id="{A0CB2BD1-742B-CFB8-5CE1-FB05469E4E8C}"/>
              </a:ext>
            </a:extLst>
          </p:cNvPr>
          <p:cNvSpPr txBox="1">
            <a:spLocks/>
          </p:cNvSpPr>
          <p:nvPr/>
        </p:nvSpPr>
        <p:spPr>
          <a:xfrm>
            <a:off x="8528595" y="5586288"/>
            <a:ext cx="1185271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Front Office</a:t>
            </a:r>
          </a:p>
        </p:txBody>
      </p:sp>
      <p:sp>
        <p:nvSpPr>
          <p:cNvPr id="25" name="Sottotitolo 2">
            <a:extLst>
              <a:ext uri="{FF2B5EF4-FFF2-40B4-BE49-F238E27FC236}">
                <a16:creationId xmlns:a16="http://schemas.microsoft.com/office/drawing/2014/main" id="{0256FB3D-B255-74F2-45BB-A41D728B29D6}"/>
              </a:ext>
            </a:extLst>
          </p:cNvPr>
          <p:cNvSpPr txBox="1">
            <a:spLocks/>
          </p:cNvSpPr>
          <p:nvPr/>
        </p:nvSpPr>
        <p:spPr>
          <a:xfrm>
            <a:off x="9844157" y="5586288"/>
            <a:ext cx="966737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Sales</a:t>
            </a:r>
          </a:p>
        </p:txBody>
      </p:sp>
      <p:sp>
        <p:nvSpPr>
          <p:cNvPr id="38" name="Sottotitolo 2">
            <a:extLst>
              <a:ext uri="{FF2B5EF4-FFF2-40B4-BE49-F238E27FC236}">
                <a16:creationId xmlns:a16="http://schemas.microsoft.com/office/drawing/2014/main" id="{B9779EEC-AF10-AADF-B4B8-D1CA5108C235}"/>
              </a:ext>
            </a:extLst>
          </p:cNvPr>
          <p:cNvSpPr txBox="1">
            <a:spLocks/>
          </p:cNvSpPr>
          <p:nvPr/>
        </p:nvSpPr>
        <p:spPr>
          <a:xfrm>
            <a:off x="6670412" y="5586288"/>
            <a:ext cx="1185271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Back Office</a:t>
            </a:r>
          </a:p>
        </p:txBody>
      </p:sp>
      <p:sp>
        <p:nvSpPr>
          <p:cNvPr id="39" name="Sottotitolo 2">
            <a:extLst>
              <a:ext uri="{FF2B5EF4-FFF2-40B4-BE49-F238E27FC236}">
                <a16:creationId xmlns:a16="http://schemas.microsoft.com/office/drawing/2014/main" id="{5B511212-48D4-6BEA-BFDF-2C0E2BB2D2EF}"/>
              </a:ext>
            </a:extLst>
          </p:cNvPr>
          <p:cNvSpPr txBox="1">
            <a:spLocks/>
          </p:cNvSpPr>
          <p:nvPr/>
        </p:nvSpPr>
        <p:spPr>
          <a:xfrm>
            <a:off x="5283515" y="5586288"/>
            <a:ext cx="1043854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Product</a:t>
            </a:r>
          </a:p>
        </p:txBody>
      </p:sp>
      <p:sp>
        <p:nvSpPr>
          <p:cNvPr id="40" name="Sottotitolo 2">
            <a:extLst>
              <a:ext uri="{FF2B5EF4-FFF2-40B4-BE49-F238E27FC236}">
                <a16:creationId xmlns:a16="http://schemas.microsoft.com/office/drawing/2014/main" id="{F89F8AAE-63F2-5713-7D17-FE79BEF33C7F}"/>
              </a:ext>
            </a:extLst>
          </p:cNvPr>
          <p:cNvSpPr txBox="1">
            <a:spLocks/>
          </p:cNvSpPr>
          <p:nvPr/>
        </p:nvSpPr>
        <p:spPr>
          <a:xfrm>
            <a:off x="3963353" y="5586288"/>
            <a:ext cx="1043854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Corporate</a:t>
            </a:r>
          </a:p>
        </p:txBody>
      </p:sp>
      <p:sp>
        <p:nvSpPr>
          <p:cNvPr id="42" name="Sottotitolo 2">
            <a:extLst>
              <a:ext uri="{FF2B5EF4-FFF2-40B4-BE49-F238E27FC236}">
                <a16:creationId xmlns:a16="http://schemas.microsoft.com/office/drawing/2014/main" id="{D2A2B36F-F0C0-3CE7-4066-346704E78338}"/>
              </a:ext>
            </a:extLst>
          </p:cNvPr>
          <p:cNvSpPr txBox="1">
            <a:spLocks/>
          </p:cNvSpPr>
          <p:nvPr/>
        </p:nvSpPr>
        <p:spPr>
          <a:xfrm>
            <a:off x="2584683" y="5586288"/>
            <a:ext cx="1256338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Technical</a:t>
            </a:r>
          </a:p>
        </p:txBody>
      </p:sp>
      <p:sp>
        <p:nvSpPr>
          <p:cNvPr id="47" name="Sottotitolo 2">
            <a:extLst>
              <a:ext uri="{FF2B5EF4-FFF2-40B4-BE49-F238E27FC236}">
                <a16:creationId xmlns:a16="http://schemas.microsoft.com/office/drawing/2014/main" id="{A963ACA9-05E1-ACC3-BD21-0EFA9A40847A}"/>
              </a:ext>
            </a:extLst>
          </p:cNvPr>
          <p:cNvSpPr txBox="1">
            <a:spLocks/>
          </p:cNvSpPr>
          <p:nvPr/>
        </p:nvSpPr>
        <p:spPr>
          <a:xfrm>
            <a:off x="1372782" y="5586288"/>
            <a:ext cx="1256338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Advisor &amp;</a:t>
            </a:r>
          </a:p>
          <a:p>
            <a:pPr algn="ctr"/>
            <a:r>
              <a:rPr lang="it-IT" sz="1200" dirty="0" err="1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Valuation</a:t>
            </a:r>
            <a:endParaRPr lang="it-IT" sz="1200" dirty="0">
              <a:solidFill>
                <a:srgbClr val="E8E1D8"/>
              </a:solidFill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8" name="Sottotitolo 2">
            <a:extLst>
              <a:ext uri="{FF2B5EF4-FFF2-40B4-BE49-F238E27FC236}">
                <a16:creationId xmlns:a16="http://schemas.microsoft.com/office/drawing/2014/main" id="{9FD337AC-9F00-F56F-8FDD-90EF591E8CC4}"/>
              </a:ext>
            </a:extLst>
          </p:cNvPr>
          <p:cNvSpPr txBox="1">
            <a:spLocks/>
          </p:cNvSpPr>
          <p:nvPr/>
        </p:nvSpPr>
        <p:spPr>
          <a:xfrm>
            <a:off x="125931" y="5586288"/>
            <a:ext cx="1256338" cy="583095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Business</a:t>
            </a:r>
          </a:p>
          <a:p>
            <a:pPr algn="ctr"/>
            <a:r>
              <a:rPr lang="it-IT" sz="1200" dirty="0">
                <a:solidFill>
                  <a:srgbClr val="E8E1D8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rPr>
              <a:t>Development</a:t>
            </a:r>
          </a:p>
        </p:txBody>
      </p: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9CC3FB66-5718-CFC2-BDEB-3B0CDF03BECD}"/>
              </a:ext>
            </a:extLst>
          </p:cNvPr>
          <p:cNvGrpSpPr/>
          <p:nvPr/>
        </p:nvGrpSpPr>
        <p:grpSpPr>
          <a:xfrm>
            <a:off x="757148" y="2020902"/>
            <a:ext cx="10797794" cy="3423285"/>
            <a:chOff x="757148" y="2020902"/>
            <a:chExt cx="10797794" cy="3423285"/>
          </a:xfrm>
        </p:grpSpPr>
        <p:grpSp>
          <p:nvGrpSpPr>
            <p:cNvPr id="50" name="Gruppo 49">
              <a:extLst>
                <a:ext uri="{FF2B5EF4-FFF2-40B4-BE49-F238E27FC236}">
                  <a16:creationId xmlns:a16="http://schemas.microsoft.com/office/drawing/2014/main" id="{ABF022A7-A93B-12DD-1C7E-C58C7887FB72}"/>
                </a:ext>
              </a:extLst>
            </p:cNvPr>
            <p:cNvGrpSpPr>
              <a:grpSpLocks/>
            </p:cNvGrpSpPr>
            <p:nvPr/>
          </p:nvGrpSpPr>
          <p:grpSpPr>
            <a:xfrm>
              <a:off x="5162217" y="2020902"/>
              <a:ext cx="1828798" cy="1286289"/>
              <a:chOff x="5181600" y="1552575"/>
              <a:chExt cx="1828798" cy="1286289"/>
            </a:xfrm>
          </p:grpSpPr>
          <p:cxnSp>
            <p:nvCxnSpPr>
              <p:cNvPr id="4957" name="Connettore diritto 4956">
                <a:extLst>
                  <a:ext uri="{FF2B5EF4-FFF2-40B4-BE49-F238E27FC236}">
                    <a16:creationId xmlns:a16="http://schemas.microsoft.com/office/drawing/2014/main" id="{555680C1-9809-7168-0DB4-5D3A418BA7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5999" y="1552575"/>
                <a:ext cx="0" cy="1286289"/>
              </a:xfrm>
              <a:prstGeom prst="line">
                <a:avLst/>
              </a:prstGeom>
              <a:ln w="6350">
                <a:solidFill>
                  <a:srgbClr val="EAE3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8" name="Connettore diritto 4957">
                <a:extLst>
                  <a:ext uri="{FF2B5EF4-FFF2-40B4-BE49-F238E27FC236}">
                    <a16:creationId xmlns:a16="http://schemas.microsoft.com/office/drawing/2014/main" id="{4CF06089-3907-5475-4DA1-F8CBB57FC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600" y="2172416"/>
                <a:ext cx="914399" cy="0"/>
              </a:xfrm>
              <a:prstGeom prst="line">
                <a:avLst/>
              </a:prstGeom>
              <a:ln w="6350">
                <a:solidFill>
                  <a:srgbClr val="EAE3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9" name="Connettore diritto 4958">
                <a:extLst>
                  <a:ext uri="{FF2B5EF4-FFF2-40B4-BE49-F238E27FC236}">
                    <a16:creationId xmlns:a16="http://schemas.microsoft.com/office/drawing/2014/main" id="{17A94528-74CA-9F0A-4788-23F203912F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5999" y="2409464"/>
                <a:ext cx="914399" cy="0"/>
              </a:xfrm>
              <a:prstGeom prst="line">
                <a:avLst/>
              </a:prstGeom>
              <a:ln w="6350">
                <a:solidFill>
                  <a:srgbClr val="EAE3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uppo 50">
              <a:extLst>
                <a:ext uri="{FF2B5EF4-FFF2-40B4-BE49-F238E27FC236}">
                  <a16:creationId xmlns:a16="http://schemas.microsoft.com/office/drawing/2014/main" id="{C6B0B2E4-A053-90DD-24A4-5488C193327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990727" y="3307191"/>
              <a:ext cx="8336895" cy="333734"/>
              <a:chOff x="2712200" y="2743200"/>
              <a:chExt cx="6728833" cy="333734"/>
            </a:xfrm>
          </p:grpSpPr>
          <p:cxnSp>
            <p:nvCxnSpPr>
              <p:cNvPr id="4954" name="Connettore diritto 4953">
                <a:extLst>
                  <a:ext uri="{FF2B5EF4-FFF2-40B4-BE49-F238E27FC236}">
                    <a16:creationId xmlns:a16="http://schemas.microsoft.com/office/drawing/2014/main" id="{03D763BA-BCF8-F52B-24A7-3C9BDC7BD8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7162" y="2743200"/>
                <a:ext cx="6418909" cy="0"/>
              </a:xfrm>
              <a:prstGeom prst="line">
                <a:avLst/>
              </a:prstGeom>
              <a:ln w="6350">
                <a:solidFill>
                  <a:srgbClr val="EAE3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55" name="Arco 4954">
                <a:extLst>
                  <a:ext uri="{FF2B5EF4-FFF2-40B4-BE49-F238E27FC236}">
                    <a16:creationId xmlns:a16="http://schemas.microsoft.com/office/drawing/2014/main" id="{9ABBFD4C-8989-C89F-E623-6636B9300B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2200" y="2743200"/>
                <a:ext cx="333734" cy="333734"/>
              </a:xfrm>
              <a:prstGeom prst="arc">
                <a:avLst>
                  <a:gd name="adj1" fmla="val 10802247"/>
                  <a:gd name="adj2" fmla="val 16099781"/>
                </a:avLst>
              </a:prstGeom>
              <a:ln w="6350">
                <a:solidFill>
                  <a:srgbClr val="EAE3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solidFill>
                    <a:srgbClr val="4C1529"/>
                  </a:solidFill>
                  <a:latin typeface="Circular Std Medium" panose="020B0604020101010102" pitchFamily="34" charset="0"/>
                  <a:cs typeface="Circular Std Medium" panose="020B0604020101010102" pitchFamily="34" charset="0"/>
                </a:endParaRPr>
              </a:p>
            </p:txBody>
          </p:sp>
          <p:sp>
            <p:nvSpPr>
              <p:cNvPr id="4956" name="Arco 4955">
                <a:extLst>
                  <a:ext uri="{FF2B5EF4-FFF2-40B4-BE49-F238E27FC236}">
                    <a16:creationId xmlns:a16="http://schemas.microsoft.com/office/drawing/2014/main" id="{F6782CFB-CE97-E665-6801-1F1E368D49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07299" y="2743200"/>
                <a:ext cx="333734" cy="333734"/>
              </a:xfrm>
              <a:prstGeom prst="arc">
                <a:avLst>
                  <a:gd name="adj1" fmla="val 16196087"/>
                  <a:gd name="adj2" fmla="val 82205"/>
                </a:avLst>
              </a:prstGeom>
              <a:ln w="6350">
                <a:solidFill>
                  <a:srgbClr val="EAE3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rgbClr val="4C1529"/>
                  </a:solidFill>
                  <a:latin typeface="Circular Std Medium" panose="020B0604020101010102" pitchFamily="34" charset="0"/>
                  <a:cs typeface="Circular Std Medium" panose="020B0604020101010102" pitchFamily="34" charset="0"/>
                </a:endParaRPr>
              </a:p>
            </p:txBody>
          </p:sp>
        </p:grpSp>
        <p:cxnSp>
          <p:nvCxnSpPr>
            <p:cNvPr id="52" name="Connettore diritto 51">
              <a:extLst>
                <a:ext uri="{FF2B5EF4-FFF2-40B4-BE49-F238E27FC236}">
                  <a16:creationId xmlns:a16="http://schemas.microsoft.com/office/drawing/2014/main" id="{54D954AF-1107-95EA-575D-EDAE4BED59D7}"/>
                </a:ext>
              </a:extLst>
            </p:cNvPr>
            <p:cNvCxnSpPr>
              <a:cxnSpLocks/>
            </p:cNvCxnSpPr>
            <p:nvPr/>
          </p:nvCxnSpPr>
          <p:spPr>
            <a:xfrm>
              <a:off x="5144603" y="3307191"/>
              <a:ext cx="0" cy="590136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diritto 52">
              <a:extLst>
                <a:ext uri="{FF2B5EF4-FFF2-40B4-BE49-F238E27FC236}">
                  <a16:creationId xmlns:a16="http://schemas.microsoft.com/office/drawing/2014/main" id="{65040E66-877A-3E7A-6F28-28A0A2A59D1C}"/>
                </a:ext>
              </a:extLst>
            </p:cNvPr>
            <p:cNvCxnSpPr>
              <a:cxnSpLocks/>
            </p:cNvCxnSpPr>
            <p:nvPr/>
          </p:nvCxnSpPr>
          <p:spPr>
            <a:xfrm>
              <a:off x="7263049" y="3307191"/>
              <a:ext cx="0" cy="590136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Arco 53">
              <a:extLst>
                <a:ext uri="{FF2B5EF4-FFF2-40B4-BE49-F238E27FC236}">
                  <a16:creationId xmlns:a16="http://schemas.microsoft.com/office/drawing/2014/main" id="{DCF6506C-C50A-841A-82CA-4C3490A454B8}"/>
                </a:ext>
              </a:extLst>
            </p:cNvPr>
            <p:cNvSpPr>
              <a:spLocks/>
            </p:cNvSpPr>
            <p:nvPr/>
          </p:nvSpPr>
          <p:spPr>
            <a:xfrm>
              <a:off x="4490340" y="5045003"/>
              <a:ext cx="419757" cy="333734"/>
            </a:xfrm>
            <a:prstGeom prst="arc">
              <a:avLst>
                <a:gd name="adj1" fmla="val 10802247"/>
                <a:gd name="adj2" fmla="val 16099781"/>
              </a:avLst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4C1529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endParaRPr>
            </a:p>
          </p:txBody>
        </p:sp>
        <p:sp>
          <p:nvSpPr>
            <p:cNvPr id="55" name="Arco 54">
              <a:extLst>
                <a:ext uri="{FF2B5EF4-FFF2-40B4-BE49-F238E27FC236}">
                  <a16:creationId xmlns:a16="http://schemas.microsoft.com/office/drawing/2014/main" id="{9A8D1043-14B6-E1E4-EFE8-60B1207AE4AE}"/>
                </a:ext>
              </a:extLst>
            </p:cNvPr>
            <p:cNvSpPr>
              <a:spLocks/>
            </p:cNvSpPr>
            <p:nvPr/>
          </p:nvSpPr>
          <p:spPr>
            <a:xfrm>
              <a:off x="5385685" y="5045003"/>
              <a:ext cx="419757" cy="333734"/>
            </a:xfrm>
            <a:prstGeom prst="arc">
              <a:avLst>
                <a:gd name="adj1" fmla="val 16196087"/>
                <a:gd name="adj2" fmla="val 82205"/>
              </a:avLst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4C1529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endParaRPr>
            </a:p>
          </p:txBody>
        </p:sp>
        <p:cxnSp>
          <p:nvCxnSpPr>
            <p:cNvPr id="58" name="Connettore diritto 57">
              <a:extLst>
                <a:ext uri="{FF2B5EF4-FFF2-40B4-BE49-F238E27FC236}">
                  <a16:creationId xmlns:a16="http://schemas.microsoft.com/office/drawing/2014/main" id="{909698A1-F7FC-3289-E4EA-A2816096C4AF}"/>
                </a:ext>
              </a:extLst>
            </p:cNvPr>
            <p:cNvCxnSpPr>
              <a:cxnSpLocks/>
            </p:cNvCxnSpPr>
            <p:nvPr/>
          </p:nvCxnSpPr>
          <p:spPr>
            <a:xfrm>
              <a:off x="5138364" y="4447738"/>
              <a:ext cx="0" cy="590136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diritto 58">
              <a:extLst>
                <a:ext uri="{FF2B5EF4-FFF2-40B4-BE49-F238E27FC236}">
                  <a16:creationId xmlns:a16="http://schemas.microsoft.com/office/drawing/2014/main" id="{237F2EB7-F8AE-C197-BFF4-57BD74A78C43}"/>
                </a:ext>
              </a:extLst>
            </p:cNvPr>
            <p:cNvCxnSpPr>
              <a:cxnSpLocks/>
            </p:cNvCxnSpPr>
            <p:nvPr/>
          </p:nvCxnSpPr>
          <p:spPr>
            <a:xfrm>
              <a:off x="4681165" y="5045003"/>
              <a:ext cx="914399" cy="0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diritto 60">
              <a:extLst>
                <a:ext uri="{FF2B5EF4-FFF2-40B4-BE49-F238E27FC236}">
                  <a16:creationId xmlns:a16="http://schemas.microsoft.com/office/drawing/2014/main" id="{8882848C-D5E7-DB8B-7B42-F65032477BCB}"/>
                </a:ext>
              </a:extLst>
            </p:cNvPr>
            <p:cNvCxnSpPr>
              <a:cxnSpLocks/>
            </p:cNvCxnSpPr>
            <p:nvPr/>
          </p:nvCxnSpPr>
          <p:spPr>
            <a:xfrm>
              <a:off x="7263048" y="4447738"/>
              <a:ext cx="0" cy="996449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5" name="Connettore diritto 4934">
              <a:extLst>
                <a:ext uri="{FF2B5EF4-FFF2-40B4-BE49-F238E27FC236}">
                  <a16:creationId xmlns:a16="http://schemas.microsoft.com/office/drawing/2014/main" id="{5E023C5F-A842-6A4E-929A-43A445AB373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7622" y="4447738"/>
              <a:ext cx="0" cy="590136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7" name="Connettore diritto 4936">
              <a:extLst>
                <a:ext uri="{FF2B5EF4-FFF2-40B4-BE49-F238E27FC236}">
                  <a16:creationId xmlns:a16="http://schemas.microsoft.com/office/drawing/2014/main" id="{5B3B98AE-E08A-EEA7-4FD9-589AA07A6BF8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7" y="3478227"/>
              <a:ext cx="0" cy="419100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8" name="Connettore diritto 4937">
              <a:extLst>
                <a:ext uri="{FF2B5EF4-FFF2-40B4-BE49-F238E27FC236}">
                  <a16:creationId xmlns:a16="http://schemas.microsoft.com/office/drawing/2014/main" id="{3F4EFEDA-BD16-E422-69DD-BBE3772DFEBC}"/>
                </a:ext>
              </a:extLst>
            </p:cNvPr>
            <p:cNvCxnSpPr>
              <a:cxnSpLocks/>
            </p:cNvCxnSpPr>
            <p:nvPr/>
          </p:nvCxnSpPr>
          <p:spPr>
            <a:xfrm>
              <a:off x="10327622" y="3478227"/>
              <a:ext cx="0" cy="419100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9" name="Connettore diritto 4938">
              <a:extLst>
                <a:ext uri="{FF2B5EF4-FFF2-40B4-BE49-F238E27FC236}">
                  <a16:creationId xmlns:a16="http://schemas.microsoft.com/office/drawing/2014/main" id="{F691ED29-D7F9-98C4-0923-538C36547E27}"/>
                </a:ext>
              </a:extLst>
            </p:cNvPr>
            <p:cNvCxnSpPr>
              <a:cxnSpLocks/>
            </p:cNvCxnSpPr>
            <p:nvPr/>
          </p:nvCxnSpPr>
          <p:spPr>
            <a:xfrm>
              <a:off x="1985591" y="4447738"/>
              <a:ext cx="0" cy="590136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40" name="Arco 4939">
              <a:extLst>
                <a:ext uri="{FF2B5EF4-FFF2-40B4-BE49-F238E27FC236}">
                  <a16:creationId xmlns:a16="http://schemas.microsoft.com/office/drawing/2014/main" id="{006D5712-E4C8-433C-DC35-35540B531DA3}"/>
                </a:ext>
              </a:extLst>
            </p:cNvPr>
            <p:cNvSpPr>
              <a:spLocks/>
            </p:cNvSpPr>
            <p:nvPr/>
          </p:nvSpPr>
          <p:spPr>
            <a:xfrm>
              <a:off x="757148" y="5045003"/>
              <a:ext cx="419757" cy="333734"/>
            </a:xfrm>
            <a:prstGeom prst="arc">
              <a:avLst>
                <a:gd name="adj1" fmla="val 10802247"/>
                <a:gd name="adj2" fmla="val 16099781"/>
              </a:avLst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4C1529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endParaRPr>
            </a:p>
          </p:txBody>
        </p:sp>
        <p:sp>
          <p:nvSpPr>
            <p:cNvPr id="4941" name="Arco 4940">
              <a:extLst>
                <a:ext uri="{FF2B5EF4-FFF2-40B4-BE49-F238E27FC236}">
                  <a16:creationId xmlns:a16="http://schemas.microsoft.com/office/drawing/2014/main" id="{25CC3F8A-935D-42AF-C376-E0DEAB1A6E7A}"/>
                </a:ext>
              </a:extLst>
            </p:cNvPr>
            <p:cNvSpPr>
              <a:spLocks/>
            </p:cNvSpPr>
            <p:nvPr/>
          </p:nvSpPr>
          <p:spPr>
            <a:xfrm>
              <a:off x="2786977" y="5045003"/>
              <a:ext cx="419757" cy="333734"/>
            </a:xfrm>
            <a:prstGeom prst="arc">
              <a:avLst>
                <a:gd name="adj1" fmla="val 16196087"/>
                <a:gd name="adj2" fmla="val 82205"/>
              </a:avLst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4C1529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endParaRPr>
            </a:p>
          </p:txBody>
        </p:sp>
        <p:cxnSp>
          <p:nvCxnSpPr>
            <p:cNvPr id="4942" name="Connettore diritto 4941">
              <a:extLst>
                <a:ext uri="{FF2B5EF4-FFF2-40B4-BE49-F238E27FC236}">
                  <a16:creationId xmlns:a16="http://schemas.microsoft.com/office/drawing/2014/main" id="{6960A7C7-5948-F8E4-3E1C-6FEFBFC24FCC}"/>
                </a:ext>
              </a:extLst>
            </p:cNvPr>
            <p:cNvCxnSpPr>
              <a:cxnSpLocks/>
              <a:stCxn id="4940" idx="2"/>
              <a:endCxn id="4941" idx="0"/>
            </p:cNvCxnSpPr>
            <p:nvPr/>
          </p:nvCxnSpPr>
          <p:spPr>
            <a:xfrm flipV="1">
              <a:off x="962162" y="5045003"/>
              <a:ext cx="2034504" cy="45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3" name="Connettore diritto 4942">
              <a:extLst>
                <a:ext uri="{FF2B5EF4-FFF2-40B4-BE49-F238E27FC236}">
                  <a16:creationId xmlns:a16="http://schemas.microsoft.com/office/drawing/2014/main" id="{E8F26326-757A-3291-B82A-F4D2F6DB22C7}"/>
                </a:ext>
              </a:extLst>
            </p:cNvPr>
            <p:cNvCxnSpPr>
              <a:cxnSpLocks/>
            </p:cNvCxnSpPr>
            <p:nvPr/>
          </p:nvCxnSpPr>
          <p:spPr>
            <a:xfrm>
              <a:off x="1985591" y="5037874"/>
              <a:ext cx="0" cy="406313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4" name="Connettore diritto 4943">
              <a:extLst>
                <a:ext uri="{FF2B5EF4-FFF2-40B4-BE49-F238E27FC236}">
                  <a16:creationId xmlns:a16="http://schemas.microsoft.com/office/drawing/2014/main" id="{26C6045A-7DFD-9C18-1743-79702FBAAF32}"/>
                </a:ext>
              </a:extLst>
            </p:cNvPr>
            <p:cNvCxnSpPr>
              <a:cxnSpLocks/>
              <a:stCxn id="4941" idx="2"/>
            </p:cNvCxnSpPr>
            <p:nvPr/>
          </p:nvCxnSpPr>
          <p:spPr>
            <a:xfrm>
              <a:off x="3206638" y="5216887"/>
              <a:ext cx="95" cy="227300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5" name="Connettore diritto 4944">
              <a:extLst>
                <a:ext uri="{FF2B5EF4-FFF2-40B4-BE49-F238E27FC236}">
                  <a16:creationId xmlns:a16="http://schemas.microsoft.com/office/drawing/2014/main" id="{D6AFCD54-8E82-7234-EB44-CDFC7DE93169}"/>
                </a:ext>
              </a:extLst>
            </p:cNvPr>
            <p:cNvCxnSpPr>
              <a:cxnSpLocks/>
              <a:stCxn id="4940" idx="0"/>
            </p:cNvCxnSpPr>
            <p:nvPr/>
          </p:nvCxnSpPr>
          <p:spPr>
            <a:xfrm>
              <a:off x="757148" y="5211733"/>
              <a:ext cx="1209" cy="232454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6" name="Connettore diritto 4945">
              <a:extLst>
                <a:ext uri="{FF2B5EF4-FFF2-40B4-BE49-F238E27FC236}">
                  <a16:creationId xmlns:a16="http://schemas.microsoft.com/office/drawing/2014/main" id="{38DAD853-F1C5-F960-7043-BE149EC1FD4C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 flipH="1">
              <a:off x="4490042" y="5211733"/>
              <a:ext cx="298" cy="232454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7" name="Connettore diritto 4946">
              <a:extLst>
                <a:ext uri="{FF2B5EF4-FFF2-40B4-BE49-F238E27FC236}">
                  <a16:creationId xmlns:a16="http://schemas.microsoft.com/office/drawing/2014/main" id="{91CF0FDB-129C-BE60-6277-287BC4CC4071}"/>
                </a:ext>
              </a:extLst>
            </p:cNvPr>
            <p:cNvCxnSpPr>
              <a:cxnSpLocks/>
              <a:stCxn id="55" idx="2"/>
            </p:cNvCxnSpPr>
            <p:nvPr/>
          </p:nvCxnSpPr>
          <p:spPr>
            <a:xfrm>
              <a:off x="5805347" y="5216887"/>
              <a:ext cx="95" cy="227300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48" name="Arco 4947">
              <a:extLst>
                <a:ext uri="{FF2B5EF4-FFF2-40B4-BE49-F238E27FC236}">
                  <a16:creationId xmlns:a16="http://schemas.microsoft.com/office/drawing/2014/main" id="{BB2C379D-250B-5CBF-7FD0-D1D98A71E10D}"/>
                </a:ext>
              </a:extLst>
            </p:cNvPr>
            <p:cNvSpPr>
              <a:spLocks/>
            </p:cNvSpPr>
            <p:nvPr/>
          </p:nvSpPr>
          <p:spPr>
            <a:xfrm>
              <a:off x="9105357" y="5045003"/>
              <a:ext cx="419757" cy="333734"/>
            </a:xfrm>
            <a:prstGeom prst="arc">
              <a:avLst>
                <a:gd name="adj1" fmla="val 10802247"/>
                <a:gd name="adj2" fmla="val 16099781"/>
              </a:avLst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4C1529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endParaRPr>
            </a:p>
          </p:txBody>
        </p:sp>
        <p:sp>
          <p:nvSpPr>
            <p:cNvPr id="4949" name="Arco 4948">
              <a:extLst>
                <a:ext uri="{FF2B5EF4-FFF2-40B4-BE49-F238E27FC236}">
                  <a16:creationId xmlns:a16="http://schemas.microsoft.com/office/drawing/2014/main" id="{03C4F1FD-C581-7799-A690-8AB5CC97DDCD}"/>
                </a:ext>
              </a:extLst>
            </p:cNvPr>
            <p:cNvSpPr>
              <a:spLocks/>
            </p:cNvSpPr>
            <p:nvPr/>
          </p:nvSpPr>
          <p:spPr>
            <a:xfrm>
              <a:off x="11135185" y="5045003"/>
              <a:ext cx="419757" cy="333734"/>
            </a:xfrm>
            <a:prstGeom prst="arc">
              <a:avLst>
                <a:gd name="adj1" fmla="val 16196087"/>
                <a:gd name="adj2" fmla="val 82205"/>
              </a:avLst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4C1529"/>
                </a:solidFill>
                <a:latin typeface="Circular Std Medium" panose="020B0604020101010102" pitchFamily="34" charset="0"/>
                <a:cs typeface="Circular Std Medium" panose="020B0604020101010102" pitchFamily="34" charset="0"/>
              </a:endParaRPr>
            </a:p>
          </p:txBody>
        </p:sp>
        <p:cxnSp>
          <p:nvCxnSpPr>
            <p:cNvPr id="4950" name="Connettore diritto 4949">
              <a:extLst>
                <a:ext uri="{FF2B5EF4-FFF2-40B4-BE49-F238E27FC236}">
                  <a16:creationId xmlns:a16="http://schemas.microsoft.com/office/drawing/2014/main" id="{02883233-A6E5-FCCE-96FD-7FC96DBE4015}"/>
                </a:ext>
              </a:extLst>
            </p:cNvPr>
            <p:cNvCxnSpPr>
              <a:cxnSpLocks/>
              <a:stCxn id="4948" idx="2"/>
              <a:endCxn id="4949" idx="0"/>
            </p:cNvCxnSpPr>
            <p:nvPr/>
          </p:nvCxnSpPr>
          <p:spPr>
            <a:xfrm flipV="1">
              <a:off x="9310370" y="5045003"/>
              <a:ext cx="2034504" cy="45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1" name="Connettore diritto 4950">
              <a:extLst>
                <a:ext uri="{FF2B5EF4-FFF2-40B4-BE49-F238E27FC236}">
                  <a16:creationId xmlns:a16="http://schemas.microsoft.com/office/drawing/2014/main" id="{21DE418C-8326-6E9E-1DBB-14664F2B6D75}"/>
                </a:ext>
              </a:extLst>
            </p:cNvPr>
            <p:cNvCxnSpPr>
              <a:cxnSpLocks/>
            </p:cNvCxnSpPr>
            <p:nvPr/>
          </p:nvCxnSpPr>
          <p:spPr>
            <a:xfrm>
              <a:off x="10327525" y="5037874"/>
              <a:ext cx="0" cy="406313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2" name="Connettore diritto 4951">
              <a:extLst>
                <a:ext uri="{FF2B5EF4-FFF2-40B4-BE49-F238E27FC236}">
                  <a16:creationId xmlns:a16="http://schemas.microsoft.com/office/drawing/2014/main" id="{80A51F72-0D54-CA38-4C7B-77858E3166C2}"/>
                </a:ext>
              </a:extLst>
            </p:cNvPr>
            <p:cNvCxnSpPr>
              <a:cxnSpLocks/>
              <a:stCxn id="4949" idx="2"/>
            </p:cNvCxnSpPr>
            <p:nvPr/>
          </p:nvCxnSpPr>
          <p:spPr>
            <a:xfrm>
              <a:off x="11554847" y="5216887"/>
              <a:ext cx="95" cy="227300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3" name="Connettore diritto 4952">
              <a:extLst>
                <a:ext uri="{FF2B5EF4-FFF2-40B4-BE49-F238E27FC236}">
                  <a16:creationId xmlns:a16="http://schemas.microsoft.com/office/drawing/2014/main" id="{A2CBECB7-373E-6B4A-B7C1-39B4A3B9FA27}"/>
                </a:ext>
              </a:extLst>
            </p:cNvPr>
            <p:cNvCxnSpPr>
              <a:cxnSpLocks/>
              <a:stCxn id="4948" idx="0"/>
            </p:cNvCxnSpPr>
            <p:nvPr/>
          </p:nvCxnSpPr>
          <p:spPr>
            <a:xfrm>
              <a:off x="9105357" y="5211733"/>
              <a:ext cx="1209" cy="232454"/>
            </a:xfrm>
            <a:prstGeom prst="line">
              <a:avLst/>
            </a:prstGeom>
            <a:ln w="6350">
              <a:solidFill>
                <a:srgbClr val="EAE3D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60" name="Ovale 4959">
            <a:extLst>
              <a:ext uri="{FF2B5EF4-FFF2-40B4-BE49-F238E27FC236}">
                <a16:creationId xmlns:a16="http://schemas.microsoft.com/office/drawing/2014/main" id="{7F3FC032-8F17-9827-9CAA-C1295E35C0B6}"/>
              </a:ext>
            </a:extLst>
          </p:cNvPr>
          <p:cNvSpPr/>
          <p:nvPr/>
        </p:nvSpPr>
        <p:spPr>
          <a:xfrm>
            <a:off x="6025281" y="1975553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1" name="Ovale 4960">
            <a:extLst>
              <a:ext uri="{FF2B5EF4-FFF2-40B4-BE49-F238E27FC236}">
                <a16:creationId xmlns:a16="http://schemas.microsoft.com/office/drawing/2014/main" id="{EEB24384-EA3F-FDAC-BC4C-05031012FE0B}"/>
              </a:ext>
            </a:extLst>
          </p:cNvPr>
          <p:cNvSpPr/>
          <p:nvPr/>
        </p:nvSpPr>
        <p:spPr>
          <a:xfrm>
            <a:off x="5113578" y="2582834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2" name="Ovale 4961">
            <a:extLst>
              <a:ext uri="{FF2B5EF4-FFF2-40B4-BE49-F238E27FC236}">
                <a16:creationId xmlns:a16="http://schemas.microsoft.com/office/drawing/2014/main" id="{23B19545-FA55-1D24-87D2-E17E536A0ECC}"/>
              </a:ext>
            </a:extLst>
          </p:cNvPr>
          <p:cNvSpPr/>
          <p:nvPr/>
        </p:nvSpPr>
        <p:spPr>
          <a:xfrm>
            <a:off x="6932131" y="2822282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3" name="Ovale 4962">
            <a:extLst>
              <a:ext uri="{FF2B5EF4-FFF2-40B4-BE49-F238E27FC236}">
                <a16:creationId xmlns:a16="http://schemas.microsoft.com/office/drawing/2014/main" id="{422045AD-1B0B-F0F3-34FF-D037BE2A3AD0}"/>
              </a:ext>
            </a:extLst>
          </p:cNvPr>
          <p:cNvSpPr/>
          <p:nvPr/>
        </p:nvSpPr>
        <p:spPr>
          <a:xfrm>
            <a:off x="5090199" y="3844857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4" name="Ovale 4963">
            <a:extLst>
              <a:ext uri="{FF2B5EF4-FFF2-40B4-BE49-F238E27FC236}">
                <a16:creationId xmlns:a16="http://schemas.microsoft.com/office/drawing/2014/main" id="{5D377729-352D-A8C8-BF90-811FCD35EE17}"/>
              </a:ext>
            </a:extLst>
          </p:cNvPr>
          <p:cNvSpPr/>
          <p:nvPr/>
        </p:nvSpPr>
        <p:spPr>
          <a:xfrm>
            <a:off x="7211712" y="3844857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5" name="Ovale 4964">
            <a:extLst>
              <a:ext uri="{FF2B5EF4-FFF2-40B4-BE49-F238E27FC236}">
                <a16:creationId xmlns:a16="http://schemas.microsoft.com/office/drawing/2014/main" id="{2C8B3FF0-37CB-0295-C5E2-DD2F90332338}"/>
              </a:ext>
            </a:extLst>
          </p:cNvPr>
          <p:cNvSpPr/>
          <p:nvPr/>
        </p:nvSpPr>
        <p:spPr>
          <a:xfrm>
            <a:off x="10269512" y="3844857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6" name="Ovale 4965">
            <a:extLst>
              <a:ext uri="{FF2B5EF4-FFF2-40B4-BE49-F238E27FC236}">
                <a16:creationId xmlns:a16="http://schemas.microsoft.com/office/drawing/2014/main" id="{EA4B9EBB-7165-0319-AD14-0117A88B5AFC}"/>
              </a:ext>
            </a:extLst>
          </p:cNvPr>
          <p:cNvSpPr/>
          <p:nvPr/>
        </p:nvSpPr>
        <p:spPr>
          <a:xfrm>
            <a:off x="1949616" y="3844857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7" name="Ovale 4966">
            <a:extLst>
              <a:ext uri="{FF2B5EF4-FFF2-40B4-BE49-F238E27FC236}">
                <a16:creationId xmlns:a16="http://schemas.microsoft.com/office/drawing/2014/main" id="{37E14823-7058-0CCE-6924-5355C56925A5}"/>
              </a:ext>
            </a:extLst>
          </p:cNvPr>
          <p:cNvSpPr/>
          <p:nvPr/>
        </p:nvSpPr>
        <p:spPr>
          <a:xfrm>
            <a:off x="7211712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8" name="Ovale 4967">
            <a:extLst>
              <a:ext uri="{FF2B5EF4-FFF2-40B4-BE49-F238E27FC236}">
                <a16:creationId xmlns:a16="http://schemas.microsoft.com/office/drawing/2014/main" id="{22DE05EB-B06B-6ECF-816A-AD559F8C17F0}"/>
              </a:ext>
            </a:extLst>
          </p:cNvPr>
          <p:cNvSpPr/>
          <p:nvPr/>
        </p:nvSpPr>
        <p:spPr>
          <a:xfrm>
            <a:off x="9046321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69" name="Ovale 4968">
            <a:extLst>
              <a:ext uri="{FF2B5EF4-FFF2-40B4-BE49-F238E27FC236}">
                <a16:creationId xmlns:a16="http://schemas.microsoft.com/office/drawing/2014/main" id="{F9A62ABA-5BEF-48ED-0082-FD001E6D467C}"/>
              </a:ext>
            </a:extLst>
          </p:cNvPr>
          <p:cNvSpPr/>
          <p:nvPr/>
        </p:nvSpPr>
        <p:spPr>
          <a:xfrm>
            <a:off x="10272196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70" name="Ovale 4969">
            <a:extLst>
              <a:ext uri="{FF2B5EF4-FFF2-40B4-BE49-F238E27FC236}">
                <a16:creationId xmlns:a16="http://schemas.microsoft.com/office/drawing/2014/main" id="{6CA54E79-3000-5F7C-62D8-C2FE6F3CAFF1}"/>
              </a:ext>
            </a:extLst>
          </p:cNvPr>
          <p:cNvSpPr/>
          <p:nvPr/>
        </p:nvSpPr>
        <p:spPr>
          <a:xfrm>
            <a:off x="11504754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71" name="Ovale 4970">
            <a:extLst>
              <a:ext uri="{FF2B5EF4-FFF2-40B4-BE49-F238E27FC236}">
                <a16:creationId xmlns:a16="http://schemas.microsoft.com/office/drawing/2014/main" id="{D8D54110-5C52-CE34-C366-559063866004}"/>
              </a:ext>
            </a:extLst>
          </p:cNvPr>
          <p:cNvSpPr/>
          <p:nvPr/>
        </p:nvSpPr>
        <p:spPr>
          <a:xfrm>
            <a:off x="5759537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72" name="Ovale 4971">
            <a:extLst>
              <a:ext uri="{FF2B5EF4-FFF2-40B4-BE49-F238E27FC236}">
                <a16:creationId xmlns:a16="http://schemas.microsoft.com/office/drawing/2014/main" id="{EB915152-6F1A-6FCA-E13E-8BE25A7B8B0C}"/>
              </a:ext>
            </a:extLst>
          </p:cNvPr>
          <p:cNvSpPr/>
          <p:nvPr/>
        </p:nvSpPr>
        <p:spPr>
          <a:xfrm>
            <a:off x="4442872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73" name="Ovale 4972">
            <a:extLst>
              <a:ext uri="{FF2B5EF4-FFF2-40B4-BE49-F238E27FC236}">
                <a16:creationId xmlns:a16="http://schemas.microsoft.com/office/drawing/2014/main" id="{2BA7FB98-A2D4-3C4C-6544-DBDD821E32DF}"/>
              </a:ext>
            </a:extLst>
          </p:cNvPr>
          <p:cNvSpPr/>
          <p:nvPr/>
        </p:nvSpPr>
        <p:spPr>
          <a:xfrm>
            <a:off x="3154158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74" name="Ovale 4973">
            <a:extLst>
              <a:ext uri="{FF2B5EF4-FFF2-40B4-BE49-F238E27FC236}">
                <a16:creationId xmlns:a16="http://schemas.microsoft.com/office/drawing/2014/main" id="{49E5F71D-69E0-5EA3-3996-BD382D817706}"/>
              </a:ext>
            </a:extLst>
          </p:cNvPr>
          <p:cNvSpPr/>
          <p:nvPr/>
        </p:nvSpPr>
        <p:spPr>
          <a:xfrm>
            <a:off x="1928530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4975" name="Ovale 4974">
            <a:extLst>
              <a:ext uri="{FF2B5EF4-FFF2-40B4-BE49-F238E27FC236}">
                <a16:creationId xmlns:a16="http://schemas.microsoft.com/office/drawing/2014/main" id="{8198A740-7C6E-3F4C-E493-75C24113C880}"/>
              </a:ext>
            </a:extLst>
          </p:cNvPr>
          <p:cNvSpPr/>
          <p:nvPr/>
        </p:nvSpPr>
        <p:spPr>
          <a:xfrm>
            <a:off x="697819" y="5372729"/>
            <a:ext cx="102669" cy="102669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609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6071E-1C9D-130F-F93A-4074C6331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028597D1-FB37-9349-630B-EC3704E87B3C}"/>
              </a:ext>
            </a:extLst>
          </p:cNvPr>
          <p:cNvSpPr txBox="1">
            <a:spLocks/>
          </p:cNvSpPr>
          <p:nvPr/>
        </p:nvSpPr>
        <p:spPr>
          <a:xfrm>
            <a:off x="0" y="2618537"/>
            <a:ext cx="12192000" cy="1127963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60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kumimoji="0" lang="it-IT" sz="60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servizi integrati</a:t>
            </a:r>
            <a:endParaRPr kumimoji="0" lang="it-IT" sz="6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6682C6CB-5320-FE1E-ACB9-675A216C08D9}"/>
              </a:ext>
            </a:extLst>
          </p:cNvPr>
          <p:cNvSpPr/>
          <p:nvPr/>
        </p:nvSpPr>
        <p:spPr>
          <a:xfrm>
            <a:off x="0" y="2038683"/>
            <a:ext cx="1219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Circular Std Book" panose="020B0604020101020102" pitchFamily="34" charset="0"/>
                <a:ea typeface="+mn-ea"/>
                <a:cs typeface="Circular Std Book" panose="020B0604020101020102" pitchFamily="34" charset="0"/>
              </a:rPr>
              <a:t>IL MONDO DI ABITARE CO.</a:t>
            </a:r>
          </a:p>
        </p:txBody>
      </p:sp>
      <p:sp>
        <p:nvSpPr>
          <p:cNvPr id="2" name="Rectangle 108">
            <a:extLst>
              <a:ext uri="{FF2B5EF4-FFF2-40B4-BE49-F238E27FC236}">
                <a16:creationId xmlns:a16="http://schemas.microsoft.com/office/drawing/2014/main" id="{F185084B-71D4-0B1C-FF76-14DD0E4DC2FE}"/>
              </a:ext>
            </a:extLst>
          </p:cNvPr>
          <p:cNvSpPr/>
          <p:nvPr/>
        </p:nvSpPr>
        <p:spPr>
          <a:xfrm>
            <a:off x="791781" y="3987800"/>
            <a:ext cx="106084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In un solo luogo, mettiamo a disposizione tutti i servizi trasversali al mondo del Real Estate.</a:t>
            </a:r>
          </a:p>
          <a:p>
            <a:pPr lvl="0" algn="ctr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Servizi integrabili e modulabili ad ogni esigenza e interlocutore: parliamo a clienti B2B e B2C,</a:t>
            </a:r>
          </a:p>
          <a:p>
            <a:pPr lvl="0" algn="ctr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con soluzioni su misura per proprietari, utilizzatori e investitori.</a:t>
            </a:r>
          </a:p>
          <a:p>
            <a:pPr lvl="0" algn="ctr">
              <a:defRPr/>
            </a:pPr>
            <a:r>
              <a:rPr lang="it-IT" dirty="0">
                <a:solidFill>
                  <a:srgbClr val="460E1D"/>
                </a:solidFill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Con strumenti solidi e visione di mercato garantiamo valore in ogni fase del ciclo di vita dell’asset.</a:t>
            </a:r>
          </a:p>
        </p:txBody>
      </p:sp>
    </p:spTree>
    <p:extLst>
      <p:ext uri="{BB962C8B-B14F-4D97-AF65-F5344CB8AC3E}">
        <p14:creationId xmlns:p14="http://schemas.microsoft.com/office/powerpoint/2010/main" val="151679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6E47B-0593-B741-0114-D86B9808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37">
            <a:extLst>
              <a:ext uri="{FF2B5EF4-FFF2-40B4-BE49-F238E27FC236}">
                <a16:creationId xmlns:a16="http://schemas.microsoft.com/office/drawing/2014/main" id="{7F5F3140-70A2-2361-9224-4A7BAA96491D}"/>
              </a:ext>
            </a:extLst>
          </p:cNvPr>
          <p:cNvSpPr/>
          <p:nvPr/>
        </p:nvSpPr>
        <p:spPr>
          <a:xfrm>
            <a:off x="5402929" y="3068279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65901EA-0CDF-72A8-ABC2-47F897510FC4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48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48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83D27CA-82B6-A5DF-6EFA-0BB0F44F0A74}"/>
              </a:ext>
            </a:extLst>
          </p:cNvPr>
          <p:cNvSpPr>
            <a:spLocks noChangeAspect="1"/>
          </p:cNvSpPr>
          <p:nvPr/>
        </p:nvSpPr>
        <p:spPr>
          <a:xfrm>
            <a:off x="3808955" y="3068279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4CA057CD-0698-46F1-4FCF-98494381997E}"/>
              </a:ext>
            </a:extLst>
          </p:cNvPr>
          <p:cNvSpPr/>
          <p:nvPr/>
        </p:nvSpPr>
        <p:spPr>
          <a:xfrm>
            <a:off x="621008" y="3068279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DEC73A19-1BD0-BB0C-3086-F747BB60D6FE}"/>
              </a:ext>
            </a:extLst>
          </p:cNvPr>
          <p:cNvSpPr/>
          <p:nvPr/>
        </p:nvSpPr>
        <p:spPr>
          <a:xfrm>
            <a:off x="6996902" y="3068279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37A88C69-1811-F437-DF49-62B1ABA3BEC0}"/>
              </a:ext>
            </a:extLst>
          </p:cNvPr>
          <p:cNvSpPr/>
          <p:nvPr/>
        </p:nvSpPr>
        <p:spPr>
          <a:xfrm>
            <a:off x="8590874" y="3068279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2FC1D819-FE4B-3B48-0F92-65EBBEC393C2}"/>
              </a:ext>
            </a:extLst>
          </p:cNvPr>
          <p:cNvGrpSpPr/>
          <p:nvPr/>
        </p:nvGrpSpPr>
        <p:grpSpPr>
          <a:xfrm>
            <a:off x="431368" y="2878639"/>
            <a:ext cx="11157816" cy="1593974"/>
            <a:chOff x="431368" y="2878639"/>
            <a:chExt cx="11157816" cy="1593974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C4B5EB0D-60D9-DA86-CA0B-08E7F34B23C5}"/>
                </a:ext>
              </a:extLst>
            </p:cNvPr>
            <p:cNvSpPr/>
            <p:nvPr/>
          </p:nvSpPr>
          <p:spPr>
            <a:xfrm rot="5400000">
              <a:off x="431369" y="2878638"/>
              <a:ext cx="1593974" cy="1593975"/>
            </a:xfrm>
            <a:prstGeom prst="arc">
              <a:avLst>
                <a:gd name="adj1" fmla="val 16200000"/>
                <a:gd name="adj2" fmla="val 5278363"/>
              </a:avLst>
            </a:prstGeom>
            <a:ln w="12700">
              <a:solidFill>
                <a:srgbClr val="E21529"/>
              </a:solidFill>
              <a:prstDash val="sysDot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2" name="Arc 32">
              <a:extLst>
                <a:ext uri="{FF2B5EF4-FFF2-40B4-BE49-F238E27FC236}">
                  <a16:creationId xmlns:a16="http://schemas.microsoft.com/office/drawing/2014/main" id="{54939194-F4DF-4EDE-AA25-0395F1AD1D98}"/>
                </a:ext>
              </a:extLst>
            </p:cNvPr>
            <p:cNvSpPr/>
            <p:nvPr/>
          </p:nvSpPr>
          <p:spPr>
            <a:xfrm rot="16200000" flipV="1">
              <a:off x="2025343" y="2878638"/>
              <a:ext cx="1593974" cy="1593975"/>
            </a:xfrm>
            <a:prstGeom prst="arc">
              <a:avLst>
                <a:gd name="adj1" fmla="val 16200000"/>
                <a:gd name="adj2" fmla="val 5278363"/>
              </a:avLst>
            </a:prstGeom>
            <a:ln w="12700">
              <a:solidFill>
                <a:srgbClr val="E21529"/>
              </a:solidFill>
              <a:prstDash val="sysDot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7" name="Arc 34">
              <a:extLst>
                <a:ext uri="{FF2B5EF4-FFF2-40B4-BE49-F238E27FC236}">
                  <a16:creationId xmlns:a16="http://schemas.microsoft.com/office/drawing/2014/main" id="{EBED52CC-DC88-B802-0505-D4B67DDE04FC}"/>
                </a:ext>
              </a:extLst>
            </p:cNvPr>
            <p:cNvSpPr/>
            <p:nvPr/>
          </p:nvSpPr>
          <p:spPr>
            <a:xfrm rot="5400000">
              <a:off x="3619316" y="2878638"/>
              <a:ext cx="1593974" cy="1593975"/>
            </a:xfrm>
            <a:prstGeom prst="arc">
              <a:avLst>
                <a:gd name="adj1" fmla="val 16200000"/>
                <a:gd name="adj2" fmla="val 5278363"/>
              </a:avLst>
            </a:prstGeom>
            <a:ln w="12700">
              <a:solidFill>
                <a:srgbClr val="E21529"/>
              </a:solidFill>
              <a:prstDash val="sysDot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8" name="Arc 36">
              <a:extLst>
                <a:ext uri="{FF2B5EF4-FFF2-40B4-BE49-F238E27FC236}">
                  <a16:creationId xmlns:a16="http://schemas.microsoft.com/office/drawing/2014/main" id="{66ABAB6F-0D78-BEA1-18E1-D70E0C3F81E4}"/>
                </a:ext>
              </a:extLst>
            </p:cNvPr>
            <p:cNvSpPr/>
            <p:nvPr/>
          </p:nvSpPr>
          <p:spPr>
            <a:xfrm rot="16200000" flipV="1">
              <a:off x="5213287" y="2878638"/>
              <a:ext cx="1593974" cy="1593975"/>
            </a:xfrm>
            <a:prstGeom prst="arc">
              <a:avLst>
                <a:gd name="adj1" fmla="val 16200000"/>
                <a:gd name="adj2" fmla="val 5278363"/>
              </a:avLst>
            </a:prstGeom>
            <a:ln w="12700">
              <a:solidFill>
                <a:srgbClr val="E21529"/>
              </a:solidFill>
              <a:prstDash val="sysDot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11" name="Arc 38">
              <a:extLst>
                <a:ext uri="{FF2B5EF4-FFF2-40B4-BE49-F238E27FC236}">
                  <a16:creationId xmlns:a16="http://schemas.microsoft.com/office/drawing/2014/main" id="{D0A82641-018B-B901-D168-74D1F304E0F0}"/>
                </a:ext>
              </a:extLst>
            </p:cNvPr>
            <p:cNvSpPr/>
            <p:nvPr/>
          </p:nvSpPr>
          <p:spPr>
            <a:xfrm rot="5400000">
              <a:off x="6807261" y="2878638"/>
              <a:ext cx="1593974" cy="1593975"/>
            </a:xfrm>
            <a:prstGeom prst="arc">
              <a:avLst>
                <a:gd name="adj1" fmla="val 16200000"/>
                <a:gd name="adj2" fmla="val 5278363"/>
              </a:avLst>
            </a:prstGeom>
            <a:ln w="12700">
              <a:solidFill>
                <a:srgbClr val="E21529"/>
              </a:solidFill>
              <a:prstDash val="sysDot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13" name="Arc 48">
              <a:extLst>
                <a:ext uri="{FF2B5EF4-FFF2-40B4-BE49-F238E27FC236}">
                  <a16:creationId xmlns:a16="http://schemas.microsoft.com/office/drawing/2014/main" id="{48120EBA-9A09-760C-72DE-4F2D182837AD}"/>
                </a:ext>
              </a:extLst>
            </p:cNvPr>
            <p:cNvSpPr/>
            <p:nvPr/>
          </p:nvSpPr>
          <p:spPr>
            <a:xfrm rot="16200000" flipV="1">
              <a:off x="8401234" y="2878638"/>
              <a:ext cx="1593974" cy="1593975"/>
            </a:xfrm>
            <a:prstGeom prst="arc">
              <a:avLst>
                <a:gd name="adj1" fmla="val 16200000"/>
                <a:gd name="adj2" fmla="val 5278363"/>
              </a:avLst>
            </a:prstGeom>
            <a:ln w="12700">
              <a:solidFill>
                <a:srgbClr val="E21529"/>
              </a:solidFill>
              <a:prstDash val="sysDot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6B1F6D91-BDC8-6426-918E-CA219BC5BF9A}"/>
                </a:ext>
              </a:extLst>
            </p:cNvPr>
            <p:cNvSpPr/>
            <p:nvPr/>
          </p:nvSpPr>
          <p:spPr>
            <a:xfrm rot="5400000">
              <a:off x="9995210" y="2878638"/>
              <a:ext cx="1593974" cy="1593975"/>
            </a:xfrm>
            <a:prstGeom prst="arc">
              <a:avLst>
                <a:gd name="adj1" fmla="val 16200000"/>
                <a:gd name="adj2" fmla="val 5278363"/>
              </a:avLst>
            </a:prstGeom>
            <a:ln w="12700">
              <a:solidFill>
                <a:srgbClr val="E21529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</p:grpSp>
      <p:sp>
        <p:nvSpPr>
          <p:cNvPr id="98" name="Oval 97">
            <a:extLst>
              <a:ext uri="{FF2B5EF4-FFF2-40B4-BE49-F238E27FC236}">
                <a16:creationId xmlns:a16="http://schemas.microsoft.com/office/drawing/2014/main" id="{C3C262FD-818C-D01E-AB1D-43A500DB7951}"/>
              </a:ext>
            </a:extLst>
          </p:cNvPr>
          <p:cNvSpPr>
            <a:spLocks noChangeAspect="1"/>
          </p:cNvSpPr>
          <p:nvPr/>
        </p:nvSpPr>
        <p:spPr>
          <a:xfrm>
            <a:off x="10184849" y="3068279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D05DD3C-1A99-E90F-EC52-D41B457E0590}"/>
              </a:ext>
            </a:extLst>
          </p:cNvPr>
          <p:cNvSpPr txBox="1"/>
          <p:nvPr/>
        </p:nvSpPr>
        <p:spPr>
          <a:xfrm flipH="1">
            <a:off x="9651003" y="2643505"/>
            <a:ext cx="2279959" cy="2154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Post-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vendita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Medium" panose="020B0604020101010102" pitchFamily="34" charset="0"/>
              <a:ea typeface="Circular Std Light" panose="020B040402010102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017106D-227B-B43D-74FA-A30D4667BE68}"/>
              </a:ext>
            </a:extLst>
          </p:cNvPr>
          <p:cNvSpPr txBox="1"/>
          <p:nvPr/>
        </p:nvSpPr>
        <p:spPr>
          <a:xfrm flipH="1">
            <a:off x="206267" y="2693971"/>
            <a:ext cx="2044172" cy="2154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Centro Studi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Medium" panose="020B0604020101010102" pitchFamily="34" charset="0"/>
              <a:ea typeface="Circular Std Light" panose="020B040402010102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5C803CE-FCCE-63EB-701D-264B4D56A35E}"/>
              </a:ext>
            </a:extLst>
          </p:cNvPr>
          <p:cNvSpPr txBox="1"/>
          <p:nvPr/>
        </p:nvSpPr>
        <p:spPr>
          <a:xfrm flipH="1">
            <a:off x="3464746" y="2693971"/>
            <a:ext cx="1903105" cy="2154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Technical Operation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2A81F39-2AC5-7BA6-1D6A-584CE369C314}"/>
              </a:ext>
            </a:extLst>
          </p:cNvPr>
          <p:cNvSpPr txBox="1"/>
          <p:nvPr/>
        </p:nvSpPr>
        <p:spPr>
          <a:xfrm flipH="1">
            <a:off x="6617621" y="2693971"/>
            <a:ext cx="1783612" cy="2154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Agency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8622051-AA9E-72DB-64E0-D0324A181D41}"/>
              </a:ext>
            </a:extLst>
          </p:cNvPr>
          <p:cNvSpPr txBox="1"/>
          <p:nvPr/>
        </p:nvSpPr>
        <p:spPr>
          <a:xfrm flipH="1">
            <a:off x="8084626" y="4524432"/>
            <a:ext cx="22271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Back Office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0A8A307-F3DA-5A4F-248B-91D26771ABE7}"/>
              </a:ext>
            </a:extLst>
          </p:cNvPr>
          <p:cNvSpPr txBox="1"/>
          <p:nvPr/>
        </p:nvSpPr>
        <p:spPr>
          <a:xfrm flipH="1">
            <a:off x="4693099" y="4524432"/>
            <a:ext cx="26343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Marketing &amp; Communication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CA5455F-A187-4E29-0212-8E81CD87817D}"/>
              </a:ext>
            </a:extLst>
          </p:cNvPr>
          <p:cNvSpPr txBox="1"/>
          <p:nvPr/>
        </p:nvSpPr>
        <p:spPr>
          <a:xfrm flipH="1">
            <a:off x="1916469" y="4524432"/>
            <a:ext cx="181171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Advisor &amp; Valuation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58D50D39-2AEC-4621-2C66-B200E7693F83}"/>
              </a:ext>
            </a:extLst>
          </p:cNvPr>
          <p:cNvSpPr/>
          <p:nvPr/>
        </p:nvSpPr>
        <p:spPr>
          <a:xfrm>
            <a:off x="2214983" y="3068279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</p:spTree>
    <p:extLst>
      <p:ext uri="{BB962C8B-B14F-4D97-AF65-F5344CB8AC3E}">
        <p14:creationId xmlns:p14="http://schemas.microsoft.com/office/powerpoint/2010/main" val="1665838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6" grpId="0" animBg="1"/>
      <p:bldP spid="10" grpId="0" animBg="1"/>
      <p:bldP spid="12" grpId="0" animBg="1"/>
      <p:bldP spid="14" grpId="0" animBg="1"/>
      <p:bldP spid="98" grpId="0" animBg="1"/>
      <p:bldP spid="192" grpId="0"/>
      <p:bldP spid="193" grpId="0"/>
      <p:bldP spid="184" grpId="0"/>
      <p:bldP spid="185" grpId="0"/>
      <p:bldP spid="196" grpId="0"/>
      <p:bldP spid="203" grpId="0"/>
      <p:bldP spid="204" grpId="0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6AFE8-6CC7-6297-0BD0-AEED0D4E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e 39">
            <a:extLst>
              <a:ext uri="{FF2B5EF4-FFF2-40B4-BE49-F238E27FC236}">
                <a16:creationId xmlns:a16="http://schemas.microsoft.com/office/drawing/2014/main" id="{C030DA1B-4BD6-F943-9F15-B6A5DCC5AE7E}"/>
              </a:ext>
            </a:extLst>
          </p:cNvPr>
          <p:cNvSpPr/>
          <p:nvPr/>
        </p:nvSpPr>
        <p:spPr>
          <a:xfrm>
            <a:off x="45341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9" name="Oval 37">
            <a:extLst>
              <a:ext uri="{FF2B5EF4-FFF2-40B4-BE49-F238E27FC236}">
                <a16:creationId xmlns:a16="http://schemas.microsoft.com/office/drawing/2014/main" id="{1722FA8B-11F1-6F4A-298F-76FA347A3CD6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975CF09-5FA2-7E57-EE78-A3F3B26D22C5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A4160B-8CBC-A68A-A8C8-10AEDC43364F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86BA3B2E-0319-CE0C-3FBB-A468E8C8E237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A443FF69-908E-8162-E606-C21668BCCA1C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4CA44B3F-FA55-A4D4-DD3E-4C0CD22814E0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6643F8E-C6CF-5B1E-E448-76B832C1E216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1C78B7B9-A4F6-5A89-CB1D-17F78DC2A7B1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492A030E-8573-48E3-99B9-47EEDC5D75F5}"/>
              </a:ext>
            </a:extLst>
          </p:cNvPr>
          <p:cNvSpPr/>
          <p:nvPr/>
        </p:nvSpPr>
        <p:spPr>
          <a:xfrm>
            <a:off x="205349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E070F2BE-48B7-9617-8E82-A9820D966CD0}"/>
              </a:ext>
            </a:extLst>
          </p:cNvPr>
          <p:cNvSpPr/>
          <p:nvPr/>
        </p:nvSpPr>
        <p:spPr>
          <a:xfrm>
            <a:off x="3653562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9A31024E-492C-BC13-0B91-997763528A95}"/>
              </a:ext>
            </a:extLst>
          </p:cNvPr>
          <p:cNvSpPr/>
          <p:nvPr/>
        </p:nvSpPr>
        <p:spPr>
          <a:xfrm>
            <a:off x="5253634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72B41875-9679-AA39-6129-4C97470B8831}"/>
              </a:ext>
            </a:extLst>
          </p:cNvPr>
          <p:cNvSpPr/>
          <p:nvPr/>
        </p:nvSpPr>
        <p:spPr>
          <a:xfrm>
            <a:off x="685370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0FAF2F98-FB7E-EF21-62C9-4A4EAF7D3E29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7" name="Sottotitolo 2">
            <a:extLst>
              <a:ext uri="{FF2B5EF4-FFF2-40B4-BE49-F238E27FC236}">
                <a16:creationId xmlns:a16="http://schemas.microsoft.com/office/drawing/2014/main" id="{994C312A-A926-188A-43C4-0692C7D47036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B5C42EC3-3B22-DAC1-7516-CDE8CA0B5D88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541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CF369-1E1B-8D2E-C86D-3DA8AA77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37">
            <a:extLst>
              <a:ext uri="{FF2B5EF4-FFF2-40B4-BE49-F238E27FC236}">
                <a16:creationId xmlns:a16="http://schemas.microsoft.com/office/drawing/2014/main" id="{B5CCD178-9A07-7844-2038-EB7AE1B0EBB3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97A059-26BE-C4CB-2CA6-FA9CE88C0AA5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7D4B528-1729-7A16-BAD5-E593E8C77730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912116E1-7871-7920-1836-3BD076A4B7F3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85284C5B-76A1-94CE-07CF-319E2E918F51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1FA48D85-511B-3888-2BDF-02E874261AC9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80F56B8B-1CE4-1E5D-D209-1531DF41EA06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7B07ADB3-9A98-7037-C32B-711647D572FD}"/>
              </a:ext>
            </a:extLst>
          </p:cNvPr>
          <p:cNvSpPr/>
          <p:nvPr/>
        </p:nvSpPr>
        <p:spPr>
          <a:xfrm>
            <a:off x="205349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59AE7BF3-4C6F-9EE1-162B-E9484366C966}"/>
              </a:ext>
            </a:extLst>
          </p:cNvPr>
          <p:cNvSpPr/>
          <p:nvPr/>
        </p:nvSpPr>
        <p:spPr>
          <a:xfrm>
            <a:off x="3653562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B582C9C4-8620-6567-3081-463755F442A9}"/>
              </a:ext>
            </a:extLst>
          </p:cNvPr>
          <p:cNvSpPr/>
          <p:nvPr/>
        </p:nvSpPr>
        <p:spPr>
          <a:xfrm>
            <a:off x="5253634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248233D1-FEBE-FE4A-CECD-A20937B5136A}"/>
              </a:ext>
            </a:extLst>
          </p:cNvPr>
          <p:cNvSpPr/>
          <p:nvPr/>
        </p:nvSpPr>
        <p:spPr>
          <a:xfrm>
            <a:off x="685370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86F6B306-69FE-3963-1769-3CCA9DA0B844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5" name="Rectangle 108">
            <a:extLst>
              <a:ext uri="{FF2B5EF4-FFF2-40B4-BE49-F238E27FC236}">
                <a16:creationId xmlns:a16="http://schemas.microsoft.com/office/drawing/2014/main" id="{7F8FD47C-EDFE-C723-D2B8-9C947681B9BA}"/>
              </a:ext>
            </a:extLst>
          </p:cNvPr>
          <p:cNvSpPr/>
          <p:nvPr/>
        </p:nvSpPr>
        <p:spPr>
          <a:xfrm>
            <a:off x="581965" y="4204769"/>
            <a:ext cx="10750901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Scenario economico e demografico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Domanda verso offerta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Contesto urbano e quartiere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172DD85-5316-3E98-1ED4-EC2F03FF6443}"/>
              </a:ext>
            </a:extLst>
          </p:cNvPr>
          <p:cNvSpPr txBox="1"/>
          <p:nvPr/>
        </p:nvSpPr>
        <p:spPr>
          <a:xfrm>
            <a:off x="554333" y="3321605"/>
            <a:ext cx="858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4C1529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Centro </a:t>
            </a: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Studi</a:t>
            </a:r>
            <a:endParaRPr kumimoji="0" lang="it-IT" sz="4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8" name="Oval 97">
            <a:extLst>
              <a:ext uri="{FF2B5EF4-FFF2-40B4-BE49-F238E27FC236}">
                <a16:creationId xmlns:a16="http://schemas.microsoft.com/office/drawing/2014/main" id="{3F3D38DF-8938-0F12-7EC8-579AB7FCA7CA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DA2B15B9-B8A2-6CD2-6735-A273695C6D44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" name="Sottotitolo 2">
            <a:extLst>
              <a:ext uri="{FF2B5EF4-FFF2-40B4-BE49-F238E27FC236}">
                <a16:creationId xmlns:a16="http://schemas.microsoft.com/office/drawing/2014/main" id="{FDAE42BF-A626-4D21-D5E5-478D75DC6FE6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50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06317-8FDD-94AD-0FF8-B79690D8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37">
            <a:extLst>
              <a:ext uri="{FF2B5EF4-FFF2-40B4-BE49-F238E27FC236}">
                <a16:creationId xmlns:a16="http://schemas.microsoft.com/office/drawing/2014/main" id="{7C47C07C-58A7-38E9-E7EC-1233186A6921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D51B1E4-0159-D2AC-B5AB-5248D25E180E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8E406A2-A8B4-5645-61C8-D58B486EB517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E9A59AE2-0AD9-6E26-1C17-92F74CC0AE48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F2624F9D-7116-1208-5543-17D060FBB803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F891EF69-092F-3CA6-AA74-572D242613EA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131C9F2D-CCD6-8574-EFFF-F5DFEC68752C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1420FA56-68CD-940C-7E64-77753C77923C}"/>
              </a:ext>
            </a:extLst>
          </p:cNvPr>
          <p:cNvSpPr/>
          <p:nvPr/>
        </p:nvSpPr>
        <p:spPr>
          <a:xfrm>
            <a:off x="3653562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735A07AF-CB82-E5B4-58BA-5E3D6091AF62}"/>
              </a:ext>
            </a:extLst>
          </p:cNvPr>
          <p:cNvSpPr/>
          <p:nvPr/>
        </p:nvSpPr>
        <p:spPr>
          <a:xfrm>
            <a:off x="5253634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64E5A070-0706-4EE5-1330-50529C141E69}"/>
              </a:ext>
            </a:extLst>
          </p:cNvPr>
          <p:cNvSpPr/>
          <p:nvPr/>
        </p:nvSpPr>
        <p:spPr>
          <a:xfrm>
            <a:off x="685370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5E2C65F9-05AB-7916-68D8-D29AADD113D3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5" name="Rectangle 108">
            <a:extLst>
              <a:ext uri="{FF2B5EF4-FFF2-40B4-BE49-F238E27FC236}">
                <a16:creationId xmlns:a16="http://schemas.microsoft.com/office/drawing/2014/main" id="{1BA6CF8C-31B3-0E9E-F5E4-0563897E49AC}"/>
              </a:ext>
            </a:extLst>
          </p:cNvPr>
          <p:cNvSpPr/>
          <p:nvPr/>
        </p:nvSpPr>
        <p:spPr>
          <a:xfrm>
            <a:off x="581965" y="4204769"/>
            <a:ext cx="3124559" cy="1719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Valutazione dell’asset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Inquadramento mercato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Competitor </a:t>
            </a:r>
            <a:r>
              <a:rPr kumimoji="0" lang="it-IT" b="0" i="0" u="none" strike="noStrike" kern="1200" cap="none" spc="0" normalizeH="0" baseline="0" noProof="0" dirty="0" err="1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analysis</a:t>
            </a:r>
            <a:endParaRPr kumimoji="0" lang="it-IT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Capitolati e finiture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2B4B347-A008-CC44-ABB5-283A7B4ECB1F}"/>
              </a:ext>
            </a:extLst>
          </p:cNvPr>
          <p:cNvSpPr txBox="1"/>
          <p:nvPr/>
        </p:nvSpPr>
        <p:spPr>
          <a:xfrm>
            <a:off x="554333" y="3321605"/>
            <a:ext cx="858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4C1529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Advisor &amp; </a:t>
            </a:r>
            <a:r>
              <a:rPr kumimoji="0" lang="it-IT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Valuation</a:t>
            </a:r>
            <a:endParaRPr kumimoji="0" lang="it-IT" sz="4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2" name="Rectangle 108">
            <a:extLst>
              <a:ext uri="{FF2B5EF4-FFF2-40B4-BE49-F238E27FC236}">
                <a16:creationId xmlns:a16="http://schemas.microsoft.com/office/drawing/2014/main" id="{1F0D87A1-172B-49FC-C4E7-59198BE00CC1}"/>
              </a:ext>
            </a:extLst>
          </p:cNvPr>
          <p:cNvSpPr/>
          <p:nvPr/>
        </p:nvSpPr>
        <p:spPr>
          <a:xfrm>
            <a:off x="3426386" y="4204769"/>
            <a:ext cx="3124560" cy="2135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Linee guide tecniche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Pricing commerciale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Strategia commerciale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E9C81588-78DE-D49C-EE41-63D006443028}"/>
              </a:ext>
            </a:extLst>
          </p:cNvPr>
          <p:cNvSpPr/>
          <p:nvPr/>
        </p:nvSpPr>
        <p:spPr>
          <a:xfrm>
            <a:off x="45341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7" name="Oval 97">
            <a:extLst>
              <a:ext uri="{FF2B5EF4-FFF2-40B4-BE49-F238E27FC236}">
                <a16:creationId xmlns:a16="http://schemas.microsoft.com/office/drawing/2014/main" id="{F00C40AE-8316-A160-0751-8A865F040550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E33940CA-17F0-AC91-3B39-A42EA59979F5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31D00E72-0506-65FC-6CC9-326FE93D6462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2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8BC15-9D6F-C0FB-D7D3-BBD1A744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Elementi grafici, Carattere, logo, cerchio&#10;&#10;Il contenuto generato dall'IA potrebbe non essere corretto.">
            <a:extLst>
              <a:ext uri="{FF2B5EF4-FFF2-40B4-BE49-F238E27FC236}">
                <a16:creationId xmlns:a16="http://schemas.microsoft.com/office/drawing/2014/main" id="{28414FB0-0A7C-E656-6C55-9011FCC26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482" y="2320158"/>
            <a:ext cx="1944393" cy="1361076"/>
          </a:xfrm>
          <a:prstGeom prst="rect">
            <a:avLst/>
          </a:prstGeom>
        </p:spPr>
      </p:pic>
      <p:sp>
        <p:nvSpPr>
          <p:cNvPr id="4" name="Rectangle 108">
            <a:extLst>
              <a:ext uri="{FF2B5EF4-FFF2-40B4-BE49-F238E27FC236}">
                <a16:creationId xmlns:a16="http://schemas.microsoft.com/office/drawing/2014/main" id="{CF46E170-CC9D-6909-26E5-1C3D723EB341}"/>
              </a:ext>
            </a:extLst>
          </p:cNvPr>
          <p:cNvSpPr/>
          <p:nvPr/>
        </p:nvSpPr>
        <p:spPr>
          <a:xfrm>
            <a:off x="1350475" y="1159108"/>
            <a:ext cx="94577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Co. si avvale di soluzioni software avanzate progettate per ottimizzare la gestione dei processi, migliorare la gestione dei dati e fornire una profilazione dettagliata dei clienti,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garantendo un'esperienza immobiliare senza precedenti. </a:t>
            </a:r>
          </a:p>
        </p:txBody>
      </p:sp>
      <p:sp>
        <p:nvSpPr>
          <p:cNvPr id="5" name="object 28">
            <a:extLst>
              <a:ext uri="{FF2B5EF4-FFF2-40B4-BE49-F238E27FC236}">
                <a16:creationId xmlns:a16="http://schemas.microsoft.com/office/drawing/2014/main" id="{DBBAB1F0-2548-E3C0-47E3-06A9C060B730}"/>
              </a:ext>
            </a:extLst>
          </p:cNvPr>
          <p:cNvSpPr txBox="1"/>
          <p:nvPr/>
        </p:nvSpPr>
        <p:spPr>
          <a:xfrm>
            <a:off x="3304616" y="2863851"/>
            <a:ext cx="843914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CRM personalizzato su misura per il monitoraggio dei dati e la raccolta delle informazioni di vendita.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A907D6D3-7111-9D08-F03F-E5FEB43A5D2E}"/>
              </a:ext>
            </a:extLst>
          </p:cNvPr>
          <p:cNvGrpSpPr/>
          <p:nvPr/>
        </p:nvGrpSpPr>
        <p:grpSpPr>
          <a:xfrm>
            <a:off x="0" y="4357914"/>
            <a:ext cx="12192000" cy="1444613"/>
            <a:chOff x="0" y="2893961"/>
            <a:chExt cx="12192000" cy="1444613"/>
          </a:xfrm>
        </p:grpSpPr>
        <p:sp>
          <p:nvSpPr>
            <p:cNvPr id="19" name="TextBox 30">
              <a:extLst>
                <a:ext uri="{FF2B5EF4-FFF2-40B4-BE49-F238E27FC236}">
                  <a16:creationId xmlns:a16="http://schemas.microsoft.com/office/drawing/2014/main" id="{41FD1B25-451D-7C61-C3B4-E87140A391F8}"/>
                </a:ext>
              </a:extLst>
            </p:cNvPr>
            <p:cNvSpPr txBox="1"/>
            <p:nvPr/>
          </p:nvSpPr>
          <p:spPr>
            <a:xfrm>
              <a:off x="304800" y="3536238"/>
              <a:ext cx="1390684" cy="3945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121914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Dashboard generale</a:t>
              </a:r>
            </a:p>
          </p:txBody>
        </p: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6784E9F1-D9BE-AAD8-1F46-CACA3716DA6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060797"/>
              <a:ext cx="12192000" cy="0"/>
            </a:xfrm>
            <a:prstGeom prst="line">
              <a:avLst/>
            </a:prstGeom>
            <a:ln w="19050">
              <a:solidFill>
                <a:srgbClr val="460E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e 32">
              <a:extLst>
                <a:ext uri="{FF2B5EF4-FFF2-40B4-BE49-F238E27FC236}">
                  <a16:creationId xmlns:a16="http://schemas.microsoft.com/office/drawing/2014/main" id="{B9D8FFED-873F-93E5-524C-6920FD86C79B}"/>
                </a:ext>
              </a:extLst>
            </p:cNvPr>
            <p:cNvSpPr/>
            <p:nvPr/>
          </p:nvSpPr>
          <p:spPr>
            <a:xfrm>
              <a:off x="304800" y="2981237"/>
              <a:ext cx="159120" cy="1591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45" name="Ovale 44">
              <a:extLst>
                <a:ext uri="{FF2B5EF4-FFF2-40B4-BE49-F238E27FC236}">
                  <a16:creationId xmlns:a16="http://schemas.microsoft.com/office/drawing/2014/main" id="{84B57243-2764-9C4F-85F6-5B4E5618C66D}"/>
                </a:ext>
              </a:extLst>
            </p:cNvPr>
            <p:cNvSpPr/>
            <p:nvPr/>
          </p:nvSpPr>
          <p:spPr>
            <a:xfrm>
              <a:off x="277616" y="2893961"/>
              <a:ext cx="333672" cy="333672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46" name="Google Shape;642;p3">
              <a:extLst>
                <a:ext uri="{FF2B5EF4-FFF2-40B4-BE49-F238E27FC236}">
                  <a16:creationId xmlns:a16="http://schemas.microsoft.com/office/drawing/2014/main" id="{473D1623-B673-C479-DDB3-90D4E47B1CC1}"/>
                </a:ext>
              </a:extLst>
            </p:cNvPr>
            <p:cNvSpPr/>
            <p:nvPr/>
          </p:nvSpPr>
          <p:spPr>
            <a:xfrm>
              <a:off x="341861" y="2981237"/>
              <a:ext cx="205181" cy="159120"/>
            </a:xfrm>
            <a:custGeom>
              <a:avLst/>
              <a:gdLst/>
              <a:ahLst/>
              <a:cxnLst/>
              <a:rect l="l" t="t" r="r" b="b"/>
              <a:pathLst>
                <a:path w="68" h="53" extrusionOk="0">
                  <a:moveTo>
                    <a:pt x="8" y="15"/>
                  </a:moveTo>
                  <a:cubicBezTo>
                    <a:pt x="4" y="15"/>
                    <a:pt x="0" y="11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lose/>
                  <a:moveTo>
                    <a:pt x="8" y="34"/>
                  </a:moveTo>
                  <a:cubicBezTo>
                    <a:pt x="4" y="34"/>
                    <a:pt x="0" y="31"/>
                    <a:pt x="0" y="27"/>
                  </a:cubicBezTo>
                  <a:cubicBezTo>
                    <a:pt x="0" y="23"/>
                    <a:pt x="4" y="19"/>
                    <a:pt x="8" y="19"/>
                  </a:cubicBezTo>
                  <a:cubicBezTo>
                    <a:pt x="12" y="19"/>
                    <a:pt x="15" y="23"/>
                    <a:pt x="15" y="27"/>
                  </a:cubicBezTo>
                  <a:cubicBezTo>
                    <a:pt x="15" y="31"/>
                    <a:pt x="12" y="34"/>
                    <a:pt x="8" y="34"/>
                  </a:cubicBezTo>
                  <a:close/>
                  <a:moveTo>
                    <a:pt x="8" y="53"/>
                  </a:moveTo>
                  <a:cubicBezTo>
                    <a:pt x="4" y="53"/>
                    <a:pt x="0" y="50"/>
                    <a:pt x="0" y="46"/>
                  </a:cubicBezTo>
                  <a:cubicBezTo>
                    <a:pt x="0" y="42"/>
                    <a:pt x="4" y="39"/>
                    <a:pt x="8" y="39"/>
                  </a:cubicBezTo>
                  <a:cubicBezTo>
                    <a:pt x="12" y="39"/>
                    <a:pt x="15" y="42"/>
                    <a:pt x="15" y="46"/>
                  </a:cubicBezTo>
                  <a:cubicBezTo>
                    <a:pt x="15" y="50"/>
                    <a:pt x="12" y="53"/>
                    <a:pt x="8" y="53"/>
                  </a:cubicBezTo>
                  <a:close/>
                  <a:moveTo>
                    <a:pt x="68" y="11"/>
                  </a:moveTo>
                  <a:cubicBezTo>
                    <a:pt x="68" y="12"/>
                    <a:pt x="68" y="12"/>
                    <a:pt x="67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2"/>
                    <a:pt x="21" y="2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8" y="2"/>
                    <a:pt x="68" y="3"/>
                    <a:pt x="68" y="4"/>
                  </a:cubicBezTo>
                  <a:lnTo>
                    <a:pt x="68" y="11"/>
                  </a:lnTo>
                  <a:close/>
                  <a:moveTo>
                    <a:pt x="68" y="30"/>
                  </a:moveTo>
                  <a:cubicBezTo>
                    <a:pt x="68" y="31"/>
                    <a:pt x="68" y="32"/>
                    <a:pt x="67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0" y="32"/>
                    <a:pt x="20" y="31"/>
                    <a:pt x="20" y="30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2"/>
                    <a:pt x="20" y="22"/>
                    <a:pt x="21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8" y="22"/>
                    <a:pt x="68" y="22"/>
                    <a:pt x="68" y="23"/>
                  </a:cubicBezTo>
                  <a:lnTo>
                    <a:pt x="68" y="30"/>
                  </a:lnTo>
                  <a:close/>
                  <a:moveTo>
                    <a:pt x="68" y="50"/>
                  </a:moveTo>
                  <a:cubicBezTo>
                    <a:pt x="68" y="50"/>
                    <a:pt x="68" y="51"/>
                    <a:pt x="67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0"/>
                    <a:pt x="20" y="50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1"/>
                    <a:pt x="21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8" y="41"/>
                    <a:pt x="68" y="42"/>
                    <a:pt x="68" y="42"/>
                  </a:cubicBezTo>
                  <a:lnTo>
                    <a:pt x="68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  <a:sym typeface="Calibri"/>
              </a:endParaRPr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B85CCF1F-6E64-E4AD-1068-52A97C375512}"/>
                </a:ext>
              </a:extLst>
            </p:cNvPr>
            <p:cNvSpPr/>
            <p:nvPr/>
          </p:nvSpPr>
          <p:spPr>
            <a:xfrm>
              <a:off x="2009689" y="2981237"/>
              <a:ext cx="159120" cy="1591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8" name="Ovale 7">
              <a:extLst>
                <a:ext uri="{FF2B5EF4-FFF2-40B4-BE49-F238E27FC236}">
                  <a16:creationId xmlns:a16="http://schemas.microsoft.com/office/drawing/2014/main" id="{A7D2A833-0FB0-39E5-8884-1CAB118ACEBB}"/>
                </a:ext>
              </a:extLst>
            </p:cNvPr>
            <p:cNvSpPr/>
            <p:nvPr/>
          </p:nvSpPr>
          <p:spPr>
            <a:xfrm>
              <a:off x="2001973" y="2893961"/>
              <a:ext cx="333672" cy="333672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290EFF79-356D-7742-6E77-839E8162F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249" y="2942017"/>
              <a:ext cx="159120" cy="207865"/>
            </a:xfrm>
            <a:custGeom>
              <a:avLst/>
              <a:gdLst>
                <a:gd name="T0" fmla="*/ 345 w 387"/>
                <a:gd name="T1" fmla="*/ 361 h 504"/>
                <a:gd name="T2" fmla="*/ 265 w 387"/>
                <a:gd name="T3" fmla="*/ 320 h 504"/>
                <a:gd name="T4" fmla="*/ 252 w 387"/>
                <a:gd name="T5" fmla="*/ 301 h 504"/>
                <a:gd name="T6" fmla="*/ 252 w 387"/>
                <a:gd name="T7" fmla="*/ 272 h 504"/>
                <a:gd name="T8" fmla="*/ 258 w 387"/>
                <a:gd name="T9" fmla="*/ 264 h 504"/>
                <a:gd name="T10" fmla="*/ 283 w 387"/>
                <a:gd name="T11" fmla="*/ 215 h 504"/>
                <a:gd name="T12" fmla="*/ 303 w 387"/>
                <a:gd name="T13" fmla="*/ 185 h 504"/>
                <a:gd name="T14" fmla="*/ 303 w 387"/>
                <a:gd name="T15" fmla="*/ 151 h 504"/>
                <a:gd name="T16" fmla="*/ 294 w 387"/>
                <a:gd name="T17" fmla="*/ 129 h 504"/>
                <a:gd name="T18" fmla="*/ 294 w 387"/>
                <a:gd name="T19" fmla="*/ 84 h 504"/>
                <a:gd name="T20" fmla="*/ 277 w 387"/>
                <a:gd name="T21" fmla="*/ 30 h 504"/>
                <a:gd name="T22" fmla="*/ 193 w 387"/>
                <a:gd name="T23" fmla="*/ 0 h 504"/>
                <a:gd name="T24" fmla="*/ 110 w 387"/>
                <a:gd name="T25" fmla="*/ 30 h 504"/>
                <a:gd name="T26" fmla="*/ 93 w 387"/>
                <a:gd name="T27" fmla="*/ 84 h 504"/>
                <a:gd name="T28" fmla="*/ 93 w 387"/>
                <a:gd name="T29" fmla="*/ 129 h 504"/>
                <a:gd name="T30" fmla="*/ 84 w 387"/>
                <a:gd name="T31" fmla="*/ 151 h 504"/>
                <a:gd name="T32" fmla="*/ 84 w 387"/>
                <a:gd name="T33" fmla="*/ 185 h 504"/>
                <a:gd name="T34" fmla="*/ 97 w 387"/>
                <a:gd name="T35" fmla="*/ 211 h 504"/>
                <a:gd name="T36" fmla="*/ 126 w 387"/>
                <a:gd name="T37" fmla="*/ 272 h 504"/>
                <a:gd name="T38" fmla="*/ 126 w 387"/>
                <a:gd name="T39" fmla="*/ 300 h 504"/>
                <a:gd name="T40" fmla="*/ 115 w 387"/>
                <a:gd name="T41" fmla="*/ 319 h 504"/>
                <a:gd name="T42" fmla="*/ 40 w 387"/>
                <a:gd name="T43" fmla="*/ 360 h 504"/>
                <a:gd name="T44" fmla="*/ 0 w 387"/>
                <a:gd name="T45" fmla="*/ 427 h 504"/>
                <a:gd name="T46" fmla="*/ 0 w 387"/>
                <a:gd name="T47" fmla="*/ 454 h 504"/>
                <a:gd name="T48" fmla="*/ 193 w 387"/>
                <a:gd name="T49" fmla="*/ 504 h 504"/>
                <a:gd name="T50" fmla="*/ 387 w 387"/>
                <a:gd name="T51" fmla="*/ 454 h 504"/>
                <a:gd name="T52" fmla="*/ 387 w 387"/>
                <a:gd name="T53" fmla="*/ 428 h 504"/>
                <a:gd name="T54" fmla="*/ 345 w 387"/>
                <a:gd name="T55" fmla="*/ 36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7" h="504">
                  <a:moveTo>
                    <a:pt x="345" y="361"/>
                  </a:moveTo>
                  <a:cubicBezTo>
                    <a:pt x="265" y="320"/>
                    <a:pt x="265" y="320"/>
                    <a:pt x="265" y="320"/>
                  </a:cubicBezTo>
                  <a:cubicBezTo>
                    <a:pt x="257" y="317"/>
                    <a:pt x="252" y="309"/>
                    <a:pt x="252" y="301"/>
                  </a:cubicBezTo>
                  <a:cubicBezTo>
                    <a:pt x="252" y="272"/>
                    <a:pt x="252" y="272"/>
                    <a:pt x="252" y="272"/>
                  </a:cubicBezTo>
                  <a:cubicBezTo>
                    <a:pt x="254" y="270"/>
                    <a:pt x="256" y="267"/>
                    <a:pt x="258" y="264"/>
                  </a:cubicBezTo>
                  <a:cubicBezTo>
                    <a:pt x="269" y="249"/>
                    <a:pt x="277" y="233"/>
                    <a:pt x="283" y="215"/>
                  </a:cubicBezTo>
                  <a:cubicBezTo>
                    <a:pt x="295" y="210"/>
                    <a:pt x="303" y="198"/>
                    <a:pt x="303" y="185"/>
                  </a:cubicBezTo>
                  <a:cubicBezTo>
                    <a:pt x="303" y="151"/>
                    <a:pt x="303" y="151"/>
                    <a:pt x="303" y="151"/>
                  </a:cubicBezTo>
                  <a:cubicBezTo>
                    <a:pt x="303" y="143"/>
                    <a:pt x="300" y="135"/>
                    <a:pt x="294" y="129"/>
                  </a:cubicBezTo>
                  <a:cubicBezTo>
                    <a:pt x="294" y="84"/>
                    <a:pt x="294" y="84"/>
                    <a:pt x="294" y="84"/>
                  </a:cubicBezTo>
                  <a:cubicBezTo>
                    <a:pt x="295" y="80"/>
                    <a:pt x="297" y="52"/>
                    <a:pt x="277" y="30"/>
                  </a:cubicBezTo>
                  <a:cubicBezTo>
                    <a:pt x="259" y="10"/>
                    <a:pt x="231" y="0"/>
                    <a:pt x="193" y="0"/>
                  </a:cubicBezTo>
                  <a:cubicBezTo>
                    <a:pt x="155" y="0"/>
                    <a:pt x="127" y="10"/>
                    <a:pt x="110" y="30"/>
                  </a:cubicBezTo>
                  <a:cubicBezTo>
                    <a:pt x="90" y="52"/>
                    <a:pt x="92" y="80"/>
                    <a:pt x="93" y="84"/>
                  </a:cubicBezTo>
                  <a:cubicBezTo>
                    <a:pt x="93" y="129"/>
                    <a:pt x="93" y="129"/>
                    <a:pt x="93" y="129"/>
                  </a:cubicBezTo>
                  <a:cubicBezTo>
                    <a:pt x="87" y="135"/>
                    <a:pt x="84" y="143"/>
                    <a:pt x="84" y="151"/>
                  </a:cubicBezTo>
                  <a:cubicBezTo>
                    <a:pt x="84" y="185"/>
                    <a:pt x="84" y="185"/>
                    <a:pt x="84" y="185"/>
                  </a:cubicBezTo>
                  <a:cubicBezTo>
                    <a:pt x="84" y="195"/>
                    <a:pt x="89" y="205"/>
                    <a:pt x="97" y="211"/>
                  </a:cubicBezTo>
                  <a:cubicBezTo>
                    <a:pt x="104" y="242"/>
                    <a:pt x="121" y="265"/>
                    <a:pt x="126" y="272"/>
                  </a:cubicBezTo>
                  <a:cubicBezTo>
                    <a:pt x="126" y="300"/>
                    <a:pt x="126" y="300"/>
                    <a:pt x="126" y="300"/>
                  </a:cubicBezTo>
                  <a:cubicBezTo>
                    <a:pt x="126" y="308"/>
                    <a:pt x="122" y="315"/>
                    <a:pt x="115" y="319"/>
                  </a:cubicBezTo>
                  <a:cubicBezTo>
                    <a:pt x="40" y="360"/>
                    <a:pt x="40" y="360"/>
                    <a:pt x="40" y="360"/>
                  </a:cubicBezTo>
                  <a:cubicBezTo>
                    <a:pt x="15" y="373"/>
                    <a:pt x="0" y="399"/>
                    <a:pt x="0" y="427"/>
                  </a:cubicBezTo>
                  <a:cubicBezTo>
                    <a:pt x="0" y="454"/>
                    <a:pt x="0" y="454"/>
                    <a:pt x="0" y="454"/>
                  </a:cubicBezTo>
                  <a:cubicBezTo>
                    <a:pt x="0" y="494"/>
                    <a:pt x="127" y="504"/>
                    <a:pt x="193" y="504"/>
                  </a:cubicBezTo>
                  <a:cubicBezTo>
                    <a:pt x="260" y="504"/>
                    <a:pt x="387" y="494"/>
                    <a:pt x="387" y="454"/>
                  </a:cubicBezTo>
                  <a:cubicBezTo>
                    <a:pt x="387" y="428"/>
                    <a:pt x="387" y="428"/>
                    <a:pt x="387" y="428"/>
                  </a:cubicBezTo>
                  <a:cubicBezTo>
                    <a:pt x="387" y="399"/>
                    <a:pt x="371" y="373"/>
                    <a:pt x="345" y="36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endParaRPr>
            </a:p>
          </p:txBody>
        </p:sp>
        <p:sp>
          <p:nvSpPr>
            <p:cNvPr id="10" name="TextBox 30">
              <a:extLst>
                <a:ext uri="{FF2B5EF4-FFF2-40B4-BE49-F238E27FC236}">
                  <a16:creationId xmlns:a16="http://schemas.microsoft.com/office/drawing/2014/main" id="{2FA1C1A4-9C44-0159-E80D-CE542736EE41}"/>
                </a:ext>
              </a:extLst>
            </p:cNvPr>
            <p:cNvSpPr txBox="1"/>
            <p:nvPr/>
          </p:nvSpPr>
          <p:spPr>
            <a:xfrm>
              <a:off x="2009689" y="3536238"/>
              <a:ext cx="1390684" cy="4016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121914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 err="1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Profilazione</a:t>
              </a: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 &amp; </a:t>
              </a:r>
              <a:r>
                <a:rPr kumimoji="0" lang="en-US" sz="1200" i="0" u="none" strike="noStrike" kern="1200" cap="none" spc="0" normalizeH="0" baseline="0" noProof="0" dirty="0" err="1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richieste</a:t>
              </a: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 </a:t>
              </a:r>
              <a:r>
                <a:rPr kumimoji="0" lang="en-US" sz="1200" i="0" u="none" strike="noStrike" kern="1200" cap="none" spc="0" normalizeH="0" baseline="0" noProof="0" dirty="0" err="1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cliente</a:t>
              </a:r>
              <a:endPara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endParaRPr>
            </a:p>
          </p:txBody>
        </p:sp>
        <p:sp>
          <p:nvSpPr>
            <p:cNvPr id="11" name="TextBox 30">
              <a:extLst>
                <a:ext uri="{FF2B5EF4-FFF2-40B4-BE49-F238E27FC236}">
                  <a16:creationId xmlns:a16="http://schemas.microsoft.com/office/drawing/2014/main" id="{D36CF7C9-995A-7B0D-CD46-4E8A8E109234}"/>
                </a:ext>
              </a:extLst>
            </p:cNvPr>
            <p:cNvSpPr txBox="1"/>
            <p:nvPr/>
          </p:nvSpPr>
          <p:spPr>
            <a:xfrm>
              <a:off x="3705173" y="3536238"/>
              <a:ext cx="1390684" cy="8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121914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Performance individuali di ogni progetto e</a:t>
              </a:r>
              <a:br>
                <a:rPr kumimoji="0" lang="it-IT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</a:br>
              <a:r>
                <a:rPr kumimoji="0" lang="it-IT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di ogni broker</a:t>
              </a:r>
            </a:p>
          </p:txBody>
        </p:sp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A2D66F72-B272-C0BB-B98C-582A8E768FE5}"/>
                </a:ext>
              </a:extLst>
            </p:cNvPr>
            <p:cNvSpPr/>
            <p:nvPr/>
          </p:nvSpPr>
          <p:spPr>
            <a:xfrm>
              <a:off x="3705173" y="2981237"/>
              <a:ext cx="159120" cy="1591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0C4A50D2-01E3-EF34-64A5-B5ECCC6DD28F}"/>
                </a:ext>
              </a:extLst>
            </p:cNvPr>
            <p:cNvSpPr/>
            <p:nvPr/>
          </p:nvSpPr>
          <p:spPr>
            <a:xfrm>
              <a:off x="3692631" y="2893961"/>
              <a:ext cx="333672" cy="333672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6059" name="Google Shape;6059;p25">
              <a:extLst>
                <a:ext uri="{FF2B5EF4-FFF2-40B4-BE49-F238E27FC236}">
                  <a16:creationId xmlns:a16="http://schemas.microsoft.com/office/drawing/2014/main" id="{573FE98E-C355-77D9-D95D-D08B0B4BC419}"/>
                </a:ext>
              </a:extLst>
            </p:cNvPr>
            <p:cNvSpPr/>
            <p:nvPr/>
          </p:nvSpPr>
          <p:spPr>
            <a:xfrm>
              <a:off x="3775207" y="2976084"/>
              <a:ext cx="162870" cy="162870"/>
            </a:xfrm>
            <a:custGeom>
              <a:avLst/>
              <a:gdLst/>
              <a:ahLst/>
              <a:cxnLst/>
              <a:rect l="l" t="t" r="r" b="b"/>
              <a:pathLst>
                <a:path w="311" h="310" extrusionOk="0">
                  <a:moveTo>
                    <a:pt x="304" y="310"/>
                  </a:moveTo>
                  <a:cubicBezTo>
                    <a:pt x="13" y="310"/>
                    <a:pt x="13" y="310"/>
                    <a:pt x="13" y="310"/>
                  </a:cubicBezTo>
                  <a:cubicBezTo>
                    <a:pt x="8" y="310"/>
                    <a:pt x="8" y="310"/>
                    <a:pt x="8" y="310"/>
                  </a:cubicBezTo>
                  <a:cubicBezTo>
                    <a:pt x="7" y="310"/>
                    <a:pt x="7" y="310"/>
                    <a:pt x="7" y="310"/>
                  </a:cubicBezTo>
                  <a:cubicBezTo>
                    <a:pt x="5" y="310"/>
                    <a:pt x="4" y="310"/>
                    <a:pt x="3" y="309"/>
                  </a:cubicBezTo>
                  <a:cubicBezTo>
                    <a:pt x="3" y="309"/>
                    <a:pt x="3" y="308"/>
                    <a:pt x="2" y="308"/>
                  </a:cubicBezTo>
                  <a:cubicBezTo>
                    <a:pt x="2" y="308"/>
                    <a:pt x="2" y="308"/>
                    <a:pt x="2" y="308"/>
                  </a:cubicBezTo>
                  <a:cubicBezTo>
                    <a:pt x="1" y="307"/>
                    <a:pt x="0" y="306"/>
                    <a:pt x="0" y="304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9" y="3"/>
                    <a:pt x="19" y="7"/>
                  </a:cubicBezTo>
                  <a:cubicBezTo>
                    <a:pt x="19" y="292"/>
                    <a:pt x="19" y="292"/>
                    <a:pt x="19" y="292"/>
                  </a:cubicBezTo>
                  <a:cubicBezTo>
                    <a:pt x="44" y="292"/>
                    <a:pt x="44" y="292"/>
                    <a:pt x="44" y="29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74"/>
                    <a:pt x="50" y="68"/>
                    <a:pt x="56" y="68"/>
                  </a:cubicBezTo>
                  <a:cubicBezTo>
                    <a:pt x="94" y="68"/>
                    <a:pt x="94" y="68"/>
                    <a:pt x="94" y="68"/>
                  </a:cubicBezTo>
                  <a:cubicBezTo>
                    <a:pt x="100" y="68"/>
                    <a:pt x="106" y="74"/>
                    <a:pt x="106" y="81"/>
                  </a:cubicBezTo>
                  <a:cubicBezTo>
                    <a:pt x="106" y="292"/>
                    <a:pt x="106" y="292"/>
                    <a:pt x="106" y="292"/>
                  </a:cubicBezTo>
                  <a:cubicBezTo>
                    <a:pt x="137" y="292"/>
                    <a:pt x="137" y="292"/>
                    <a:pt x="137" y="292"/>
                  </a:cubicBezTo>
                  <a:cubicBezTo>
                    <a:pt x="137" y="242"/>
                    <a:pt x="137" y="242"/>
                    <a:pt x="137" y="242"/>
                  </a:cubicBezTo>
                  <a:cubicBezTo>
                    <a:pt x="137" y="235"/>
                    <a:pt x="143" y="229"/>
                    <a:pt x="150" y="229"/>
                  </a:cubicBezTo>
                  <a:cubicBezTo>
                    <a:pt x="181" y="229"/>
                    <a:pt x="181" y="229"/>
                    <a:pt x="181" y="229"/>
                  </a:cubicBezTo>
                  <a:cubicBezTo>
                    <a:pt x="188" y="229"/>
                    <a:pt x="193" y="235"/>
                    <a:pt x="193" y="242"/>
                  </a:cubicBezTo>
                  <a:cubicBezTo>
                    <a:pt x="193" y="292"/>
                    <a:pt x="193" y="292"/>
                    <a:pt x="193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186"/>
                    <a:pt x="224" y="186"/>
                    <a:pt x="224" y="186"/>
                  </a:cubicBezTo>
                  <a:cubicBezTo>
                    <a:pt x="224" y="179"/>
                    <a:pt x="230" y="174"/>
                    <a:pt x="237" y="174"/>
                  </a:cubicBezTo>
                  <a:cubicBezTo>
                    <a:pt x="274" y="174"/>
                    <a:pt x="274" y="174"/>
                    <a:pt x="274" y="174"/>
                  </a:cubicBezTo>
                  <a:cubicBezTo>
                    <a:pt x="281" y="174"/>
                    <a:pt x="286" y="179"/>
                    <a:pt x="286" y="186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8" y="292"/>
                    <a:pt x="311" y="294"/>
                    <a:pt x="311" y="298"/>
                  </a:cubicBezTo>
                  <a:cubicBezTo>
                    <a:pt x="311" y="304"/>
                    <a:pt x="311" y="304"/>
                    <a:pt x="311" y="304"/>
                  </a:cubicBezTo>
                  <a:cubicBezTo>
                    <a:pt x="311" y="308"/>
                    <a:pt x="308" y="310"/>
                    <a:pt x="304" y="3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  <a:sym typeface="Calibri"/>
              </a:endParaRPr>
            </a:p>
          </p:txBody>
        </p:sp>
        <p:sp>
          <p:nvSpPr>
            <p:cNvPr id="14" name="TextBox 30">
              <a:extLst>
                <a:ext uri="{FF2B5EF4-FFF2-40B4-BE49-F238E27FC236}">
                  <a16:creationId xmlns:a16="http://schemas.microsoft.com/office/drawing/2014/main" id="{E61B7EB1-BE68-F015-B3C5-C0B6C7935936}"/>
                </a:ext>
              </a:extLst>
            </p:cNvPr>
            <p:cNvSpPr txBox="1"/>
            <p:nvPr/>
          </p:nvSpPr>
          <p:spPr>
            <a:xfrm>
              <a:off x="5400657" y="3535071"/>
              <a:ext cx="1390684" cy="8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121914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Gestione delle vendite &amp; Performance nel periodo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A865B736-3259-CCA0-BC9C-DD449E06ED4A}"/>
                </a:ext>
              </a:extLst>
            </p:cNvPr>
            <p:cNvSpPr/>
            <p:nvPr/>
          </p:nvSpPr>
          <p:spPr>
            <a:xfrm>
              <a:off x="5400657" y="2981237"/>
              <a:ext cx="159120" cy="1591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AA2C2D32-0455-9168-9584-63CB46745166}"/>
                </a:ext>
              </a:extLst>
            </p:cNvPr>
            <p:cNvSpPr/>
            <p:nvPr/>
          </p:nvSpPr>
          <p:spPr>
            <a:xfrm>
              <a:off x="5370992" y="2893961"/>
              <a:ext cx="333672" cy="333672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22" name="Google Shape;1620;p9">
              <a:extLst>
                <a:ext uri="{FF2B5EF4-FFF2-40B4-BE49-F238E27FC236}">
                  <a16:creationId xmlns:a16="http://schemas.microsoft.com/office/drawing/2014/main" id="{D58C73D0-1B10-05CD-C2C6-79CCD9601974}"/>
                </a:ext>
              </a:extLst>
            </p:cNvPr>
            <p:cNvSpPr/>
            <p:nvPr/>
          </p:nvSpPr>
          <p:spPr>
            <a:xfrm>
              <a:off x="5468782" y="2981237"/>
              <a:ext cx="138091" cy="159120"/>
            </a:xfrm>
            <a:custGeom>
              <a:avLst/>
              <a:gdLst/>
              <a:ahLst/>
              <a:cxnLst/>
              <a:rect l="l" t="t" r="r" b="b"/>
              <a:pathLst>
                <a:path w="107" h="123" extrusionOk="0">
                  <a:moveTo>
                    <a:pt x="53" y="0"/>
                  </a:moveTo>
                  <a:cubicBezTo>
                    <a:pt x="27" y="0"/>
                    <a:pt x="0" y="8"/>
                    <a:pt x="0" y="2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15"/>
                    <a:pt x="27" y="123"/>
                    <a:pt x="53" y="123"/>
                  </a:cubicBezTo>
                  <a:cubicBezTo>
                    <a:pt x="79" y="123"/>
                    <a:pt x="107" y="115"/>
                    <a:pt x="107" y="98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07" y="8"/>
                    <a:pt x="79" y="0"/>
                    <a:pt x="53" y="0"/>
                  </a:cubicBezTo>
                  <a:close/>
                  <a:moveTo>
                    <a:pt x="99" y="98"/>
                  </a:moveTo>
                  <a:cubicBezTo>
                    <a:pt x="99" y="107"/>
                    <a:pt x="79" y="115"/>
                    <a:pt x="53" y="115"/>
                  </a:cubicBezTo>
                  <a:cubicBezTo>
                    <a:pt x="28" y="115"/>
                    <a:pt x="7" y="107"/>
                    <a:pt x="7" y="98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15" y="92"/>
                    <a:pt x="34" y="96"/>
                    <a:pt x="53" y="96"/>
                  </a:cubicBezTo>
                  <a:cubicBezTo>
                    <a:pt x="72" y="96"/>
                    <a:pt x="91" y="92"/>
                    <a:pt x="99" y="83"/>
                  </a:cubicBezTo>
                  <a:lnTo>
                    <a:pt x="99" y="98"/>
                  </a:lnTo>
                  <a:close/>
                  <a:moveTo>
                    <a:pt x="99" y="75"/>
                  </a:moveTo>
                  <a:cubicBezTo>
                    <a:pt x="99" y="75"/>
                    <a:pt x="99" y="75"/>
                    <a:pt x="99" y="75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99" y="84"/>
                    <a:pt x="79" y="92"/>
                    <a:pt x="53" y="92"/>
                  </a:cubicBezTo>
                  <a:cubicBezTo>
                    <a:pt x="28" y="92"/>
                    <a:pt x="7" y="84"/>
                    <a:pt x="7" y="75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5" y="69"/>
                    <a:pt x="34" y="73"/>
                    <a:pt x="53" y="73"/>
                  </a:cubicBezTo>
                  <a:cubicBezTo>
                    <a:pt x="72" y="73"/>
                    <a:pt x="91" y="69"/>
                    <a:pt x="99" y="60"/>
                  </a:cubicBezTo>
                  <a:lnTo>
                    <a:pt x="99" y="75"/>
                  </a:lnTo>
                  <a:close/>
                  <a:moveTo>
                    <a:pt x="99" y="52"/>
                  </a:moveTo>
                  <a:cubicBezTo>
                    <a:pt x="99" y="52"/>
                    <a:pt x="99" y="52"/>
                    <a:pt x="99" y="52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99" y="61"/>
                    <a:pt x="79" y="69"/>
                    <a:pt x="53" y="69"/>
                  </a:cubicBezTo>
                  <a:cubicBezTo>
                    <a:pt x="28" y="69"/>
                    <a:pt x="7" y="61"/>
                    <a:pt x="7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7" y="46"/>
                    <a:pt x="36" y="50"/>
                    <a:pt x="53" y="50"/>
                  </a:cubicBezTo>
                  <a:cubicBezTo>
                    <a:pt x="71" y="50"/>
                    <a:pt x="89" y="46"/>
                    <a:pt x="99" y="39"/>
                  </a:cubicBezTo>
                  <a:lnTo>
                    <a:pt x="99" y="52"/>
                  </a:lnTo>
                  <a:close/>
                  <a:moveTo>
                    <a:pt x="53" y="42"/>
                  </a:moveTo>
                  <a:cubicBezTo>
                    <a:pt x="28" y="42"/>
                    <a:pt x="7" y="34"/>
                    <a:pt x="7" y="25"/>
                  </a:cubicBezTo>
                  <a:cubicBezTo>
                    <a:pt x="7" y="15"/>
                    <a:pt x="28" y="8"/>
                    <a:pt x="53" y="8"/>
                  </a:cubicBezTo>
                  <a:cubicBezTo>
                    <a:pt x="79" y="8"/>
                    <a:pt x="99" y="15"/>
                    <a:pt x="99" y="25"/>
                  </a:cubicBezTo>
                  <a:cubicBezTo>
                    <a:pt x="99" y="34"/>
                    <a:pt x="79" y="42"/>
                    <a:pt x="53" y="42"/>
                  </a:cubicBezTo>
                  <a:close/>
                  <a:moveTo>
                    <a:pt x="53" y="42"/>
                  </a:moveTo>
                  <a:cubicBezTo>
                    <a:pt x="53" y="42"/>
                    <a:pt x="53" y="42"/>
                    <a:pt x="53" y="4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  <a:sym typeface="Calibri"/>
              </a:endParaRPr>
            </a:p>
          </p:txBody>
        </p:sp>
        <p:sp>
          <p:nvSpPr>
            <p:cNvPr id="23" name="TextBox 30">
              <a:extLst>
                <a:ext uri="{FF2B5EF4-FFF2-40B4-BE49-F238E27FC236}">
                  <a16:creationId xmlns:a16="http://schemas.microsoft.com/office/drawing/2014/main" id="{D9E2051B-8E21-79A7-1DEC-8F012A5C56DD}"/>
                </a:ext>
              </a:extLst>
            </p:cNvPr>
            <p:cNvSpPr txBox="1"/>
            <p:nvPr/>
          </p:nvSpPr>
          <p:spPr>
            <a:xfrm>
              <a:off x="7096141" y="3535071"/>
              <a:ext cx="1390684" cy="597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121914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Trend delle richieste per area/city</a:t>
              </a:r>
            </a:p>
          </p:txBody>
        </p:sp>
        <p:sp>
          <p:nvSpPr>
            <p:cNvPr id="24" name="Ovale 23">
              <a:extLst>
                <a:ext uri="{FF2B5EF4-FFF2-40B4-BE49-F238E27FC236}">
                  <a16:creationId xmlns:a16="http://schemas.microsoft.com/office/drawing/2014/main" id="{994EB710-8B2A-4583-3CDB-61DC8858CF69}"/>
                </a:ext>
              </a:extLst>
            </p:cNvPr>
            <p:cNvSpPr/>
            <p:nvPr/>
          </p:nvSpPr>
          <p:spPr>
            <a:xfrm>
              <a:off x="7096141" y="2981237"/>
              <a:ext cx="159120" cy="1591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2D47F95F-85EF-2C76-0845-2D594E900695}"/>
                </a:ext>
              </a:extLst>
            </p:cNvPr>
            <p:cNvSpPr/>
            <p:nvPr/>
          </p:nvSpPr>
          <p:spPr>
            <a:xfrm>
              <a:off x="7096141" y="2893961"/>
              <a:ext cx="333672" cy="333672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28" name="Google Shape;2698;p13">
              <a:extLst>
                <a:ext uri="{FF2B5EF4-FFF2-40B4-BE49-F238E27FC236}">
                  <a16:creationId xmlns:a16="http://schemas.microsoft.com/office/drawing/2014/main" id="{7CBA4DE6-2034-5E11-E357-A8BA7C311971}"/>
                </a:ext>
              </a:extLst>
            </p:cNvPr>
            <p:cNvSpPr/>
            <p:nvPr/>
          </p:nvSpPr>
          <p:spPr>
            <a:xfrm>
              <a:off x="7185221" y="2981238"/>
              <a:ext cx="169543" cy="159120"/>
            </a:xfrm>
            <a:custGeom>
              <a:avLst/>
              <a:gdLst/>
              <a:ahLst/>
              <a:cxnLst/>
              <a:rect l="l" t="t" r="r" b="b"/>
              <a:pathLst>
                <a:path w="248" h="232" extrusionOk="0">
                  <a:moveTo>
                    <a:pt x="216" y="66"/>
                  </a:moveTo>
                  <a:cubicBezTo>
                    <a:pt x="176" y="36"/>
                    <a:pt x="176" y="36"/>
                    <a:pt x="176" y="36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67" y="122"/>
                    <a:pt x="159" y="127"/>
                    <a:pt x="152" y="134"/>
                  </a:cubicBezTo>
                  <a:cubicBezTo>
                    <a:pt x="152" y="32"/>
                    <a:pt x="152" y="32"/>
                    <a:pt x="152" y="32"/>
                  </a:cubicBezTo>
                  <a:cubicBezTo>
                    <a:pt x="88" y="67"/>
                    <a:pt x="88" y="67"/>
                    <a:pt x="88" y="67"/>
                  </a:cubicBezTo>
                  <a:cubicBezTo>
                    <a:pt x="88" y="200"/>
                    <a:pt x="88" y="200"/>
                    <a:pt x="88" y="200"/>
                  </a:cubicBezTo>
                  <a:cubicBezTo>
                    <a:pt x="132" y="176"/>
                    <a:pt x="132" y="176"/>
                    <a:pt x="132" y="176"/>
                  </a:cubicBezTo>
                  <a:cubicBezTo>
                    <a:pt x="132" y="177"/>
                    <a:pt x="132" y="179"/>
                    <a:pt x="132" y="180"/>
                  </a:cubicBezTo>
                  <a:cubicBezTo>
                    <a:pt x="132" y="187"/>
                    <a:pt x="133" y="194"/>
                    <a:pt x="136" y="201"/>
                  </a:cubicBezTo>
                  <a:cubicBezTo>
                    <a:pt x="82" y="230"/>
                    <a:pt x="82" y="230"/>
                    <a:pt x="82" y="230"/>
                  </a:cubicBezTo>
                  <a:cubicBezTo>
                    <a:pt x="82" y="230"/>
                    <a:pt x="82" y="230"/>
                    <a:pt x="82" y="230"/>
                  </a:cubicBezTo>
                  <a:cubicBezTo>
                    <a:pt x="80" y="231"/>
                    <a:pt x="78" y="232"/>
                    <a:pt x="76" y="232"/>
                  </a:cubicBezTo>
                  <a:cubicBezTo>
                    <a:pt x="73" y="232"/>
                    <a:pt x="71" y="231"/>
                    <a:pt x="69" y="230"/>
                  </a:cubicBezTo>
                  <a:cubicBezTo>
                    <a:pt x="5" y="182"/>
                    <a:pt x="5" y="182"/>
                    <a:pt x="5" y="182"/>
                  </a:cubicBezTo>
                  <a:cubicBezTo>
                    <a:pt x="2" y="180"/>
                    <a:pt x="0" y="176"/>
                    <a:pt x="0" y="17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77" y="46"/>
                    <a:pt x="77" y="46"/>
                    <a:pt x="77" y="46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60" y="1"/>
                    <a:pt x="162" y="0"/>
                    <a:pt x="164" y="0"/>
                  </a:cubicBezTo>
                  <a:cubicBezTo>
                    <a:pt x="167" y="0"/>
                    <a:pt x="169" y="1"/>
                    <a:pt x="171" y="3"/>
                  </a:cubicBezTo>
                  <a:cubicBezTo>
                    <a:pt x="171" y="3"/>
                    <a:pt x="171" y="3"/>
                    <a:pt x="171" y="3"/>
                  </a:cubicBezTo>
                  <a:cubicBezTo>
                    <a:pt x="234" y="50"/>
                    <a:pt x="234" y="50"/>
                    <a:pt x="234" y="50"/>
                  </a:cubicBezTo>
                  <a:cubicBezTo>
                    <a:pt x="235" y="50"/>
                    <a:pt x="235" y="50"/>
                    <a:pt x="235" y="51"/>
                  </a:cubicBezTo>
                  <a:cubicBezTo>
                    <a:pt x="235" y="51"/>
                    <a:pt x="235" y="51"/>
                    <a:pt x="235" y="51"/>
                  </a:cubicBezTo>
                  <a:cubicBezTo>
                    <a:pt x="235" y="51"/>
                    <a:pt x="235" y="51"/>
                    <a:pt x="235" y="51"/>
                  </a:cubicBezTo>
                  <a:cubicBezTo>
                    <a:pt x="238" y="53"/>
                    <a:pt x="240" y="56"/>
                    <a:pt x="240" y="60"/>
                  </a:cubicBezTo>
                  <a:cubicBezTo>
                    <a:pt x="240" y="134"/>
                    <a:pt x="240" y="134"/>
                    <a:pt x="240" y="134"/>
                  </a:cubicBezTo>
                  <a:cubicBezTo>
                    <a:pt x="233" y="127"/>
                    <a:pt x="225" y="122"/>
                    <a:pt x="216" y="119"/>
                  </a:cubicBezTo>
                  <a:lnTo>
                    <a:pt x="216" y="66"/>
                  </a:lnTo>
                  <a:close/>
                  <a:moveTo>
                    <a:pt x="64" y="66"/>
                  </a:moveTo>
                  <a:cubicBezTo>
                    <a:pt x="24" y="36"/>
                    <a:pt x="24" y="36"/>
                    <a:pt x="24" y="36"/>
                  </a:cubicBezTo>
                  <a:cubicBezTo>
                    <a:pt x="24" y="166"/>
                    <a:pt x="24" y="166"/>
                    <a:pt x="24" y="166"/>
                  </a:cubicBezTo>
                  <a:cubicBezTo>
                    <a:pt x="64" y="196"/>
                    <a:pt x="64" y="196"/>
                    <a:pt x="64" y="196"/>
                  </a:cubicBezTo>
                  <a:lnTo>
                    <a:pt x="64" y="66"/>
                  </a:lnTo>
                  <a:close/>
                  <a:moveTo>
                    <a:pt x="196" y="128"/>
                  </a:moveTo>
                  <a:cubicBezTo>
                    <a:pt x="225" y="128"/>
                    <a:pt x="248" y="151"/>
                    <a:pt x="248" y="180"/>
                  </a:cubicBezTo>
                  <a:cubicBezTo>
                    <a:pt x="248" y="209"/>
                    <a:pt x="225" y="232"/>
                    <a:pt x="196" y="232"/>
                  </a:cubicBezTo>
                  <a:cubicBezTo>
                    <a:pt x="167" y="232"/>
                    <a:pt x="144" y="209"/>
                    <a:pt x="144" y="180"/>
                  </a:cubicBezTo>
                  <a:cubicBezTo>
                    <a:pt x="144" y="151"/>
                    <a:pt x="167" y="128"/>
                    <a:pt x="196" y="128"/>
                  </a:cubicBezTo>
                  <a:moveTo>
                    <a:pt x="164" y="192"/>
                  </a:moveTo>
                  <a:cubicBezTo>
                    <a:pt x="180" y="208"/>
                    <a:pt x="180" y="208"/>
                    <a:pt x="180" y="208"/>
                  </a:cubicBezTo>
                  <a:cubicBezTo>
                    <a:pt x="182" y="211"/>
                    <a:pt x="185" y="212"/>
                    <a:pt x="188" y="212"/>
                  </a:cubicBezTo>
                  <a:cubicBezTo>
                    <a:pt x="191" y="212"/>
                    <a:pt x="194" y="211"/>
                    <a:pt x="196" y="208"/>
                  </a:cubicBezTo>
                  <a:cubicBezTo>
                    <a:pt x="228" y="176"/>
                    <a:pt x="228" y="176"/>
                    <a:pt x="228" y="176"/>
                  </a:cubicBezTo>
                  <a:cubicBezTo>
                    <a:pt x="231" y="174"/>
                    <a:pt x="232" y="171"/>
                    <a:pt x="232" y="168"/>
                  </a:cubicBezTo>
                  <a:cubicBezTo>
                    <a:pt x="232" y="161"/>
                    <a:pt x="227" y="156"/>
                    <a:pt x="220" y="156"/>
                  </a:cubicBezTo>
                  <a:cubicBezTo>
                    <a:pt x="217" y="156"/>
                    <a:pt x="214" y="157"/>
                    <a:pt x="212" y="160"/>
                  </a:cubicBezTo>
                  <a:cubicBezTo>
                    <a:pt x="188" y="183"/>
                    <a:pt x="188" y="183"/>
                    <a:pt x="188" y="183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78" y="173"/>
                    <a:pt x="175" y="172"/>
                    <a:pt x="172" y="172"/>
                  </a:cubicBezTo>
                  <a:cubicBezTo>
                    <a:pt x="165" y="172"/>
                    <a:pt x="160" y="177"/>
                    <a:pt x="160" y="184"/>
                  </a:cubicBezTo>
                  <a:cubicBezTo>
                    <a:pt x="160" y="187"/>
                    <a:pt x="161" y="190"/>
                    <a:pt x="164" y="19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  <a:sym typeface="Calibri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D68382-53C0-F3E3-6C4D-76881B839FF9}"/>
                </a:ext>
              </a:extLst>
            </p:cNvPr>
            <p:cNvSpPr txBox="1"/>
            <p:nvPr/>
          </p:nvSpPr>
          <p:spPr>
            <a:xfrm>
              <a:off x="8791627" y="3535071"/>
              <a:ext cx="1390684" cy="4016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121914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Canali di Marketing &amp; Sales funnel</a:t>
              </a:r>
            </a:p>
          </p:txBody>
        </p:sp>
        <p:sp>
          <p:nvSpPr>
            <p:cNvPr id="32" name="Ovale 31">
              <a:extLst>
                <a:ext uri="{FF2B5EF4-FFF2-40B4-BE49-F238E27FC236}">
                  <a16:creationId xmlns:a16="http://schemas.microsoft.com/office/drawing/2014/main" id="{096A3DFB-42BC-D645-641E-C8542943FDA7}"/>
                </a:ext>
              </a:extLst>
            </p:cNvPr>
            <p:cNvSpPr/>
            <p:nvPr/>
          </p:nvSpPr>
          <p:spPr>
            <a:xfrm>
              <a:off x="8791625" y="2981237"/>
              <a:ext cx="159120" cy="1591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D94C1AD7-575F-A4C9-156D-BAB7ABDA35FF}"/>
                </a:ext>
              </a:extLst>
            </p:cNvPr>
            <p:cNvSpPr/>
            <p:nvPr/>
          </p:nvSpPr>
          <p:spPr>
            <a:xfrm>
              <a:off x="8791625" y="2893961"/>
              <a:ext cx="333672" cy="333672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39" name="Google Shape;520;p3">
              <a:extLst>
                <a:ext uri="{FF2B5EF4-FFF2-40B4-BE49-F238E27FC236}">
                  <a16:creationId xmlns:a16="http://schemas.microsoft.com/office/drawing/2014/main" id="{36E60C67-EBE9-997B-14AB-A40E6D05A21E}"/>
                </a:ext>
              </a:extLst>
            </p:cNvPr>
            <p:cNvSpPr/>
            <p:nvPr/>
          </p:nvSpPr>
          <p:spPr>
            <a:xfrm>
              <a:off x="8884841" y="3002088"/>
              <a:ext cx="147240" cy="117418"/>
            </a:xfrm>
            <a:custGeom>
              <a:avLst/>
              <a:gdLst/>
              <a:ahLst/>
              <a:cxnLst/>
              <a:rect l="l" t="t" r="r" b="b"/>
              <a:pathLst>
                <a:path w="73" h="58" extrusionOk="0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  <a:sym typeface="Calibri"/>
              </a:endParaRPr>
            </a:p>
          </p:txBody>
        </p:sp>
        <p:sp>
          <p:nvSpPr>
            <p:cNvPr id="40" name="TextBox 30">
              <a:extLst>
                <a:ext uri="{FF2B5EF4-FFF2-40B4-BE49-F238E27FC236}">
                  <a16:creationId xmlns:a16="http://schemas.microsoft.com/office/drawing/2014/main" id="{A68A149D-7C1E-28A0-6B41-76E0423C5144}"/>
                </a:ext>
              </a:extLst>
            </p:cNvPr>
            <p:cNvSpPr txBox="1"/>
            <p:nvPr/>
          </p:nvSpPr>
          <p:spPr>
            <a:xfrm>
              <a:off x="10496516" y="3535071"/>
              <a:ext cx="1390684" cy="4016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121914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 err="1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Integrazione</a:t>
              </a:r>
              <a:b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</a:b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con </a:t>
              </a:r>
              <a:r>
                <a:rPr kumimoji="0" lang="en-US" sz="1200" i="0" u="none" strike="noStrike" kern="1200" cap="none" spc="0" normalizeH="0" baseline="0" noProof="0" dirty="0" err="1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altri</a:t>
              </a: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 Tools</a:t>
              </a:r>
            </a:p>
          </p:txBody>
        </p:sp>
        <p:sp>
          <p:nvSpPr>
            <p:cNvPr id="41" name="Ovale 40">
              <a:extLst>
                <a:ext uri="{FF2B5EF4-FFF2-40B4-BE49-F238E27FC236}">
                  <a16:creationId xmlns:a16="http://schemas.microsoft.com/office/drawing/2014/main" id="{3A1528DB-6868-6FEC-0CEE-52CDCC48AA9A}"/>
                </a:ext>
              </a:extLst>
            </p:cNvPr>
            <p:cNvSpPr/>
            <p:nvPr/>
          </p:nvSpPr>
          <p:spPr>
            <a:xfrm>
              <a:off x="10474567" y="2981237"/>
              <a:ext cx="159120" cy="1591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42" name="Ovale 41">
              <a:extLst>
                <a:ext uri="{FF2B5EF4-FFF2-40B4-BE49-F238E27FC236}">
                  <a16:creationId xmlns:a16="http://schemas.microsoft.com/office/drawing/2014/main" id="{6B2B2A95-7972-3E8F-BA10-4AEDEFAD61A1}"/>
                </a:ext>
              </a:extLst>
            </p:cNvPr>
            <p:cNvSpPr/>
            <p:nvPr/>
          </p:nvSpPr>
          <p:spPr>
            <a:xfrm>
              <a:off x="10474567" y="2893961"/>
              <a:ext cx="333672" cy="333672"/>
            </a:xfrm>
            <a:prstGeom prst="ellipse">
              <a:avLst/>
            </a:prstGeom>
            <a:solidFill>
              <a:srgbClr val="C316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</a:t>
              </a:r>
            </a:p>
          </p:txBody>
        </p:sp>
        <p:sp>
          <p:nvSpPr>
            <p:cNvPr id="43" name="Google Shape;801;p4">
              <a:extLst>
                <a:ext uri="{FF2B5EF4-FFF2-40B4-BE49-F238E27FC236}">
                  <a16:creationId xmlns:a16="http://schemas.microsoft.com/office/drawing/2014/main" id="{0071E0FB-694C-7046-8C36-836C95516C74}"/>
                </a:ext>
              </a:extLst>
            </p:cNvPr>
            <p:cNvSpPr/>
            <p:nvPr/>
          </p:nvSpPr>
          <p:spPr>
            <a:xfrm>
              <a:off x="10557275" y="3013602"/>
              <a:ext cx="168256" cy="99151"/>
            </a:xfrm>
            <a:custGeom>
              <a:avLst/>
              <a:gdLst/>
              <a:ahLst/>
              <a:cxnLst/>
              <a:rect l="l" t="t" r="r" b="b"/>
              <a:pathLst>
                <a:path w="78" h="46" extrusionOk="0">
                  <a:moveTo>
                    <a:pt x="51" y="46"/>
                  </a:moveTo>
                  <a:cubicBezTo>
                    <a:pt x="12" y="46"/>
                    <a:pt x="12" y="46"/>
                    <a:pt x="12" y="46"/>
                  </a:cubicBezTo>
                  <a:cubicBezTo>
                    <a:pt x="11" y="46"/>
                    <a:pt x="11" y="44"/>
                    <a:pt x="11" y="43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0" y="19"/>
                    <a:pt x="0" y="18"/>
                  </a:cubicBezTo>
                  <a:cubicBezTo>
                    <a:pt x="0" y="17"/>
                    <a:pt x="1" y="17"/>
                    <a:pt x="1" y="16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7" y="0"/>
                    <a:pt x="18" y="1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7"/>
                    <a:pt x="31" y="17"/>
                    <a:pt x="31" y="18"/>
                  </a:cubicBezTo>
                  <a:cubicBezTo>
                    <a:pt x="31" y="19"/>
                    <a:pt x="30" y="20"/>
                    <a:pt x="29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2" y="44"/>
                    <a:pt x="52" y="44"/>
                    <a:pt x="52" y="45"/>
                  </a:cubicBezTo>
                  <a:cubicBezTo>
                    <a:pt x="52" y="45"/>
                    <a:pt x="51" y="46"/>
                    <a:pt x="51" y="46"/>
                  </a:cubicBezTo>
                  <a:close/>
                  <a:moveTo>
                    <a:pt x="77" y="30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4" y="46"/>
                    <a:pt x="63" y="46"/>
                    <a:pt x="62" y="46"/>
                  </a:cubicBezTo>
                  <a:cubicBezTo>
                    <a:pt x="61" y="46"/>
                    <a:pt x="61" y="46"/>
                    <a:pt x="60" y="45"/>
                  </a:cubicBezTo>
                  <a:cubicBezTo>
                    <a:pt x="47" y="30"/>
                    <a:pt x="47" y="30"/>
                    <a:pt x="47" y="30"/>
                  </a:cubicBezTo>
                  <a:cubicBezTo>
                    <a:pt x="47" y="29"/>
                    <a:pt x="47" y="29"/>
                    <a:pt x="47" y="28"/>
                  </a:cubicBezTo>
                  <a:cubicBezTo>
                    <a:pt x="47" y="27"/>
                    <a:pt x="48" y="25"/>
                    <a:pt x="49" y="25"/>
                  </a:cubicBezTo>
                  <a:cubicBezTo>
                    <a:pt x="57" y="25"/>
                    <a:pt x="57" y="25"/>
                    <a:pt x="57" y="25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3" y="10"/>
                    <a:pt x="33" y="10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1"/>
                    <a:pt x="26" y="1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8" y="0"/>
                    <a:pt x="67" y="1"/>
                    <a:pt x="67" y="2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8" y="27"/>
                    <a:pt x="78" y="28"/>
                  </a:cubicBezTo>
                  <a:cubicBezTo>
                    <a:pt x="78" y="29"/>
                    <a:pt x="77" y="29"/>
                    <a:pt x="77" y="3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  <a:sym typeface="Calibri"/>
              </a:endParaRPr>
            </a:p>
          </p:txBody>
        </p:sp>
      </p:grpSp>
      <p:sp>
        <p:nvSpPr>
          <p:cNvPr id="3" name="Sottotitolo 2">
            <a:extLst>
              <a:ext uri="{FF2B5EF4-FFF2-40B4-BE49-F238E27FC236}">
                <a16:creationId xmlns:a16="http://schemas.microsoft.com/office/drawing/2014/main" id="{ECDFDA14-B21A-F5E3-182D-2BD8C911180A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 algn="ctr">
              <a:buClr>
                <a:srgbClr val="0E2841"/>
              </a:buClr>
              <a:defRPr/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operativo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basato sui dati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43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88C60-644C-927B-9819-B4B0A9747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37">
            <a:extLst>
              <a:ext uri="{FF2B5EF4-FFF2-40B4-BE49-F238E27FC236}">
                <a16:creationId xmlns:a16="http://schemas.microsoft.com/office/drawing/2014/main" id="{561918F7-A14A-A4A0-A181-B05A733EFB93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2A717E1-C959-9EAC-EFD2-616BE5CAF620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A5326E9-5B25-3CE3-BC10-9D1E958A713F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1C10EB17-2C7F-0906-4F72-5D11C0BFB3B2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D45F67FB-1F44-B340-9A99-2A7649692A89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8C68F641-3F6D-71BC-C461-0B39F2DA4A2D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D9252703-5B7B-EFDA-7B25-80204EB2E4AB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3F8BD725-854A-AD8F-8394-267D2DC6B46F}"/>
              </a:ext>
            </a:extLst>
          </p:cNvPr>
          <p:cNvSpPr/>
          <p:nvPr/>
        </p:nvSpPr>
        <p:spPr>
          <a:xfrm>
            <a:off x="5253634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09AC3A17-5F52-787C-7B40-D7933704DC6C}"/>
              </a:ext>
            </a:extLst>
          </p:cNvPr>
          <p:cNvSpPr/>
          <p:nvPr/>
        </p:nvSpPr>
        <p:spPr>
          <a:xfrm>
            <a:off x="685370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0B243A4E-E77E-4BC1-DAB4-C2CB980E28E4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5" name="Rectangle 108">
            <a:extLst>
              <a:ext uri="{FF2B5EF4-FFF2-40B4-BE49-F238E27FC236}">
                <a16:creationId xmlns:a16="http://schemas.microsoft.com/office/drawing/2014/main" id="{5113844C-3AB2-EE2E-CC50-EC562E1C41F3}"/>
              </a:ext>
            </a:extLst>
          </p:cNvPr>
          <p:cNvSpPr/>
          <p:nvPr/>
        </p:nvSpPr>
        <p:spPr>
          <a:xfrm>
            <a:off x="581966" y="4100729"/>
            <a:ext cx="6787022" cy="2550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Coordinamento architetti  progettisti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Identificazione </a:t>
            </a:r>
            <a:r>
              <a:rPr kumimoji="0" lang="it-IT" b="0" i="0" u="none" strike="noStrike" kern="1200" cap="none" spc="0" normalizeH="0" baseline="0" noProof="0" dirty="0" err="1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amenities</a:t>
            </a:r>
            <a:endParaRPr kumimoji="0" lang="it-IT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Mix tipologico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Layout e funzionalità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Consulenza e di personalizzazione </a:t>
            </a:r>
            <a:r>
              <a:rPr kumimoji="0" lang="it-IT" b="0" i="0" u="none" strike="noStrike" kern="1200" cap="none" spc="0" normalizeH="0" baseline="0" noProof="0" dirty="0" err="1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pre</a:t>
            </a: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e post vendita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9C128CF-B46A-A0D3-AC20-E48E857BCF5F}"/>
              </a:ext>
            </a:extLst>
          </p:cNvPr>
          <p:cNvSpPr txBox="1"/>
          <p:nvPr/>
        </p:nvSpPr>
        <p:spPr>
          <a:xfrm>
            <a:off x="554333" y="3321605"/>
            <a:ext cx="858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4C1529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Technical </a:t>
            </a:r>
            <a:r>
              <a:rPr kumimoji="0" lang="it-IT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Operation</a:t>
            </a:r>
            <a:endParaRPr kumimoji="0" lang="it-IT" sz="4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2462C396-0A96-83E5-E9FC-C4BBAA553221}"/>
              </a:ext>
            </a:extLst>
          </p:cNvPr>
          <p:cNvSpPr/>
          <p:nvPr/>
        </p:nvSpPr>
        <p:spPr>
          <a:xfrm>
            <a:off x="45341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3A3A0A8E-0A76-AE13-B47E-0841FEBA4995}"/>
              </a:ext>
            </a:extLst>
          </p:cNvPr>
          <p:cNvSpPr/>
          <p:nvPr/>
        </p:nvSpPr>
        <p:spPr>
          <a:xfrm>
            <a:off x="205349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7" name="Oval 97">
            <a:extLst>
              <a:ext uri="{FF2B5EF4-FFF2-40B4-BE49-F238E27FC236}">
                <a16:creationId xmlns:a16="http://schemas.microsoft.com/office/drawing/2014/main" id="{4F428780-B4D3-EA4F-1B78-116CF0DA9438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A4D29F36-0555-3309-096C-F4DF1CCD7AEE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" name="Sottotitolo 2">
            <a:extLst>
              <a:ext uri="{FF2B5EF4-FFF2-40B4-BE49-F238E27FC236}">
                <a16:creationId xmlns:a16="http://schemas.microsoft.com/office/drawing/2014/main" id="{D1475E89-70DB-364D-1790-D6540F6A5B94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06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B6DF-ED06-CAD5-A841-F88AFF6C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arredo, interior design, tavolo, tavolino da caffè&#10;&#10;Il contenuto generato dall'IA potrebbe non essere corretto.">
            <a:extLst>
              <a:ext uri="{FF2B5EF4-FFF2-40B4-BE49-F238E27FC236}">
                <a16:creationId xmlns:a16="http://schemas.microsoft.com/office/drawing/2014/main" id="{DAC85415-DC15-352A-4700-B0659E17E4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2216"/>
            <a:ext cx="4704089" cy="369958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403B113-E22C-66AB-E8F2-45ECBD69FC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0"/>
          <a:stretch>
            <a:fillRect/>
          </a:stretch>
        </p:blipFill>
        <p:spPr>
          <a:xfrm>
            <a:off x="4776299" y="72216"/>
            <a:ext cx="7415701" cy="6723532"/>
          </a:xfrm>
          <a:prstGeom prst="rect">
            <a:avLst/>
          </a:prstGeom>
        </p:spPr>
      </p:pic>
      <p:pic>
        <p:nvPicPr>
          <p:cNvPr id="11" name="Immagine 10" descr="Immagine che contiene interno, muro, interior design, arredo&#10;&#10;Il contenuto generato dall'IA potrebbe non essere corretto.">
            <a:extLst>
              <a:ext uri="{FF2B5EF4-FFF2-40B4-BE49-F238E27FC236}">
                <a16:creationId xmlns:a16="http://schemas.microsoft.com/office/drawing/2014/main" id="{604DDDAE-DDFD-D183-E900-10D27DDBE9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44552"/>
            <a:ext cx="4704089" cy="2941232"/>
          </a:xfrm>
          <a:prstGeom prst="rect">
            <a:avLst/>
          </a:prstGeom>
        </p:spPr>
      </p:pic>
      <p:pic>
        <p:nvPicPr>
          <p:cNvPr id="13" name="Immagine 12" descr="Immagine che contiene aria aperta, edificio, cielo, casa&#10;&#10;Il contenuto generato dall'IA potrebbe non essere corretto.">
            <a:extLst>
              <a:ext uri="{FF2B5EF4-FFF2-40B4-BE49-F238E27FC236}">
                <a16:creationId xmlns:a16="http://schemas.microsoft.com/office/drawing/2014/main" id="{960195A1-785C-FE7F-B8B0-7DFC9E2231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76298" y="71621"/>
            <a:ext cx="7415701" cy="6714703"/>
          </a:xfrm>
          <a:prstGeom prst="rect">
            <a:avLst/>
          </a:prstGeom>
        </p:spPr>
      </p:pic>
      <p:pic>
        <p:nvPicPr>
          <p:cNvPr id="15" name="Immagine 14" descr="Immagine che contiene Carattere, testo, Elementi grafici, bianco&#10;&#10;Il contenuto generato dall'IA potrebbe non essere corretto.">
            <a:extLst>
              <a:ext uri="{FF2B5EF4-FFF2-40B4-BE49-F238E27FC236}">
                <a16:creationId xmlns:a16="http://schemas.microsoft.com/office/drawing/2014/main" id="{86D0AF7F-5D53-5B8F-C74E-4B0FE5E799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9803" y="416051"/>
            <a:ext cx="2921111" cy="72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5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DE6A-8D43-D919-1914-80182A30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 descr="Immagine che contiene interno, muro, interior design, arredo&#10;&#10;Il contenuto generato dall'IA potrebbe non essere corretto.">
            <a:extLst>
              <a:ext uri="{FF2B5EF4-FFF2-40B4-BE49-F238E27FC236}">
                <a16:creationId xmlns:a16="http://schemas.microsoft.com/office/drawing/2014/main" id="{82E73ED0-6BC7-E77A-CED4-CA3DF5510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90248" y="71619"/>
            <a:ext cx="1301750" cy="6714703"/>
          </a:xfrm>
          <a:prstGeom prst="rect">
            <a:avLst/>
          </a:prstGeom>
        </p:spPr>
      </p:pic>
      <p:pic>
        <p:nvPicPr>
          <p:cNvPr id="17" name="Immagine 16" descr="Immagine che contiene interno, interior design, arredo, muro&#10;&#10;Il contenuto generato dall'IA potrebbe non essere corretto.">
            <a:extLst>
              <a:ext uri="{FF2B5EF4-FFF2-40B4-BE49-F238E27FC236}">
                <a16:creationId xmlns:a16="http://schemas.microsoft.com/office/drawing/2014/main" id="{365DE949-D1D1-010A-D1EC-8C28B0C4A5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00462" y="71620"/>
            <a:ext cx="9410123" cy="6714703"/>
          </a:xfrm>
          <a:prstGeom prst="rect">
            <a:avLst/>
          </a:prstGeom>
        </p:spPr>
      </p:pic>
      <p:pic>
        <p:nvPicPr>
          <p:cNvPr id="7" name="Immagine 6" descr="Immagine che contiene aria aperta, edificio, cielo, casa&#10;&#10;Il contenuto generato dall'IA potrebbe non essere corretto.">
            <a:extLst>
              <a:ext uri="{FF2B5EF4-FFF2-40B4-BE49-F238E27FC236}">
                <a16:creationId xmlns:a16="http://schemas.microsoft.com/office/drawing/2014/main" id="{A4F27C17-7EC3-3551-183D-14501A7AF8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" y="71621"/>
            <a:ext cx="1320801" cy="6714703"/>
          </a:xfrm>
          <a:prstGeom prst="rect">
            <a:avLst/>
          </a:prstGeom>
        </p:spPr>
      </p:pic>
      <p:pic>
        <p:nvPicPr>
          <p:cNvPr id="16" name="Immagine 15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8ED83DB5-9837-6A56-1FAB-5605659AA1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6081" y="5706831"/>
            <a:ext cx="957462" cy="96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5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="">
      <p:transition spd="slow">
        <p:push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450B-F84D-CCF6-3DE3-3A950BA6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86F67E9-AA84-0A3A-048F-D95E4C9F2A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7232"/>
            <a:ext cx="12192000" cy="6723533"/>
          </a:xfrm>
          <a:prstGeom prst="rect">
            <a:avLst/>
          </a:prstGeom>
        </p:spPr>
      </p:pic>
      <p:pic>
        <p:nvPicPr>
          <p:cNvPr id="5" name="Immagine 4" descr="Immagine che contiene interno, muro, interior design, arredo&#10;&#10;Il contenuto generato dall'IA potrebbe non essere corretto.">
            <a:extLst>
              <a:ext uri="{FF2B5EF4-FFF2-40B4-BE49-F238E27FC236}">
                <a16:creationId xmlns:a16="http://schemas.microsoft.com/office/drawing/2014/main" id="{B9C1E43E-A42C-1FDD-64ED-3289586D1D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1619"/>
            <a:ext cx="12192000" cy="671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5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="">
      <p:transition spd="slow">
        <p:push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3E51B-5456-EFF6-B851-2C0061B4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1">
            <a:extLst>
              <a:ext uri="{FF2B5EF4-FFF2-40B4-BE49-F238E27FC236}">
                <a16:creationId xmlns:a16="http://schemas.microsoft.com/office/drawing/2014/main" id="{D0440E37-494F-D8F5-54B6-56A8AF9CD5D8}"/>
              </a:ext>
            </a:extLst>
          </p:cNvPr>
          <p:cNvSpPr/>
          <p:nvPr/>
        </p:nvSpPr>
        <p:spPr>
          <a:xfrm>
            <a:off x="524143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9" name="Oval 37">
            <a:extLst>
              <a:ext uri="{FF2B5EF4-FFF2-40B4-BE49-F238E27FC236}">
                <a16:creationId xmlns:a16="http://schemas.microsoft.com/office/drawing/2014/main" id="{552AFC70-EB88-5927-A3E3-58DA116F221B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9C29A2A-B866-6328-5CC2-EB9A9AEE0C23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45964CB-D507-CC5E-BAE5-45928D4CA1DC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BDC49819-8B9D-6AA5-D850-A41CCBFF906F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9DE7AC9A-C15C-2C19-2301-51AFC2E7C460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F983B8FD-5DA6-EB75-D650-743F7B9AB08F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C8277E2-ABDB-3CCB-9FF6-E510301284A6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BE7E5B58-DDD1-E8EA-07F8-AD20CA77F398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F7D0EC12-48BA-7317-64A7-412660C1D000}"/>
              </a:ext>
            </a:extLst>
          </p:cNvPr>
          <p:cNvSpPr/>
          <p:nvPr/>
        </p:nvSpPr>
        <p:spPr>
          <a:xfrm>
            <a:off x="685370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9E67F0CA-BB23-25CA-BCC0-A134085C81FA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5" name="Rectangle 108">
            <a:extLst>
              <a:ext uri="{FF2B5EF4-FFF2-40B4-BE49-F238E27FC236}">
                <a16:creationId xmlns:a16="http://schemas.microsoft.com/office/drawing/2014/main" id="{696C6A7D-1760-4785-84FC-5F3CBFA1901D}"/>
              </a:ext>
            </a:extLst>
          </p:cNvPr>
          <p:cNvSpPr/>
          <p:nvPr/>
        </p:nvSpPr>
        <p:spPr>
          <a:xfrm>
            <a:off x="581966" y="4106157"/>
            <a:ext cx="4977586" cy="2135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Branding del progetto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Canale di comunicazione online &amp; offline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Definizione del target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Posizionamento del brand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Costruzione e gestione budget marketing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EF55E77-D60D-7CFA-3295-96EE75E238A6}"/>
              </a:ext>
            </a:extLst>
          </p:cNvPr>
          <p:cNvSpPr txBox="1"/>
          <p:nvPr/>
        </p:nvSpPr>
        <p:spPr>
          <a:xfrm>
            <a:off x="554333" y="3321605"/>
            <a:ext cx="858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4C1529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Marketing &amp; </a:t>
            </a:r>
            <a:r>
              <a:rPr kumimoji="0" lang="it-IT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Communication</a:t>
            </a:r>
            <a:endParaRPr kumimoji="0" lang="it-IT" sz="4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10CD816-3086-5FF5-F03C-01CB398826CF}"/>
              </a:ext>
            </a:extLst>
          </p:cNvPr>
          <p:cNvSpPr/>
          <p:nvPr/>
        </p:nvSpPr>
        <p:spPr>
          <a:xfrm>
            <a:off x="45341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95322B8C-B6EE-7DFD-8429-D49FAB79CB04}"/>
              </a:ext>
            </a:extLst>
          </p:cNvPr>
          <p:cNvSpPr/>
          <p:nvPr/>
        </p:nvSpPr>
        <p:spPr>
          <a:xfrm>
            <a:off x="205349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63B85991-84F0-6505-DDEC-9F1DDCF42A40}"/>
              </a:ext>
            </a:extLst>
          </p:cNvPr>
          <p:cNvSpPr/>
          <p:nvPr/>
        </p:nvSpPr>
        <p:spPr>
          <a:xfrm>
            <a:off x="3653562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FC3544D1-E7CD-64CB-8680-6D0CB4A536EB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007E8F22-4939-2862-AB2E-8C5AF9C8AB90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81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60F4A-E8C5-A5EF-AD1D-0CD0B944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37">
            <a:extLst>
              <a:ext uri="{FF2B5EF4-FFF2-40B4-BE49-F238E27FC236}">
                <a16:creationId xmlns:a16="http://schemas.microsoft.com/office/drawing/2014/main" id="{2296FD60-5DF2-7F83-7100-D84B909F107E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13F763C-7A97-7B1C-1330-2978791F6419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7C281D4-0929-F4BD-9905-D12EF1BBA4ED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BC74C386-51A1-7B94-0B8E-D58BF67E5C53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C4E155AE-C484-6729-21EC-257A4A4BD1FB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285D58BE-9C8B-FC8C-FE47-661F9A578ABA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1E020C6-AC7E-C72C-8C22-731298F7A8DD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61D7FB93-7F37-17EB-F70B-BA214C5C9928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62C914CD-8ED3-9CE1-4A1A-CFCCD29321C5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5" name="Rectangle 108">
            <a:extLst>
              <a:ext uri="{FF2B5EF4-FFF2-40B4-BE49-F238E27FC236}">
                <a16:creationId xmlns:a16="http://schemas.microsoft.com/office/drawing/2014/main" id="{37BADD1A-BAF5-814E-1969-7F6747D12230}"/>
              </a:ext>
            </a:extLst>
          </p:cNvPr>
          <p:cNvSpPr/>
          <p:nvPr/>
        </p:nvSpPr>
        <p:spPr>
          <a:xfrm>
            <a:off x="581966" y="4204769"/>
            <a:ext cx="4977586" cy="176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Definizione customer </a:t>
            </a:r>
            <a:r>
              <a:rPr kumimoji="0" lang="it-IT" b="0" i="0" u="none" strike="noStrike" kern="1200" cap="none" spc="0" normalizeH="0" baseline="0" noProof="0" dirty="0" err="1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journey</a:t>
            </a:r>
            <a:endParaRPr kumimoji="0" lang="it-IT" b="0" i="0" u="none" strike="noStrike" kern="1200" cap="none" spc="0" normalizeH="0" baseline="0" noProof="0" dirty="0">
              <a:ln>
                <a:noFill/>
              </a:ln>
              <a:solidFill>
                <a:srgbClr val="460E1D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Vendita diretta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Utilizzo piattaforma commerciale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KPI e controllo della performance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59B7586-F0A3-F501-E4C6-D6D1E84B7048}"/>
              </a:ext>
            </a:extLst>
          </p:cNvPr>
          <p:cNvSpPr txBox="1"/>
          <p:nvPr/>
        </p:nvSpPr>
        <p:spPr>
          <a:xfrm>
            <a:off x="554333" y="3321605"/>
            <a:ext cx="858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4C1529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Agency</a:t>
            </a:r>
            <a:endParaRPr kumimoji="0" lang="it-IT" sz="4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D5AE66C9-F98C-9992-91C7-5228BC3B1D56}"/>
              </a:ext>
            </a:extLst>
          </p:cNvPr>
          <p:cNvSpPr/>
          <p:nvPr/>
        </p:nvSpPr>
        <p:spPr>
          <a:xfrm>
            <a:off x="45341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1D92AEFF-870E-850A-04EC-E8375E093F70}"/>
              </a:ext>
            </a:extLst>
          </p:cNvPr>
          <p:cNvSpPr/>
          <p:nvPr/>
        </p:nvSpPr>
        <p:spPr>
          <a:xfrm>
            <a:off x="205349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4630744B-B3AB-7B67-A920-4AF5585D9BD0}"/>
              </a:ext>
            </a:extLst>
          </p:cNvPr>
          <p:cNvSpPr/>
          <p:nvPr/>
        </p:nvSpPr>
        <p:spPr>
          <a:xfrm>
            <a:off x="3653562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0523D7FA-610D-2706-3135-340F0BA899B2}"/>
              </a:ext>
            </a:extLst>
          </p:cNvPr>
          <p:cNvSpPr/>
          <p:nvPr/>
        </p:nvSpPr>
        <p:spPr>
          <a:xfrm>
            <a:off x="5253634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A9BFFA9D-4F92-F359-FA9B-16C11E172DEF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" name="Sottotitolo 2">
            <a:extLst>
              <a:ext uri="{FF2B5EF4-FFF2-40B4-BE49-F238E27FC236}">
                <a16:creationId xmlns:a16="http://schemas.microsoft.com/office/drawing/2014/main" id="{59918CDF-A384-F11A-EC5C-CD856BB040C8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4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BB65A-4A9C-8BDA-3B94-855A347B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2807928-CDC1-38B2-BD7E-1686BF3930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6755" y="751062"/>
            <a:ext cx="6765245" cy="5219700"/>
          </a:xfrm>
          <a:prstGeom prst="rect">
            <a:avLst/>
          </a:prstGeom>
        </p:spPr>
      </p:pic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E9923350-AF7E-E6CF-A26A-051FA6C07A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375" y="751062"/>
            <a:ext cx="1566954" cy="690065"/>
          </a:xfrm>
          <a:prstGeom prst="rect">
            <a:avLst/>
          </a:prstGeom>
        </p:spPr>
      </p:pic>
      <p:sp>
        <p:nvSpPr>
          <p:cNvPr id="20" name="Rectangle 108">
            <a:extLst>
              <a:ext uri="{FF2B5EF4-FFF2-40B4-BE49-F238E27FC236}">
                <a16:creationId xmlns:a16="http://schemas.microsoft.com/office/drawing/2014/main" id="{0807ECF7-5AEF-FF79-6E96-11DBC7BC6D65}"/>
              </a:ext>
            </a:extLst>
          </p:cNvPr>
          <p:cNvSpPr/>
          <p:nvPr/>
        </p:nvSpPr>
        <p:spPr>
          <a:xfrm>
            <a:off x="215204" y="4166356"/>
            <a:ext cx="463302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rPr>
              <a:t>Piattaforma di proprietà Abitare Co.</a:t>
            </a:r>
            <a:br>
              <a:rPr kumimoji="0" lang="it-IT" sz="160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</a:br>
            <a:r>
              <a:rPr kumimoji="0" lang="it-IT" sz="160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permette la gestione di tutto il processo commerciale con un unico strumento innovativo digitale. </a:t>
            </a:r>
          </a:p>
        </p:txBody>
      </p:sp>
      <p:sp>
        <p:nvSpPr>
          <p:cNvPr id="25" name="Sottotitolo 2">
            <a:extLst>
              <a:ext uri="{FF2B5EF4-FFF2-40B4-BE49-F238E27FC236}">
                <a16:creationId xmlns:a16="http://schemas.microsoft.com/office/drawing/2014/main" id="{A212C347-E099-A3B8-38DE-A0B94942A998}"/>
              </a:ext>
            </a:extLst>
          </p:cNvPr>
          <p:cNvSpPr txBox="1">
            <a:spLocks/>
          </p:cNvSpPr>
          <p:nvPr/>
        </p:nvSpPr>
        <p:spPr>
          <a:xfrm>
            <a:off x="215204" y="1872120"/>
            <a:ext cx="5136777" cy="2041242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Sales</a:t>
            </a:r>
          </a:p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Platform</a:t>
            </a:r>
            <a:endParaRPr kumimoji="0" lang="it-IT" sz="66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992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9D0B-4E64-AA75-C28D-55E10738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1">
            <a:extLst>
              <a:ext uri="{FF2B5EF4-FFF2-40B4-BE49-F238E27FC236}">
                <a16:creationId xmlns:a16="http://schemas.microsoft.com/office/drawing/2014/main" id="{FB058186-302F-9F43-F5F3-0B88B49E5E08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9" name="Oval 37">
            <a:extLst>
              <a:ext uri="{FF2B5EF4-FFF2-40B4-BE49-F238E27FC236}">
                <a16:creationId xmlns:a16="http://schemas.microsoft.com/office/drawing/2014/main" id="{652FB1FC-F7FC-43EB-58DD-18F9BB5F279E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81CA905-DFB4-5E16-3944-4301ACB78A51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8AD1C84-4EC6-CD0E-E655-07AE92415452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05517008-184C-E80D-48F5-80136EF7AA01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47155BD6-A6F2-DDE0-478B-1FF61CE194D3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FE96EDD9-8021-65DF-4E21-705F3A620E06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3592ECC-45B3-ADDC-B68A-065C2E4AA945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1F2324D3-C197-FC80-5E1F-400C5149DF8C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35" name="Rectangle 108">
            <a:extLst>
              <a:ext uri="{FF2B5EF4-FFF2-40B4-BE49-F238E27FC236}">
                <a16:creationId xmlns:a16="http://schemas.microsoft.com/office/drawing/2014/main" id="{92540836-82AE-B3AF-2D55-58836ED5C0A6}"/>
              </a:ext>
            </a:extLst>
          </p:cNvPr>
          <p:cNvSpPr/>
          <p:nvPr/>
        </p:nvSpPr>
        <p:spPr>
          <a:xfrm>
            <a:off x="581965" y="4204769"/>
            <a:ext cx="7073893" cy="1295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Aspetti contrattuali e timing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Assistenza agli acquirenti durante tutte le fasi contrattuali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Relazione supporto agli sviluppatori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133FBFA-2630-DFBF-5CF9-B17FB890BF49}"/>
              </a:ext>
            </a:extLst>
          </p:cNvPr>
          <p:cNvSpPr txBox="1"/>
          <p:nvPr/>
        </p:nvSpPr>
        <p:spPr>
          <a:xfrm>
            <a:off x="554333" y="3321605"/>
            <a:ext cx="858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4C1529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Back </a:t>
            </a: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Office</a:t>
            </a:r>
            <a:endParaRPr kumimoji="0" lang="it-IT" sz="4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63DC4770-FDCE-F225-0F78-885DD094B024}"/>
              </a:ext>
            </a:extLst>
          </p:cNvPr>
          <p:cNvSpPr/>
          <p:nvPr/>
        </p:nvSpPr>
        <p:spPr>
          <a:xfrm>
            <a:off x="45341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529B52A2-F5FA-3505-38FC-9BFB05B79055}"/>
              </a:ext>
            </a:extLst>
          </p:cNvPr>
          <p:cNvSpPr/>
          <p:nvPr/>
        </p:nvSpPr>
        <p:spPr>
          <a:xfrm>
            <a:off x="205349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CFDC8ACB-4DF2-ED4F-1C00-1528D8212CAC}"/>
              </a:ext>
            </a:extLst>
          </p:cNvPr>
          <p:cNvSpPr/>
          <p:nvPr/>
        </p:nvSpPr>
        <p:spPr>
          <a:xfrm>
            <a:off x="3653562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3DFD79AA-07DC-4C49-87CA-CEDEA81E476B}"/>
              </a:ext>
            </a:extLst>
          </p:cNvPr>
          <p:cNvSpPr/>
          <p:nvPr/>
        </p:nvSpPr>
        <p:spPr>
          <a:xfrm>
            <a:off x="5253634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ABD81819-3F71-8434-D3CA-B719B1598566}"/>
              </a:ext>
            </a:extLst>
          </p:cNvPr>
          <p:cNvSpPr/>
          <p:nvPr/>
        </p:nvSpPr>
        <p:spPr>
          <a:xfrm>
            <a:off x="685370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1AAB36DC-A42A-9863-D154-CFE8E24193EB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FB9DED36-B079-2DAE-C422-93931C82561D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30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60E60-8F9D-1139-4905-5CFD4200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vale 50">
            <a:extLst>
              <a:ext uri="{FF2B5EF4-FFF2-40B4-BE49-F238E27FC236}">
                <a16:creationId xmlns:a16="http://schemas.microsoft.com/office/drawing/2014/main" id="{E614FB1F-66D3-7EBA-E0CD-C9EB5537348C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9" name="Oval 37">
            <a:extLst>
              <a:ext uri="{FF2B5EF4-FFF2-40B4-BE49-F238E27FC236}">
                <a16:creationId xmlns:a16="http://schemas.microsoft.com/office/drawing/2014/main" id="{53FD3302-2E21-EAEB-2A5C-CE4D1A1107D5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5C071A-603C-58BA-B4F7-EDDFD8E89E12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1FCF75B-5C11-FBCC-938D-1366AB8F12ED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4EB281FA-4EBF-FA14-4FEF-1A556E83FC9D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0A022E9B-3630-136A-493D-1D35B0B52A70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AF72BD4F-52DC-1A12-FFBC-9A621A7BE055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B357D43-1E9E-682B-F2D2-900D41F6110B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C45C502F-1275-52A7-CDDC-C790838E4B94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35" name="Rectangle 108">
            <a:extLst>
              <a:ext uri="{FF2B5EF4-FFF2-40B4-BE49-F238E27FC236}">
                <a16:creationId xmlns:a16="http://schemas.microsoft.com/office/drawing/2014/main" id="{B159229E-554F-A624-4562-16A689F8CAA5}"/>
              </a:ext>
            </a:extLst>
          </p:cNvPr>
          <p:cNvSpPr/>
          <p:nvPr/>
        </p:nvSpPr>
        <p:spPr>
          <a:xfrm>
            <a:off x="581966" y="4204769"/>
            <a:ext cx="6813916" cy="1295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Aspetti contrattuali e timing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Assistenza agli acquirenti durante tutte le fasi contrattuali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Relazione supporto agli sviluppatori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CE11009-E1EA-52ED-688C-B3A652A35D0F}"/>
              </a:ext>
            </a:extLst>
          </p:cNvPr>
          <p:cNvSpPr txBox="1"/>
          <p:nvPr/>
        </p:nvSpPr>
        <p:spPr>
          <a:xfrm>
            <a:off x="554333" y="3321605"/>
            <a:ext cx="858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4C1529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Post-</a:t>
            </a: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Vendita</a:t>
            </a:r>
            <a:endParaRPr kumimoji="0" lang="it-IT" sz="4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6702C62F-7CFD-6E62-523C-B0176043601C}"/>
              </a:ext>
            </a:extLst>
          </p:cNvPr>
          <p:cNvSpPr/>
          <p:nvPr/>
        </p:nvSpPr>
        <p:spPr>
          <a:xfrm>
            <a:off x="45341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16AF2546-815E-3180-25EC-026056A1C2A5}"/>
              </a:ext>
            </a:extLst>
          </p:cNvPr>
          <p:cNvSpPr/>
          <p:nvPr/>
        </p:nvSpPr>
        <p:spPr>
          <a:xfrm>
            <a:off x="205349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1A1B46CF-E775-072F-0970-6F3D430126EF}"/>
              </a:ext>
            </a:extLst>
          </p:cNvPr>
          <p:cNvSpPr/>
          <p:nvPr/>
        </p:nvSpPr>
        <p:spPr>
          <a:xfrm>
            <a:off x="3653562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5B3F8825-50AD-D366-62AB-E54A4C1475A9}"/>
              </a:ext>
            </a:extLst>
          </p:cNvPr>
          <p:cNvSpPr/>
          <p:nvPr/>
        </p:nvSpPr>
        <p:spPr>
          <a:xfrm>
            <a:off x="5253634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FD851AAF-CA22-FAAE-4EBD-67E616370794}"/>
              </a:ext>
            </a:extLst>
          </p:cNvPr>
          <p:cNvSpPr/>
          <p:nvPr/>
        </p:nvSpPr>
        <p:spPr>
          <a:xfrm>
            <a:off x="685370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9BC05005-15AC-2A2E-0A62-A69D438CF356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" name="Sottotitolo 2">
            <a:extLst>
              <a:ext uri="{FF2B5EF4-FFF2-40B4-BE49-F238E27FC236}">
                <a16:creationId xmlns:a16="http://schemas.microsoft.com/office/drawing/2014/main" id="{35F29BB5-6BE6-0A39-9526-A2B19B4482C0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18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46198-3C2D-7617-3B5C-DD1F3C9E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e 32">
            <a:extLst>
              <a:ext uri="{FF2B5EF4-FFF2-40B4-BE49-F238E27FC236}">
                <a16:creationId xmlns:a16="http://schemas.microsoft.com/office/drawing/2014/main" id="{B9FA82E6-6352-BFEF-74F1-C34C6C3DDB42}"/>
              </a:ext>
            </a:extLst>
          </p:cNvPr>
          <p:cNvSpPr/>
          <p:nvPr/>
        </p:nvSpPr>
        <p:spPr>
          <a:xfrm>
            <a:off x="1005385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9" name="Oval 37">
            <a:extLst>
              <a:ext uri="{FF2B5EF4-FFF2-40B4-BE49-F238E27FC236}">
                <a16:creationId xmlns:a16="http://schemas.microsoft.com/office/drawing/2014/main" id="{FAD212BB-2283-56B9-D9F0-0EEAB516996F}"/>
              </a:ext>
            </a:extLst>
          </p:cNvPr>
          <p:cNvSpPr/>
          <p:nvPr/>
        </p:nvSpPr>
        <p:spPr>
          <a:xfrm>
            <a:off x="5336254" y="1481922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6B4736D-C5C6-4F6C-61BB-4BBC7D539870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DC1102B-7159-9290-7C4C-6E93552EAD16}"/>
              </a:ext>
            </a:extLst>
          </p:cNvPr>
          <p:cNvSpPr>
            <a:spLocks noChangeAspect="1"/>
          </p:cNvSpPr>
          <p:nvPr/>
        </p:nvSpPr>
        <p:spPr>
          <a:xfrm>
            <a:off x="3742280" y="1481922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D119FB7D-193B-8AAD-3102-8FB7F3171ECC}"/>
              </a:ext>
            </a:extLst>
          </p:cNvPr>
          <p:cNvSpPr/>
          <p:nvPr/>
        </p:nvSpPr>
        <p:spPr>
          <a:xfrm>
            <a:off x="554333" y="1481922"/>
            <a:ext cx="1214692" cy="1214692"/>
          </a:xfrm>
          <a:prstGeom prst="ellipse">
            <a:avLst/>
          </a:prstGeom>
          <a:solidFill>
            <a:srgbClr val="C31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630F93A1-1057-E75E-1523-444DBA5F49F2}"/>
              </a:ext>
            </a:extLst>
          </p:cNvPr>
          <p:cNvSpPr/>
          <p:nvPr/>
        </p:nvSpPr>
        <p:spPr>
          <a:xfrm>
            <a:off x="6930227" y="1481922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4176F4B1-D049-5482-BD42-0ABAC7F68E08}"/>
              </a:ext>
            </a:extLst>
          </p:cNvPr>
          <p:cNvSpPr/>
          <p:nvPr/>
        </p:nvSpPr>
        <p:spPr>
          <a:xfrm>
            <a:off x="8524199" y="1481922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14D2375-502B-BB61-95BA-A09BE14963C9}"/>
              </a:ext>
            </a:extLst>
          </p:cNvPr>
          <p:cNvSpPr>
            <a:spLocks noChangeAspect="1"/>
          </p:cNvSpPr>
          <p:nvPr/>
        </p:nvSpPr>
        <p:spPr>
          <a:xfrm>
            <a:off x="10118174" y="1481922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sp>
        <p:nvSpPr>
          <p:cNvPr id="6" name="Oval 33">
            <a:extLst>
              <a:ext uri="{FF2B5EF4-FFF2-40B4-BE49-F238E27FC236}">
                <a16:creationId xmlns:a16="http://schemas.microsoft.com/office/drawing/2014/main" id="{DC3EE820-52BD-3655-4082-BB48419952FC}"/>
              </a:ext>
            </a:extLst>
          </p:cNvPr>
          <p:cNvSpPr/>
          <p:nvPr/>
        </p:nvSpPr>
        <p:spPr>
          <a:xfrm>
            <a:off x="2148308" y="1481922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F02D9AFB-5F46-ECDD-8168-3F2EEBBB6717}"/>
              </a:ext>
            </a:extLst>
          </p:cNvPr>
          <p:cNvSpPr/>
          <p:nvPr/>
        </p:nvSpPr>
        <p:spPr>
          <a:xfrm>
            <a:off x="45341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F1CF323C-2B99-9A5F-1FA2-0D8721BB1D67}"/>
              </a:ext>
            </a:extLst>
          </p:cNvPr>
          <p:cNvSpPr/>
          <p:nvPr/>
        </p:nvSpPr>
        <p:spPr>
          <a:xfrm>
            <a:off x="2053490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1203D437-3263-0F4C-91BD-A3007B1EA240}"/>
              </a:ext>
            </a:extLst>
          </p:cNvPr>
          <p:cNvSpPr/>
          <p:nvPr/>
        </p:nvSpPr>
        <p:spPr>
          <a:xfrm>
            <a:off x="3653562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F9B3FBD6-FED1-25C4-455D-FAA0B517200A}"/>
              </a:ext>
            </a:extLst>
          </p:cNvPr>
          <p:cNvSpPr/>
          <p:nvPr/>
        </p:nvSpPr>
        <p:spPr>
          <a:xfrm>
            <a:off x="5253634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B932E866-458E-7FAA-273F-E16E20E814F6}"/>
              </a:ext>
            </a:extLst>
          </p:cNvPr>
          <p:cNvSpPr/>
          <p:nvPr/>
        </p:nvSpPr>
        <p:spPr>
          <a:xfrm>
            <a:off x="6853706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E1D7BF99-B00D-50E9-1C78-3974EA8ED303}"/>
              </a:ext>
            </a:extLst>
          </p:cNvPr>
          <p:cNvSpPr/>
          <p:nvPr/>
        </p:nvSpPr>
        <p:spPr>
          <a:xfrm>
            <a:off x="8453778" y="1387104"/>
            <a:ext cx="1404327" cy="1404327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rcular Std Medium" panose="020B0604020101010102" pitchFamily="34" charset="0"/>
              <a:cs typeface="Circular Std Medium" panose="020B0604020101010102" pitchFamily="34" charset="0"/>
            </a:endParaRPr>
          </a:p>
        </p:txBody>
      </p:sp>
      <p:sp>
        <p:nvSpPr>
          <p:cNvPr id="2" name="Rectangle 108">
            <a:extLst>
              <a:ext uri="{FF2B5EF4-FFF2-40B4-BE49-F238E27FC236}">
                <a16:creationId xmlns:a16="http://schemas.microsoft.com/office/drawing/2014/main" id="{F69903FB-A7C1-4BA3-F4D4-BCF0BF4E7B2A}"/>
              </a:ext>
            </a:extLst>
          </p:cNvPr>
          <p:cNvSpPr/>
          <p:nvPr/>
        </p:nvSpPr>
        <p:spPr>
          <a:xfrm>
            <a:off x="581965" y="4204769"/>
            <a:ext cx="6348261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Aspetti contrattuali e timing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Assistenza agli acquirenti durante tutte le fasi contrattuali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Relazione supporto agli sviluppatori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BF149C8-5E8D-897A-BD77-0AC41045493E}"/>
              </a:ext>
            </a:extLst>
          </p:cNvPr>
          <p:cNvSpPr txBox="1"/>
          <p:nvPr/>
        </p:nvSpPr>
        <p:spPr>
          <a:xfrm>
            <a:off x="554333" y="3321605"/>
            <a:ext cx="858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1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E2841"/>
              </a:buClr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4C1529"/>
                </a:solidFill>
                <a:effectLst/>
                <a:uLnTx/>
                <a:uFillTx/>
                <a:latin typeface="PP Pangaia SemiBold" pitchFamily="2" charset="0"/>
                <a:ea typeface="+mn-ea"/>
                <a:cs typeface="+mn-cs"/>
              </a:rPr>
              <a:t>Post-</a:t>
            </a: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C3162B"/>
                </a:solidFill>
                <a:effectLst/>
                <a:uLnTx/>
                <a:uFillTx/>
                <a:latin typeface="PP Pangaia Italic" pitchFamily="50" charset="0"/>
                <a:ea typeface="+mn-ea"/>
                <a:cs typeface="PP Pangaia Italic" pitchFamily="50" charset="0"/>
              </a:rPr>
              <a:t>Vendita</a:t>
            </a:r>
            <a:endParaRPr kumimoji="0" lang="it-IT" sz="4000" b="0" i="0" u="none" strike="noStrike" kern="1200" cap="none" spc="0" normalizeH="0" baseline="0" noProof="0" dirty="0">
              <a:ln>
                <a:noFill/>
              </a:ln>
              <a:solidFill>
                <a:srgbClr val="C3162B"/>
              </a:solidFill>
              <a:effectLst/>
              <a:uLnTx/>
              <a:uFillTx/>
              <a:latin typeface="PP Pangaia Italic" pitchFamily="50" charset="0"/>
              <a:ea typeface="+mn-ea"/>
              <a:cs typeface="PP Pangaia Italic" pitchFamily="50" charset="0"/>
            </a:endParaRP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A86B78A8-7BF4-7A94-39EB-9D3F97D5ECA9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49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xit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8" grpId="0" animBg="1"/>
      <p:bldP spid="29" grpId="0" animBg="1"/>
      <p:bldP spid="30" grpId="0" animBg="1"/>
      <p:bldP spid="32" grpId="0" animBg="1"/>
      <p:bldP spid="2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1D0B4-3457-565E-7051-D42E3A4B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37">
            <a:extLst>
              <a:ext uri="{FF2B5EF4-FFF2-40B4-BE49-F238E27FC236}">
                <a16:creationId xmlns:a16="http://schemas.microsoft.com/office/drawing/2014/main" id="{C926489D-E970-6192-AC23-0A9A547280CF}"/>
              </a:ext>
            </a:extLst>
          </p:cNvPr>
          <p:cNvSpPr/>
          <p:nvPr/>
        </p:nvSpPr>
        <p:spPr>
          <a:xfrm>
            <a:off x="5488654" y="3210095"/>
            <a:ext cx="1214692" cy="1214692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MC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BEAE7B36-1BC4-6FE0-27BE-76CAE3283AFB}"/>
              </a:ext>
            </a:extLst>
          </p:cNvPr>
          <p:cNvSpPr/>
          <p:nvPr/>
        </p:nvSpPr>
        <p:spPr>
          <a:xfrm rot="5400000">
            <a:off x="517094" y="3020454"/>
            <a:ext cx="1593974" cy="1593975"/>
          </a:xfrm>
          <a:prstGeom prst="arc">
            <a:avLst>
              <a:gd name="adj1" fmla="val 16200000"/>
              <a:gd name="adj2" fmla="val 5278363"/>
            </a:avLst>
          </a:prstGeom>
          <a:ln w="12700">
            <a:solidFill>
              <a:srgbClr val="E21529"/>
            </a:solidFill>
            <a:prstDash val="sysDot"/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2" name="Arc 32">
            <a:extLst>
              <a:ext uri="{FF2B5EF4-FFF2-40B4-BE49-F238E27FC236}">
                <a16:creationId xmlns:a16="http://schemas.microsoft.com/office/drawing/2014/main" id="{C3CAC1E0-258B-E0C2-2206-161DEC308028}"/>
              </a:ext>
            </a:extLst>
          </p:cNvPr>
          <p:cNvSpPr/>
          <p:nvPr/>
        </p:nvSpPr>
        <p:spPr>
          <a:xfrm rot="16200000" flipV="1">
            <a:off x="2111068" y="3020454"/>
            <a:ext cx="1593974" cy="1593975"/>
          </a:xfrm>
          <a:prstGeom prst="arc">
            <a:avLst>
              <a:gd name="adj1" fmla="val 16200000"/>
              <a:gd name="adj2" fmla="val 5278363"/>
            </a:avLst>
          </a:prstGeom>
          <a:ln w="12700">
            <a:solidFill>
              <a:srgbClr val="E21529"/>
            </a:solidFill>
            <a:prstDash val="sysDot"/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7" name="Arc 34">
            <a:extLst>
              <a:ext uri="{FF2B5EF4-FFF2-40B4-BE49-F238E27FC236}">
                <a16:creationId xmlns:a16="http://schemas.microsoft.com/office/drawing/2014/main" id="{1CBB0AC4-4A0C-48F6-07D9-FB48627ABBC6}"/>
              </a:ext>
            </a:extLst>
          </p:cNvPr>
          <p:cNvSpPr/>
          <p:nvPr/>
        </p:nvSpPr>
        <p:spPr>
          <a:xfrm rot="5400000">
            <a:off x="3705041" y="3020454"/>
            <a:ext cx="1593974" cy="1593975"/>
          </a:xfrm>
          <a:prstGeom prst="arc">
            <a:avLst>
              <a:gd name="adj1" fmla="val 16200000"/>
              <a:gd name="adj2" fmla="val 5278363"/>
            </a:avLst>
          </a:prstGeom>
          <a:ln w="12700">
            <a:solidFill>
              <a:srgbClr val="E21529"/>
            </a:solidFill>
            <a:prstDash val="sysDot"/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664BD8A-1426-7089-3CF8-1C35119D3007}"/>
              </a:ext>
            </a:extLst>
          </p:cNvPr>
          <p:cNvSpPr>
            <a:spLocks noChangeAspect="1"/>
          </p:cNvSpPr>
          <p:nvPr/>
        </p:nvSpPr>
        <p:spPr>
          <a:xfrm>
            <a:off x="3894680" y="3210095"/>
            <a:ext cx="1214692" cy="1214692"/>
          </a:xfrm>
          <a:prstGeom prst="ellipse">
            <a:avLst/>
          </a:prstGeom>
          <a:solidFill>
            <a:srgbClr val="F4A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TO</a:t>
            </a:r>
          </a:p>
        </p:txBody>
      </p:sp>
      <p:sp>
        <p:nvSpPr>
          <p:cNvPr id="8" name="Arc 36">
            <a:extLst>
              <a:ext uri="{FF2B5EF4-FFF2-40B4-BE49-F238E27FC236}">
                <a16:creationId xmlns:a16="http://schemas.microsoft.com/office/drawing/2014/main" id="{EF8F8492-2A33-30F0-1E63-5EB7634B6CA3}"/>
              </a:ext>
            </a:extLst>
          </p:cNvPr>
          <p:cNvSpPr/>
          <p:nvPr/>
        </p:nvSpPr>
        <p:spPr>
          <a:xfrm rot="16200000" flipV="1">
            <a:off x="5299012" y="3020454"/>
            <a:ext cx="1593974" cy="1593975"/>
          </a:xfrm>
          <a:prstGeom prst="arc">
            <a:avLst>
              <a:gd name="adj1" fmla="val 16200000"/>
              <a:gd name="adj2" fmla="val 5278363"/>
            </a:avLst>
          </a:prstGeom>
          <a:ln w="12700">
            <a:solidFill>
              <a:srgbClr val="E21529"/>
            </a:solidFill>
            <a:prstDash val="sysDot"/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63E40544-78B4-4E42-600F-852AC4FEDAB4}"/>
              </a:ext>
            </a:extLst>
          </p:cNvPr>
          <p:cNvSpPr/>
          <p:nvPr/>
        </p:nvSpPr>
        <p:spPr>
          <a:xfrm>
            <a:off x="706733" y="3210095"/>
            <a:ext cx="1214692" cy="1214692"/>
          </a:xfrm>
          <a:prstGeom prst="ellipse">
            <a:avLst/>
          </a:prstGeom>
          <a:solidFill>
            <a:srgbClr val="E21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1E9DF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CS</a:t>
            </a:r>
          </a:p>
        </p:txBody>
      </p:sp>
      <p:sp>
        <p:nvSpPr>
          <p:cNvPr id="11" name="Arc 38">
            <a:extLst>
              <a:ext uri="{FF2B5EF4-FFF2-40B4-BE49-F238E27FC236}">
                <a16:creationId xmlns:a16="http://schemas.microsoft.com/office/drawing/2014/main" id="{CB0AAA9A-C1AD-D613-E590-86B82A0245B5}"/>
              </a:ext>
            </a:extLst>
          </p:cNvPr>
          <p:cNvSpPr/>
          <p:nvPr/>
        </p:nvSpPr>
        <p:spPr>
          <a:xfrm rot="5400000">
            <a:off x="6892986" y="3020454"/>
            <a:ext cx="1593974" cy="1593975"/>
          </a:xfrm>
          <a:prstGeom prst="arc">
            <a:avLst>
              <a:gd name="adj1" fmla="val 16200000"/>
              <a:gd name="adj2" fmla="val 5278363"/>
            </a:avLst>
          </a:prstGeom>
          <a:ln w="12700">
            <a:solidFill>
              <a:srgbClr val="E21529"/>
            </a:solidFill>
            <a:prstDash val="sysDot"/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4DAD8B73-1001-1BC6-D664-04C1372C18C4}"/>
              </a:ext>
            </a:extLst>
          </p:cNvPr>
          <p:cNvSpPr/>
          <p:nvPr/>
        </p:nvSpPr>
        <p:spPr>
          <a:xfrm>
            <a:off x="7082627" y="3210095"/>
            <a:ext cx="1214692" cy="1214692"/>
          </a:xfrm>
          <a:prstGeom prst="ellipse">
            <a:avLst/>
          </a:prstGeom>
          <a:solidFill>
            <a:srgbClr val="E5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</a:t>
            </a:r>
          </a:p>
        </p:txBody>
      </p:sp>
      <p:sp>
        <p:nvSpPr>
          <p:cNvPr id="13" name="Arc 48">
            <a:extLst>
              <a:ext uri="{FF2B5EF4-FFF2-40B4-BE49-F238E27FC236}">
                <a16:creationId xmlns:a16="http://schemas.microsoft.com/office/drawing/2014/main" id="{70CC3D9A-DD62-348D-50D9-0F311CE9E76A}"/>
              </a:ext>
            </a:extLst>
          </p:cNvPr>
          <p:cNvSpPr/>
          <p:nvPr/>
        </p:nvSpPr>
        <p:spPr>
          <a:xfrm rot="16200000" flipV="1">
            <a:off x="8486959" y="3020454"/>
            <a:ext cx="1593974" cy="1593975"/>
          </a:xfrm>
          <a:prstGeom prst="arc">
            <a:avLst>
              <a:gd name="adj1" fmla="val 16200000"/>
              <a:gd name="adj2" fmla="val 5278363"/>
            </a:avLst>
          </a:prstGeom>
          <a:ln w="12700">
            <a:solidFill>
              <a:srgbClr val="E21529"/>
            </a:solidFill>
            <a:prstDash val="sysDot"/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4" name="Oval 53">
            <a:extLst>
              <a:ext uri="{FF2B5EF4-FFF2-40B4-BE49-F238E27FC236}">
                <a16:creationId xmlns:a16="http://schemas.microsoft.com/office/drawing/2014/main" id="{5A21F358-7979-0E98-4DE2-652033B32F1D}"/>
              </a:ext>
            </a:extLst>
          </p:cNvPr>
          <p:cNvSpPr/>
          <p:nvPr/>
        </p:nvSpPr>
        <p:spPr>
          <a:xfrm>
            <a:off x="8676599" y="3210095"/>
            <a:ext cx="1214692" cy="1214692"/>
          </a:xfrm>
          <a:prstGeom prst="ellipse">
            <a:avLst/>
          </a:prstGeom>
          <a:solidFill>
            <a:srgbClr val="E8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BO</a:t>
            </a:r>
          </a:p>
        </p:txBody>
      </p:sp>
      <p:sp>
        <p:nvSpPr>
          <p:cNvPr id="97" name="Arc 96">
            <a:extLst>
              <a:ext uri="{FF2B5EF4-FFF2-40B4-BE49-F238E27FC236}">
                <a16:creationId xmlns:a16="http://schemas.microsoft.com/office/drawing/2014/main" id="{D619C715-D2F4-2F2E-AF1C-672DF93D4224}"/>
              </a:ext>
            </a:extLst>
          </p:cNvPr>
          <p:cNvSpPr/>
          <p:nvPr/>
        </p:nvSpPr>
        <p:spPr>
          <a:xfrm rot="5400000">
            <a:off x="10080935" y="3020454"/>
            <a:ext cx="1593974" cy="1593975"/>
          </a:xfrm>
          <a:prstGeom prst="arc">
            <a:avLst>
              <a:gd name="adj1" fmla="val 16200000"/>
              <a:gd name="adj2" fmla="val 5278363"/>
            </a:avLst>
          </a:prstGeom>
          <a:ln w="12700">
            <a:solidFill>
              <a:srgbClr val="E21529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173A4EA-80EB-E2FC-A761-6CE9911C243A}"/>
              </a:ext>
            </a:extLst>
          </p:cNvPr>
          <p:cNvSpPr>
            <a:spLocks noChangeAspect="1"/>
          </p:cNvSpPr>
          <p:nvPr/>
        </p:nvSpPr>
        <p:spPr>
          <a:xfrm>
            <a:off x="10270574" y="3210095"/>
            <a:ext cx="1214692" cy="1214692"/>
          </a:xfrm>
          <a:prstGeom prst="ellipse">
            <a:avLst/>
          </a:prstGeom>
          <a:solidFill>
            <a:srgbClr val="353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4A2A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PV</a:t>
            </a:r>
          </a:p>
        </p:txBody>
      </p: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0FCBCB2E-36B6-090A-F991-9EC21A516B6A}"/>
              </a:ext>
            </a:extLst>
          </p:cNvPr>
          <p:cNvGrpSpPr/>
          <p:nvPr/>
        </p:nvGrpSpPr>
        <p:grpSpPr>
          <a:xfrm>
            <a:off x="9736728" y="1489795"/>
            <a:ext cx="2279959" cy="1644345"/>
            <a:chOff x="9736728" y="1489795"/>
            <a:chExt cx="2279959" cy="1644345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B3FEEF8A-7653-E94D-C261-3684C80B88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77920" y="2709055"/>
              <a:ext cx="1" cy="425085"/>
            </a:xfrm>
            <a:prstGeom prst="line">
              <a:avLst/>
            </a:prstGeom>
            <a:ln w="12700">
              <a:solidFill>
                <a:srgbClr val="353134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E5CED979-47DE-482A-E268-7C7F70AD5506}"/>
                </a:ext>
              </a:extLst>
            </p:cNvPr>
            <p:cNvGrpSpPr/>
            <p:nvPr/>
          </p:nvGrpSpPr>
          <p:grpSpPr>
            <a:xfrm rot="10800000" flipH="1" flipV="1">
              <a:off x="10762734" y="2577574"/>
              <a:ext cx="230373" cy="230373"/>
              <a:chOff x="1357187" y="1495056"/>
              <a:chExt cx="510373" cy="510373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5E4DB11E-8144-C1D3-1565-2AD034E356E8}"/>
                  </a:ext>
                </a:extLst>
              </p:cNvPr>
              <p:cNvSpPr/>
              <p:nvPr/>
            </p:nvSpPr>
            <p:spPr bwMode="auto">
              <a:xfrm>
                <a:off x="1357187" y="1495056"/>
                <a:ext cx="510373" cy="510373"/>
              </a:xfrm>
              <a:prstGeom prst="ellipse">
                <a:avLst/>
              </a:prstGeom>
              <a:noFill/>
              <a:ln w="9525">
                <a:solidFill>
                  <a:srgbClr val="353134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FEAADEE4-24C1-C83A-F42D-DBE0F5BDD9B0}"/>
                  </a:ext>
                </a:extLst>
              </p:cNvPr>
              <p:cNvSpPr/>
              <p:nvPr/>
            </p:nvSpPr>
            <p:spPr bwMode="auto">
              <a:xfrm>
                <a:off x="1469451" y="1607320"/>
                <a:ext cx="285840" cy="285840"/>
              </a:xfrm>
              <a:prstGeom prst="ellipse">
                <a:avLst/>
              </a:prstGeom>
              <a:solidFill>
                <a:srgbClr val="353134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B5E7EEF-1A9F-4E98-FD46-2ABD767EC1D9}"/>
                </a:ext>
              </a:extLst>
            </p:cNvPr>
            <p:cNvSpPr txBox="1"/>
            <p:nvPr/>
          </p:nvSpPr>
          <p:spPr>
            <a:xfrm flipH="1">
              <a:off x="9736728" y="1489795"/>
              <a:ext cx="2279959" cy="907941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Post-V</a:t>
              </a:r>
              <a:r>
                <a:rPr kumimoji="0" lang="en-US" sz="1400" i="0" u="none" strike="noStrike" kern="1200" cap="none" spc="0" normalizeH="0" baseline="0" noProof="0" dirty="0" err="1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endita</a:t>
              </a:r>
              <a:endPara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Medium" panose="020B0604020101010102" pitchFamily="34" charset="0"/>
                <a:ea typeface="Circular Std Light" panose="020B0404020101020102" pitchFamily="34" charset="0"/>
                <a:cs typeface="Circular Std Medium" panose="020B0604020101010102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8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Offriamo un servizio completo di gestione del cliente per la personalizzazione degli interni degli appartamenti in costruzione. Forniamo consulenza tecnica per la definizione di layout, impianti e finiture.</a:t>
              </a:r>
              <a:endPara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endParaRPr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4B8D3DB4-7F0C-C1B6-BAEC-E4A3F0F865F8}"/>
              </a:ext>
            </a:extLst>
          </p:cNvPr>
          <p:cNvGrpSpPr/>
          <p:nvPr/>
        </p:nvGrpSpPr>
        <p:grpSpPr>
          <a:xfrm>
            <a:off x="291992" y="1417151"/>
            <a:ext cx="2044172" cy="1716989"/>
            <a:chOff x="291992" y="1417151"/>
            <a:chExt cx="2044172" cy="1716989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8BB89776-B5BF-906E-B48D-E26E15BE0F72}"/>
                </a:ext>
              </a:extLst>
            </p:cNvPr>
            <p:cNvSpPr txBox="1"/>
            <p:nvPr/>
          </p:nvSpPr>
          <p:spPr>
            <a:xfrm flipH="1">
              <a:off x="291992" y="1417151"/>
              <a:ext cx="2044172" cy="1031051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Centro Studi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8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Forniamo analisi di mercato approfondite e previsionali sulla locazione, basate su dati interni ed esterni. Facilitiamo lo scambio di conoscenze tramite forum con partner e pubblichiamo osservatori di settore. Siamo opinion leader per la stampa specializzata.</a:t>
              </a:r>
              <a:endPara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endParaRPr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64C890D3-A930-E2C6-903A-08957D9FD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4079" y="2709055"/>
              <a:ext cx="1" cy="425085"/>
            </a:xfrm>
            <a:prstGeom prst="line">
              <a:avLst/>
            </a:prstGeom>
            <a:ln w="12700">
              <a:solidFill>
                <a:srgbClr val="E21529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0B31975-5FCA-F9CD-A510-67BF0BBDEF5C}"/>
                </a:ext>
              </a:extLst>
            </p:cNvPr>
            <p:cNvGrpSpPr/>
            <p:nvPr/>
          </p:nvGrpSpPr>
          <p:grpSpPr>
            <a:xfrm rot="10800000" flipH="1" flipV="1">
              <a:off x="1198893" y="2577574"/>
              <a:ext cx="230373" cy="230373"/>
              <a:chOff x="1357187" y="1495056"/>
              <a:chExt cx="510373" cy="510373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F82C2E8A-4DE9-5DF3-884E-B040A0AEF4F8}"/>
                  </a:ext>
                </a:extLst>
              </p:cNvPr>
              <p:cNvSpPr/>
              <p:nvPr/>
            </p:nvSpPr>
            <p:spPr bwMode="auto">
              <a:xfrm>
                <a:off x="1357187" y="1495056"/>
                <a:ext cx="510373" cy="510373"/>
              </a:xfrm>
              <a:prstGeom prst="ellipse">
                <a:avLst/>
              </a:prstGeom>
              <a:noFill/>
              <a:ln w="9525">
                <a:solidFill>
                  <a:srgbClr val="E21529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07E3F123-8634-B7F3-DFD7-F50CC57EFDBC}"/>
                  </a:ext>
                </a:extLst>
              </p:cNvPr>
              <p:cNvSpPr/>
              <p:nvPr/>
            </p:nvSpPr>
            <p:spPr bwMode="auto">
              <a:xfrm>
                <a:off x="1469451" y="1607320"/>
                <a:ext cx="285840" cy="285840"/>
              </a:xfrm>
              <a:prstGeom prst="ellipse">
                <a:avLst/>
              </a:prstGeom>
              <a:solidFill>
                <a:srgbClr val="E21529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</p:grp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F351E910-5DD7-7148-C5A8-B144E0A7065B}"/>
              </a:ext>
            </a:extLst>
          </p:cNvPr>
          <p:cNvGrpSpPr/>
          <p:nvPr/>
        </p:nvGrpSpPr>
        <p:grpSpPr>
          <a:xfrm>
            <a:off x="3550471" y="1417151"/>
            <a:ext cx="1903105" cy="1716989"/>
            <a:chOff x="3550471" y="1417151"/>
            <a:chExt cx="1903105" cy="1716989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7A8A2876-6715-6DA0-96B4-CE5B46C09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2025" y="2709055"/>
              <a:ext cx="1" cy="425085"/>
            </a:xfrm>
            <a:prstGeom prst="line">
              <a:avLst/>
            </a:prstGeom>
            <a:ln w="12700">
              <a:solidFill>
                <a:srgbClr val="EAA0A7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78680FCF-D6C7-0489-6CEA-6687B0511657}"/>
                </a:ext>
              </a:extLst>
            </p:cNvPr>
            <p:cNvGrpSpPr/>
            <p:nvPr/>
          </p:nvGrpSpPr>
          <p:grpSpPr>
            <a:xfrm rot="10800000" flipH="1" flipV="1">
              <a:off x="4386839" y="2577574"/>
              <a:ext cx="230373" cy="230373"/>
              <a:chOff x="1357187" y="1495056"/>
              <a:chExt cx="510373" cy="510373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A1ADB90E-0D1F-6BAD-3B4B-B4026EBFF038}"/>
                  </a:ext>
                </a:extLst>
              </p:cNvPr>
              <p:cNvSpPr/>
              <p:nvPr/>
            </p:nvSpPr>
            <p:spPr bwMode="auto">
              <a:xfrm>
                <a:off x="1357187" y="1495056"/>
                <a:ext cx="510373" cy="510373"/>
              </a:xfrm>
              <a:prstGeom prst="ellipse">
                <a:avLst/>
              </a:prstGeom>
              <a:noFill/>
              <a:ln w="9525">
                <a:solidFill>
                  <a:srgbClr val="F4A2A9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7BBE0C9C-86EB-79BE-6F39-7FE17C58BC82}"/>
                  </a:ext>
                </a:extLst>
              </p:cNvPr>
              <p:cNvSpPr/>
              <p:nvPr/>
            </p:nvSpPr>
            <p:spPr bwMode="auto">
              <a:xfrm>
                <a:off x="1469451" y="1607320"/>
                <a:ext cx="285840" cy="285840"/>
              </a:xfrm>
              <a:prstGeom prst="ellipse">
                <a:avLst/>
              </a:prstGeom>
              <a:solidFill>
                <a:srgbClr val="F4A2A9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</p:grp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5876EC61-0FCB-F5B7-246A-2E5F9514C275}"/>
                </a:ext>
              </a:extLst>
            </p:cNvPr>
            <p:cNvSpPr txBox="1"/>
            <p:nvPr/>
          </p:nvSpPr>
          <p:spPr>
            <a:xfrm flipH="1">
              <a:off x="3550471" y="1417151"/>
              <a:ext cx="1903105" cy="1031051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Technical Operation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8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Servizi tecnici, di consulenza e di personalizzazione </a:t>
              </a:r>
              <a:r>
                <a:rPr kumimoji="0" lang="it-IT" sz="800" i="0" u="none" strike="noStrike" kern="1200" cap="none" spc="0" normalizeH="0" baseline="0" noProof="0" dirty="0" err="1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pre</a:t>
              </a:r>
              <a:r>
                <a:rPr kumimoji="0" lang="it-IT" sz="8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 e post vendita: il team segue il cliente durante tutto il progetto immobiliare, definendo un prodotto finale in linea con le esigenze del cliente.</a:t>
              </a:r>
            </a:p>
          </p:txBody>
        </p:sp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3C102B6F-9A29-D0E4-7A42-2C0F581F1B56}"/>
              </a:ext>
            </a:extLst>
          </p:cNvPr>
          <p:cNvGrpSpPr/>
          <p:nvPr/>
        </p:nvGrpSpPr>
        <p:grpSpPr>
          <a:xfrm>
            <a:off x="6703346" y="1540261"/>
            <a:ext cx="1783612" cy="1593879"/>
            <a:chOff x="6703346" y="1540261"/>
            <a:chExt cx="1783612" cy="1593879"/>
          </a:xfrm>
        </p:grpSpPr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B885768-AA43-2AC2-CD50-59F8462580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89973" y="2709055"/>
              <a:ext cx="1" cy="425085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66FD8D0-A44E-43AC-9779-11B34EA8BE71}"/>
                </a:ext>
              </a:extLst>
            </p:cNvPr>
            <p:cNvGrpSpPr/>
            <p:nvPr/>
          </p:nvGrpSpPr>
          <p:grpSpPr>
            <a:xfrm rot="10800000" flipH="1" flipV="1">
              <a:off x="7574787" y="2577574"/>
              <a:ext cx="230373" cy="230373"/>
              <a:chOff x="1357187" y="1495056"/>
              <a:chExt cx="510373" cy="510373"/>
            </a:xfrm>
          </p:grpSpPr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19CF08DD-EA68-10EF-A0F9-89D1DB377584}"/>
                  </a:ext>
                </a:extLst>
              </p:cNvPr>
              <p:cNvSpPr/>
              <p:nvPr/>
            </p:nvSpPr>
            <p:spPr bwMode="auto">
              <a:xfrm>
                <a:off x="1357187" y="1495056"/>
                <a:ext cx="510373" cy="510373"/>
              </a:xfrm>
              <a:prstGeom prst="ellipse">
                <a:avLst/>
              </a:prstGeom>
              <a:noFill/>
              <a:ln w="9525">
                <a:solidFill>
                  <a:srgbClr val="E5E7E9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E11F9701-7E6D-55C1-8163-A29C83434A91}"/>
                  </a:ext>
                </a:extLst>
              </p:cNvPr>
              <p:cNvSpPr/>
              <p:nvPr/>
            </p:nvSpPr>
            <p:spPr bwMode="auto">
              <a:xfrm>
                <a:off x="1469451" y="1607320"/>
                <a:ext cx="285840" cy="285840"/>
              </a:xfrm>
              <a:prstGeom prst="ellipse">
                <a:avLst/>
              </a:prstGeom>
              <a:solidFill>
                <a:srgbClr val="E5E7E9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B9D48F6C-0AC3-A6DD-7974-BA3CE9AE80A8}"/>
                </a:ext>
              </a:extLst>
            </p:cNvPr>
            <p:cNvSpPr txBox="1"/>
            <p:nvPr/>
          </p:nvSpPr>
          <p:spPr>
            <a:xfrm flipH="1">
              <a:off x="6703346" y="1540261"/>
              <a:ext cx="1783612" cy="907941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Agency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8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Abbiamo una rete di vendita diretta con agenti specializzati in nuove costruzioni (BTR e PRS) e usato. Project manager dedicati affiancano clienti e sviluppatori in ogni fase, dallo sviluppo all'acquisto.</a:t>
              </a:r>
              <a:endPara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endParaRPr>
            </a:p>
          </p:txBody>
        </p:sp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7E325214-C2F6-92A5-DF81-EF0F6B6F50C0}"/>
              </a:ext>
            </a:extLst>
          </p:cNvPr>
          <p:cNvGrpSpPr/>
          <p:nvPr/>
        </p:nvGrpSpPr>
        <p:grpSpPr>
          <a:xfrm>
            <a:off x="8170351" y="4500744"/>
            <a:ext cx="2227188" cy="1470767"/>
            <a:chOff x="8170351" y="4500744"/>
            <a:chExt cx="2227188" cy="1470767"/>
          </a:xfrm>
        </p:grpSpPr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4CC223E6-30C5-76EA-F949-C6B7AF9C387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9283946" y="4500744"/>
              <a:ext cx="1" cy="425085"/>
            </a:xfrm>
            <a:prstGeom prst="line">
              <a:avLst/>
            </a:prstGeom>
            <a:ln w="12700">
              <a:solidFill>
                <a:srgbClr val="E8E1DF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1669FD9-FFA2-69A3-222C-C31210E3E302}"/>
                </a:ext>
              </a:extLst>
            </p:cNvPr>
            <p:cNvSpPr txBox="1"/>
            <p:nvPr/>
          </p:nvSpPr>
          <p:spPr>
            <a:xfrm flipH="1">
              <a:off x="8170351" y="5186681"/>
              <a:ext cx="2227188" cy="7848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Back Office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8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Forniamo supporto completo nella redazione di proposte e contratti di compravendita, gestendo la modulistica legale. Offriamo assistenza dedicata ai nuovi acquirenti in tutte le fasi contrattuali.</a:t>
              </a:r>
              <a:endPara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4D1C826-8D63-C1D5-6DA7-12652DC8A1A0}"/>
                </a:ext>
              </a:extLst>
            </p:cNvPr>
            <p:cNvGrpSpPr/>
            <p:nvPr/>
          </p:nvGrpSpPr>
          <p:grpSpPr>
            <a:xfrm>
              <a:off x="9168760" y="4826937"/>
              <a:ext cx="230373" cy="230373"/>
              <a:chOff x="9168760" y="4951002"/>
              <a:chExt cx="230373" cy="230373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5E6949A8-E85B-BBD1-AAA6-D0BE872D1C08}"/>
                  </a:ext>
                </a:extLst>
              </p:cNvPr>
              <p:cNvSpPr/>
              <p:nvPr/>
            </p:nvSpPr>
            <p:spPr bwMode="auto">
              <a:xfrm rot="10800000" flipH="1" flipV="1">
                <a:off x="9168760" y="4951002"/>
                <a:ext cx="230373" cy="230373"/>
              </a:xfrm>
              <a:prstGeom prst="ellipse">
                <a:avLst/>
              </a:prstGeom>
              <a:noFill/>
              <a:ln w="9525">
                <a:solidFill>
                  <a:srgbClr val="E8E1D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C08D1DD7-5A7C-4E06-51A4-2AEFC83B0DC2}"/>
                  </a:ext>
                </a:extLst>
              </p:cNvPr>
              <p:cNvSpPr/>
              <p:nvPr/>
            </p:nvSpPr>
            <p:spPr bwMode="auto">
              <a:xfrm rot="10800000" flipH="1" flipV="1">
                <a:off x="9219435" y="5001677"/>
                <a:ext cx="129023" cy="129023"/>
              </a:xfrm>
              <a:prstGeom prst="ellipse">
                <a:avLst/>
              </a:prstGeom>
              <a:solidFill>
                <a:srgbClr val="E8E1D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</p:grp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EF39010D-829F-D948-0907-7C60DB04FA45}"/>
              </a:ext>
            </a:extLst>
          </p:cNvPr>
          <p:cNvGrpSpPr/>
          <p:nvPr/>
        </p:nvGrpSpPr>
        <p:grpSpPr>
          <a:xfrm>
            <a:off x="4778824" y="4500744"/>
            <a:ext cx="2634350" cy="1470767"/>
            <a:chOff x="4778824" y="4500744"/>
            <a:chExt cx="2634350" cy="1470767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69DA8E06-55E7-A26E-BEDC-8A254A40EDC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096000" y="4500744"/>
              <a:ext cx="1" cy="425085"/>
            </a:xfrm>
            <a:prstGeom prst="line">
              <a:avLst/>
            </a:prstGeom>
            <a:ln w="12700">
              <a:solidFill>
                <a:srgbClr val="F1E9DF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E4173C9-C5C5-0626-1E7E-8DFF1314EF2B}"/>
                </a:ext>
              </a:extLst>
            </p:cNvPr>
            <p:cNvGrpSpPr/>
            <p:nvPr/>
          </p:nvGrpSpPr>
          <p:grpSpPr>
            <a:xfrm>
              <a:off x="5980814" y="4826937"/>
              <a:ext cx="230373" cy="230373"/>
              <a:chOff x="5980814" y="4951002"/>
              <a:chExt cx="230373" cy="230373"/>
            </a:xfrm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660B57F3-2D13-96CF-EF44-25C31E04CB3E}"/>
                  </a:ext>
                </a:extLst>
              </p:cNvPr>
              <p:cNvSpPr/>
              <p:nvPr/>
            </p:nvSpPr>
            <p:spPr bwMode="auto">
              <a:xfrm rot="10800000" flipH="1" flipV="1">
                <a:off x="5980814" y="4951002"/>
                <a:ext cx="230373" cy="230373"/>
              </a:xfrm>
              <a:prstGeom prst="ellipse">
                <a:avLst/>
              </a:prstGeom>
              <a:noFill/>
              <a:ln w="9525">
                <a:solidFill>
                  <a:srgbClr val="F1E9D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54772FCC-EE17-95A9-0ADE-7299FB3CC91B}"/>
                  </a:ext>
                </a:extLst>
              </p:cNvPr>
              <p:cNvSpPr/>
              <p:nvPr/>
            </p:nvSpPr>
            <p:spPr bwMode="auto">
              <a:xfrm rot="10800000" flipH="1" flipV="1">
                <a:off x="6031489" y="5001677"/>
                <a:ext cx="129023" cy="129023"/>
              </a:xfrm>
              <a:prstGeom prst="ellipse">
                <a:avLst/>
              </a:prstGeom>
              <a:solidFill>
                <a:srgbClr val="F1E9D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</p:grp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EE3E09D2-2517-A68B-1D7F-F51672541FE3}"/>
                </a:ext>
              </a:extLst>
            </p:cNvPr>
            <p:cNvSpPr txBox="1"/>
            <p:nvPr/>
          </p:nvSpPr>
          <p:spPr>
            <a:xfrm flipH="1">
              <a:off x="4778824" y="5186681"/>
              <a:ext cx="2634350" cy="7848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Marketing &amp; Communication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8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Sviluppo della strategia di marketing mix finalizzata all'identificazione del target, al posizionamento e promozione degli immobili, volta a ridurre i tempi medi di vendita e valorizzare l'asset.</a:t>
              </a: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81C7C6A5-6C3A-5825-6354-208A9E3E5C12}"/>
              </a:ext>
            </a:extLst>
          </p:cNvPr>
          <p:cNvGrpSpPr/>
          <p:nvPr/>
        </p:nvGrpSpPr>
        <p:grpSpPr>
          <a:xfrm>
            <a:off x="2002194" y="4500744"/>
            <a:ext cx="1811713" cy="1593878"/>
            <a:chOff x="2002194" y="4500744"/>
            <a:chExt cx="1811713" cy="1593878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F4ED70D3-F7D4-7D68-5694-63B004853FF2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908052" y="4500744"/>
              <a:ext cx="1" cy="425085"/>
            </a:xfrm>
            <a:prstGeom prst="line">
              <a:avLst/>
            </a:prstGeom>
            <a:ln w="12700">
              <a:solidFill>
                <a:srgbClr val="460E1D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046FA0F-A8FD-0348-7F67-E518C927E0C1}"/>
                </a:ext>
              </a:extLst>
            </p:cNvPr>
            <p:cNvGrpSpPr/>
            <p:nvPr/>
          </p:nvGrpSpPr>
          <p:grpSpPr>
            <a:xfrm>
              <a:off x="2792866" y="4826937"/>
              <a:ext cx="230373" cy="230373"/>
              <a:chOff x="2792866" y="4951002"/>
              <a:chExt cx="230373" cy="230373"/>
            </a:xfrm>
          </p:grpSpPr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2F9A6728-6530-AB95-A1DF-3B33F85FABED}"/>
                  </a:ext>
                </a:extLst>
              </p:cNvPr>
              <p:cNvSpPr/>
              <p:nvPr/>
            </p:nvSpPr>
            <p:spPr bwMode="auto">
              <a:xfrm rot="10800000" flipH="1" flipV="1">
                <a:off x="2792866" y="4951002"/>
                <a:ext cx="230373" cy="230373"/>
              </a:xfrm>
              <a:prstGeom prst="ellipse">
                <a:avLst/>
              </a:prstGeom>
              <a:noFill/>
              <a:ln w="9525">
                <a:solidFill>
                  <a:srgbClr val="460E1D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B1E463EC-FAB4-2E56-0EEA-69AB3D2DEE50}"/>
                  </a:ext>
                </a:extLst>
              </p:cNvPr>
              <p:cNvSpPr/>
              <p:nvPr/>
            </p:nvSpPr>
            <p:spPr bwMode="auto">
              <a:xfrm rot="10800000" flipH="1" flipV="1">
                <a:off x="2843541" y="5001677"/>
                <a:ext cx="129023" cy="129023"/>
              </a:xfrm>
              <a:prstGeom prst="ellipse">
                <a:avLst/>
              </a:prstGeom>
              <a:solidFill>
                <a:srgbClr val="460E1D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endParaRPr>
              </a:p>
            </p:txBody>
          </p:sp>
        </p:grp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D82C5ED5-AB15-C98D-11B8-BFEB64543547}"/>
                </a:ext>
              </a:extLst>
            </p:cNvPr>
            <p:cNvSpPr txBox="1"/>
            <p:nvPr/>
          </p:nvSpPr>
          <p:spPr>
            <a:xfrm flipH="1">
              <a:off x="2002194" y="5186681"/>
              <a:ext cx="1811713" cy="9079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Medium" panose="020B0604020101010102" pitchFamily="34" charset="0"/>
                  <a:ea typeface="Circular Std Light" panose="020B0404020101020102" pitchFamily="34" charset="0"/>
                  <a:cs typeface="Circular Std Medium" panose="020B0604020101010102" pitchFamily="34" charset="0"/>
                </a:rPr>
                <a:t>Advisor &amp; Valuation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800" i="0" u="none" strike="noStrike" kern="1200" cap="none" spc="0" normalizeH="0" baseline="0" noProof="0" dirty="0">
                  <a:ln>
                    <a:noFill/>
                  </a:ln>
                  <a:solidFill>
                    <a:srgbClr val="460E1D"/>
                  </a:solidFill>
                  <a:effectLst/>
                  <a:uLnTx/>
                  <a:uFillTx/>
                  <a:latin typeface="Circular Std Light" panose="020B0404020101020102" pitchFamily="34" charset="0"/>
                  <a:ea typeface="Circular Std Light" panose="020B0404020101020102" pitchFamily="34" charset="0"/>
                  <a:cs typeface="Circular Std Light" panose="020B0404020101020102" pitchFamily="34" charset="0"/>
                </a:rPr>
                <a:t>Valutazione degli asset e analisi preventiva della fattibilità dell'operazione, fino allo studio degli scenari e all'individuazione del miglior prodotto per il mercato di riferimento.</a:t>
              </a:r>
            </a:p>
          </p:txBody>
        </p:sp>
      </p:grpSp>
      <p:sp>
        <p:nvSpPr>
          <p:cNvPr id="6" name="Oval 33">
            <a:extLst>
              <a:ext uri="{FF2B5EF4-FFF2-40B4-BE49-F238E27FC236}">
                <a16:creationId xmlns:a16="http://schemas.microsoft.com/office/drawing/2014/main" id="{42098B71-8BFF-B122-EC94-223609670B6B}"/>
              </a:ext>
            </a:extLst>
          </p:cNvPr>
          <p:cNvSpPr/>
          <p:nvPr/>
        </p:nvSpPr>
        <p:spPr>
          <a:xfrm>
            <a:off x="2300708" y="3210095"/>
            <a:ext cx="1214692" cy="1214692"/>
          </a:xfrm>
          <a:prstGeom prst="ellipse">
            <a:avLst/>
          </a:prstGeom>
          <a:solidFill>
            <a:srgbClr val="460E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21529"/>
                </a:solidFill>
                <a:effectLst/>
                <a:uLnTx/>
                <a:uFillTx/>
                <a:latin typeface="Circular Std Medium" panose="020B0604020101010102" pitchFamily="34" charset="0"/>
                <a:cs typeface="Circular Std Medium" panose="020B0604020101010102" pitchFamily="34" charset="0"/>
              </a:rPr>
              <a:t>AV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762258-D9C8-6486-11BD-26D01CD24AA0}"/>
              </a:ext>
            </a:extLst>
          </p:cNvPr>
          <p:cNvSpPr txBox="1">
            <a:spLocks/>
          </p:cNvSpPr>
          <p:nvPr/>
        </p:nvSpPr>
        <p:spPr>
          <a:xfrm>
            <a:off x="195867" y="211994"/>
            <a:ext cx="11800265" cy="61668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0E2841"/>
              </a:buClr>
            </a:pPr>
            <a:r>
              <a:rPr lang="it-IT" sz="3600" b="1" dirty="0">
                <a:solidFill>
                  <a:srgbClr val="4C1529"/>
                </a:solidFill>
                <a:latin typeface="PP Pangaia SemiBold" pitchFamily="2" charset="0"/>
              </a:rPr>
              <a:t>Un ecosistema di </a:t>
            </a:r>
            <a:r>
              <a:rPr lang="it-IT" sz="36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servizi integrati</a:t>
            </a:r>
            <a:endParaRPr lang="it-IT" sz="36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656B-B823-09D0-53F9-B8FE31D1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4D4C4E79-B50B-3044-9D30-E2202B73BE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14AD3C5-BEEC-AA2A-F9BE-944121C0928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8B6568BC-C94B-1548-483F-D486C58D0EC1}"/>
              </a:ext>
            </a:extLst>
          </p:cNvPr>
          <p:cNvSpPr txBox="1">
            <a:spLocks/>
          </p:cNvSpPr>
          <p:nvPr/>
        </p:nvSpPr>
        <p:spPr>
          <a:xfrm>
            <a:off x="0" y="1096298"/>
            <a:ext cx="12192000" cy="488887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endParaRPr lang="it-IT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C6819472-2A55-9250-A6D9-574FD8CEC05F}"/>
              </a:ext>
            </a:extLst>
          </p:cNvPr>
          <p:cNvSpPr txBox="1"/>
          <p:nvPr/>
        </p:nvSpPr>
        <p:spPr>
          <a:xfrm>
            <a:off x="5266924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Circular Std Light" panose="020B0404020101020102" pitchFamily="34" charset="0"/>
                <a:ea typeface="Circular Std Light" panose="020B0404020101020102" pitchFamily="34" charset="0"/>
                <a:cs typeface="Circular Std Light" panose="020B0404020101020102" pitchFamily="34" charset="0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Circular Std Light" panose="020B0404020101020102" pitchFamily="34" charset="0"/>
              <a:ea typeface="Circular Std Light" panose="020B0404020101020102" pitchFamily="34" charset="0"/>
              <a:cs typeface="Circular Std Light" panose="020B0404020101020102" pitchFamily="34" charset="0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5AA2B4D5-BFDC-CE0F-F28B-6437A10D6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5624" y="1096298"/>
            <a:ext cx="3000746" cy="570848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042BC59D-937B-D916-8947-055624C2CB02}"/>
              </a:ext>
            </a:extLst>
          </p:cNvPr>
          <p:cNvCxnSpPr>
            <a:cxnSpLocks/>
          </p:cNvCxnSpPr>
          <p:nvPr/>
        </p:nvCxnSpPr>
        <p:spPr>
          <a:xfrm>
            <a:off x="6096000" y="4156770"/>
            <a:ext cx="0" cy="882356"/>
          </a:xfrm>
          <a:prstGeom prst="line">
            <a:avLst/>
          </a:prstGeom>
          <a:ln w="6350">
            <a:solidFill>
              <a:srgbClr val="E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6D5D714C-C827-A03F-9419-DBDAFE42C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0389" y="5622893"/>
            <a:ext cx="2020433" cy="435800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F4185EB8-E8CB-52FB-397B-C50AFBF944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801" y="5777201"/>
            <a:ext cx="1433663" cy="225555"/>
          </a:xfrm>
          <a:prstGeom prst="rect">
            <a:avLst/>
          </a:prstGeom>
        </p:spPr>
      </p:pic>
      <p:pic>
        <p:nvPicPr>
          <p:cNvPr id="36" name="Elemento grafico 35">
            <a:extLst>
              <a:ext uri="{FF2B5EF4-FFF2-40B4-BE49-F238E27FC236}">
                <a16:creationId xmlns:a16="http://schemas.microsoft.com/office/drawing/2014/main" id="{49BC0270-5D51-B3D5-993F-9B78451F1A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6306" y="5770442"/>
            <a:ext cx="1669132" cy="239071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D5FAB525-A258-C290-E7D0-06486F81B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5496" y="5761702"/>
            <a:ext cx="2160682" cy="241054"/>
          </a:xfrm>
          <a:prstGeom prst="rect">
            <a:avLst/>
          </a:prstGeom>
        </p:spPr>
      </p:pic>
      <p:sp>
        <p:nvSpPr>
          <p:cNvPr id="38" name="Sottotitolo 2">
            <a:extLst>
              <a:ext uri="{FF2B5EF4-FFF2-40B4-BE49-F238E27FC236}">
                <a16:creationId xmlns:a16="http://schemas.microsoft.com/office/drawing/2014/main" id="{1A01ED6F-7E3A-2105-F16C-86D03DA73626}"/>
              </a:ext>
            </a:extLst>
          </p:cNvPr>
          <p:cNvSpPr txBox="1">
            <a:spLocks/>
          </p:cNvSpPr>
          <p:nvPr/>
        </p:nvSpPr>
        <p:spPr>
          <a:xfrm>
            <a:off x="2984500" y="4156770"/>
            <a:ext cx="3111499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Circular Std Book" panose="020B0604020101020102" pitchFamily="34" charset="0"/>
                <a:ea typeface="Circular Std Light" panose="020B0404020101020102" pitchFamily="34" charset="0"/>
                <a:cs typeface="Circular Std Book" panose="020B0604020101020102" pitchFamily="34" charset="0"/>
              </a:rPr>
              <a:t>www.abitareco.it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5293065C-70AD-1D70-443C-C7485A044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5748" y="5768459"/>
            <a:ext cx="960501" cy="469765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839B57E9-441B-CA1B-1B42-C04354514EE3}"/>
              </a:ext>
            </a:extLst>
          </p:cNvPr>
          <p:cNvSpPr txBox="1">
            <a:spLocks/>
          </p:cNvSpPr>
          <p:nvPr/>
        </p:nvSpPr>
        <p:spPr>
          <a:xfrm>
            <a:off x="0" y="2202669"/>
            <a:ext cx="12192000" cy="100433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Inizia qui il tuo 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prossimo capitolo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80BD158-CF36-EE7F-5D39-00ADED38B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7849" y="4457186"/>
            <a:ext cx="2043876" cy="300860"/>
          </a:xfrm>
          <a:prstGeom prst="rect">
            <a:avLst/>
          </a:prstGeom>
        </p:spPr>
      </p:pic>
      <p:sp>
        <p:nvSpPr>
          <p:cNvPr id="2" name="Sottotitolo 2">
            <a:extLst>
              <a:ext uri="{FF2B5EF4-FFF2-40B4-BE49-F238E27FC236}">
                <a16:creationId xmlns:a16="http://schemas.microsoft.com/office/drawing/2014/main" id="{092A6CDB-9701-1E2A-3F94-4779283FCC61}"/>
              </a:ext>
            </a:extLst>
          </p:cNvPr>
          <p:cNvSpPr txBox="1">
            <a:spLocks/>
          </p:cNvSpPr>
          <p:nvPr/>
        </p:nvSpPr>
        <p:spPr>
          <a:xfrm>
            <a:off x="1" y="3393143"/>
            <a:ext cx="12192000" cy="746745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Circular Std Book" panose="020B0604020101020102" pitchFamily="34" charset="0"/>
                <a:ea typeface="Circular Std Light" panose="020B0404020101020102" pitchFamily="34" charset="0"/>
                <a:cs typeface="Circular Std Book" panose="020B0604020101020102" pitchFamily="34" charset="0"/>
              </a:rPr>
              <a:t>Siamo pronti a costruire valore insieme a te.</a:t>
            </a:r>
          </a:p>
        </p:txBody>
      </p:sp>
    </p:spTree>
    <p:extLst>
      <p:ext uri="{BB962C8B-B14F-4D97-AF65-F5344CB8AC3E}">
        <p14:creationId xmlns:p14="http://schemas.microsoft.com/office/powerpoint/2010/main" val="332993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7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48AA85-D461-48A6-8FA4-E266336A27F2}">
  <we:reference id="wa200009065" version="1.0.0.0" store="it-IT" storeType="OMEX"/>
  <we:alternateReferences>
    <we:reference id="WA200009065" version="1.0.0.0" store="WA20000906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14131</TotalTime>
  <Words>3469</Words>
  <Application>Microsoft Office PowerPoint</Application>
  <PresentationFormat>Widescreen</PresentationFormat>
  <Paragraphs>1043</Paragraphs>
  <Slides>51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51</vt:i4>
      </vt:variant>
    </vt:vector>
  </HeadingPairs>
  <TitlesOfParts>
    <vt:vector size="65" baseType="lpstr">
      <vt:lpstr>Aptos</vt:lpstr>
      <vt:lpstr>Arial</vt:lpstr>
      <vt:lpstr>Broadcast Matter</vt:lpstr>
      <vt:lpstr>Circular Std Book</vt:lpstr>
      <vt:lpstr>Circular Std Light</vt:lpstr>
      <vt:lpstr>Circular Std Medium</vt:lpstr>
      <vt:lpstr>Manrope</vt:lpstr>
      <vt:lpstr>Montserrat</vt:lpstr>
      <vt:lpstr>PP Pangaia Italic</vt:lpstr>
      <vt:lpstr>PP Pangaia SemiBold</vt:lpstr>
      <vt:lpstr>Tema di Office</vt:lpstr>
      <vt:lpstr>4_Tema di Office</vt:lpstr>
      <vt:lpstr>7_Tema di Office</vt:lpstr>
      <vt:lpstr>2_Tema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Dolor - Abitare Co.</dc:creator>
  <cp:lastModifiedBy>Billy Dolor - Abitare Co.</cp:lastModifiedBy>
  <cp:revision>258</cp:revision>
  <cp:lastPrinted>2025-06-19T16:06:35Z</cp:lastPrinted>
  <dcterms:created xsi:type="dcterms:W3CDTF">2024-09-20T12:56:38Z</dcterms:created>
  <dcterms:modified xsi:type="dcterms:W3CDTF">2026-04-30T10:23:27Z</dcterms:modified>
</cp:coreProperties>
</file>